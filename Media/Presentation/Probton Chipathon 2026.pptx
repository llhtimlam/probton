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T Supermolot Neue Bold" charset="1" panose="02000803030000020004"/>
      <p:regular r:id="rId20"/>
    </p:embeddedFont>
    <p:embeddedFont>
      <p:font typeface="TT Supermolot Neue" charset="1" panose="02000503020000020004"/>
      <p:regular r:id="rId21"/>
    </p:embeddedFont>
    <p:embeddedFont>
      <p:font typeface="TT Supermolot Neue Italics" charset="1" panose="02000503020000090004"/>
      <p:regular r:id="rId22"/>
    </p:embeddedFont>
    <p:embeddedFont>
      <p:font typeface="Arial Bold" charset="1" panose="020B0704020202020204"/>
      <p:regular r:id="rId23"/>
    </p:embeddedFont>
    <p:embeddedFont>
      <p:font typeface="Arial" charset="1" panose="020B06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https://www.thorlabs.com/thorproduct.cfm?partnumber=FDSP625" TargetMode="External" Type="http://schemas.openxmlformats.org/officeDocument/2006/relationships/hyperlink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4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2" Target="../media/image2.png" Type="http://schemas.openxmlformats.org/officeDocument/2006/relationships/image"/><Relationship Id="rId3" Target="../media/image25.png" Type="http://schemas.openxmlformats.org/officeDocument/2006/relationships/image"/><Relationship Id="rId4" Target="../media/image26.jpeg" Type="http://schemas.openxmlformats.org/officeDocument/2006/relationships/image"/><Relationship Id="rId5" Target="../media/image27.jpeg" Type="http://schemas.openxmlformats.org/officeDocument/2006/relationships/image"/><Relationship Id="rId6" Target="../media/image28.jpeg" Type="http://schemas.openxmlformats.org/officeDocument/2006/relationships/image"/><Relationship Id="rId7" Target="../media/image29.jpeg" Type="http://schemas.openxmlformats.org/officeDocument/2006/relationships/image"/><Relationship Id="rId8" Target="../media/image30.jpeg" Type="http://schemas.openxmlformats.org/officeDocument/2006/relationships/image"/><Relationship Id="rId9" Target="../media/image3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89645" y="3222869"/>
            <a:ext cx="14308710" cy="3841262"/>
            <a:chOff x="0" y="0"/>
            <a:chExt cx="19078279" cy="512168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257175"/>
              <a:ext cx="19078279" cy="2944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81"/>
                </a:lnSpc>
              </a:pPr>
              <a:r>
                <a:rPr lang="en-US" b="true" sz="13272">
                  <a:solidFill>
                    <a:srgbClr val="FFFFFF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B18: PROBTON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51917"/>
              <a:ext cx="19078279" cy="2769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95"/>
                </a:lnSpc>
                <a:spcBef>
                  <a:spcPct val="0"/>
                </a:spcBef>
              </a:pPr>
              <a:r>
                <a:rPr lang="en-US" b="true" sz="3996" strike="noStrike" u="none">
                  <a:solidFill>
                    <a:srgbClr val="FFFFFF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ASIC Solution for Optical Probe Station for Photonic Integrated Circuits Packaging and Testing</a:t>
              </a:r>
            </a:p>
            <a:p>
              <a:pPr algn="ctr" marL="0" indent="0" lvl="0">
                <a:lnSpc>
                  <a:spcPts val="559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0802" y="2392563"/>
            <a:ext cx="1807719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462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CHIPATON 2026    TRACK B : CIRCUITS FOR SENSOR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68853" y="2153802"/>
            <a:ext cx="1117437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 spc="665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7659306"/>
            <a:ext cx="18077198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spc="40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TIM LAM • VICTORIA TJHIN • ABRAAR ALAM</a:t>
            </a:r>
          </a:p>
          <a:p>
            <a:pPr algn="ctr">
              <a:lnSpc>
                <a:spcPts val="3079"/>
              </a:lnSpc>
            </a:pPr>
            <a:r>
              <a:rPr lang="en-US" sz="2199" spc="40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BELKACEM BENADDA • NITIN INDUKURI </a:t>
            </a:r>
            <a:r>
              <a:rPr lang="en-US" sz="2199" spc="40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• </a:t>
            </a:r>
            <a:r>
              <a:rPr lang="en-US" sz="2199" spc="40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REZA SETIABEKTI </a:t>
            </a:r>
            <a:r>
              <a:rPr lang="en-US" sz="2199" spc="40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• </a:t>
            </a:r>
            <a:r>
              <a:rPr lang="en-US" sz="2199" spc="40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ASHMITA SAHA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401" y="7151224"/>
            <a:ext cx="1807719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 spc="462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- TEAM MEMBERS -</a:t>
            </a:r>
          </a:p>
        </p:txBody>
      </p:sp>
      <p:sp>
        <p:nvSpPr>
          <p:cNvPr name="AutoShape 10" id="10"/>
          <p:cNvSpPr/>
          <p:nvPr/>
        </p:nvSpPr>
        <p:spPr>
          <a:xfrm>
            <a:off x="612916" y="8578716"/>
            <a:ext cx="1706216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12916" y="7052235"/>
            <a:ext cx="1706216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18752" y="525545"/>
            <a:ext cx="12721096" cy="150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98"/>
              </a:lnSpc>
            </a:pPr>
            <a:r>
              <a:rPr lang="en-US" b="true" sz="8784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INDUSTRY CHALLENGES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215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Page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6478" y="9598660"/>
            <a:ext cx="15865643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  <a:spcBef>
                <a:spcPct val="0"/>
              </a:spcBef>
            </a:pP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[1] L.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Rann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o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et al., “Integrated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hotonics 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ackaging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: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Chall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eng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e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 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and Op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por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tunit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ie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s,” ACS pho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t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onics,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vo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l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. 9, 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n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o. 11, pp. 3467–3485, Oc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t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.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2022, doi: http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://doi.org/10.1021/ac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pho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t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onic</a:t>
            </a:r>
            <a:r>
              <a:rPr lang="en-US" sz="900" spc="-4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</a:t>
            </a: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.2c00891.</a:t>
            </a:r>
          </a:p>
          <a:p>
            <a:pPr algn="l">
              <a:lnSpc>
                <a:spcPts val="1350"/>
              </a:lnSpc>
              <a:spcBef>
                <a:spcPct val="0"/>
              </a:spcBef>
            </a:pP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[2] The Business Research Company, “Silicon Photonics Market Report 2026,” Jan. 2026. Available: https://www.thebusinessresearchcompany.com/report/silicon-photonics-global-market-report</a:t>
            </a:r>
          </a:p>
          <a:p>
            <a:pPr algn="l">
              <a:lnSpc>
                <a:spcPts val="135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159797"/>
            <a:ext cx="16588105" cy="2205037"/>
            <a:chOff x="0" y="0"/>
            <a:chExt cx="22117474" cy="294005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2117474" cy="2940050"/>
              <a:chOff x="0" y="0"/>
              <a:chExt cx="4368927" cy="58062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368927" cy="580620"/>
              </a:xfrm>
              <a:custGeom>
                <a:avLst/>
                <a:gdLst/>
                <a:ahLst/>
                <a:cxnLst/>
                <a:rect r="r" b="b" t="t" l="l"/>
                <a:pathLst>
                  <a:path h="580620" w="4368927">
                    <a:moveTo>
                      <a:pt x="4368927" y="29870"/>
                    </a:moveTo>
                    <a:lnTo>
                      <a:pt x="4368927" y="550750"/>
                    </a:lnTo>
                    <a:cubicBezTo>
                      <a:pt x="4368927" y="558672"/>
                      <a:pt x="4365780" y="566269"/>
                      <a:pt x="4360178" y="571871"/>
                    </a:cubicBezTo>
                    <a:cubicBezTo>
                      <a:pt x="4354577" y="577473"/>
                      <a:pt x="4346979" y="580620"/>
                      <a:pt x="4339057" y="580620"/>
                    </a:cubicBezTo>
                    <a:lnTo>
                      <a:pt x="29870" y="580620"/>
                    </a:lnTo>
                    <a:cubicBezTo>
                      <a:pt x="21948" y="580620"/>
                      <a:pt x="14350" y="577473"/>
                      <a:pt x="8749" y="571871"/>
                    </a:cubicBezTo>
                    <a:cubicBezTo>
                      <a:pt x="3147" y="566269"/>
                      <a:pt x="0" y="558672"/>
                      <a:pt x="0" y="550750"/>
                    </a:cubicBezTo>
                    <a:lnTo>
                      <a:pt x="0" y="29870"/>
                    </a:lnTo>
                    <a:cubicBezTo>
                      <a:pt x="0" y="21948"/>
                      <a:pt x="3147" y="14350"/>
                      <a:pt x="8749" y="8749"/>
                    </a:cubicBezTo>
                    <a:cubicBezTo>
                      <a:pt x="14350" y="3147"/>
                      <a:pt x="21948" y="0"/>
                      <a:pt x="29870" y="0"/>
                    </a:cubicBezTo>
                    <a:lnTo>
                      <a:pt x="4339057" y="0"/>
                    </a:lnTo>
                    <a:cubicBezTo>
                      <a:pt x="4346979" y="0"/>
                      <a:pt x="4354577" y="3147"/>
                      <a:pt x="4360178" y="8749"/>
                    </a:cubicBezTo>
                    <a:cubicBezTo>
                      <a:pt x="4365780" y="14350"/>
                      <a:pt x="4368927" y="21948"/>
                      <a:pt x="4368927" y="2987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BF0D0D">
                      <a:alpha val="100000"/>
                    </a:srgbClr>
                  </a:gs>
                  <a:gs pos="100000">
                    <a:srgbClr val="6A0BAD">
                      <a:alpha val="100000"/>
                    </a:srgbClr>
                  </a:gs>
                </a:gsLst>
                <a:lin ang="2700000"/>
              </a:gradFill>
              <a:ln w="2857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4368927" cy="6282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43305" y="250825"/>
              <a:ext cx="21154191" cy="233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00"/>
                </a:lnSpc>
                <a:spcBef>
                  <a:spcPct val="0"/>
                </a:spcBef>
              </a:pPr>
              <a:r>
                <a:rPr lang="en-US" b="true" sz="4800" spc="-264" strike="noStrike" u="none">
                  <a:solidFill>
                    <a:srgbClr val="FFFFFF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70-80%</a:t>
              </a:r>
              <a:r>
                <a:rPr lang="en-US" sz="4800" spc="-264" strike="noStrike" u="none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 of photonics costs are from packaging, requiring </a:t>
              </a:r>
              <a:r>
                <a:rPr lang="en-US" b="true" sz="4800" spc="-264" strike="noStrike" u="none">
                  <a:solidFill>
                    <a:srgbClr val="FFFFFF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costly proprietary</a:t>
              </a:r>
              <a:r>
                <a:rPr lang="en-US" sz="4800" spc="-264" strike="noStrike" u="none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 alignment systems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187129" y="1993110"/>
            <a:ext cx="14434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  <a:spcBef>
                <a:spcPct val="0"/>
              </a:spcBef>
            </a:pPr>
          </a:p>
          <a:p>
            <a:pPr algn="l">
              <a:lnSpc>
                <a:spcPts val="1350"/>
              </a:lnSpc>
              <a:spcBef>
                <a:spcPct val="0"/>
              </a:spcBef>
            </a:pPr>
            <a:r>
              <a:rPr lang="en-US" sz="900" spc="-49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[1]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4582969"/>
            <a:ext cx="16588105" cy="4910916"/>
            <a:chOff x="0" y="0"/>
            <a:chExt cx="22117474" cy="65478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1209150" y="0"/>
              <a:ext cx="10908324" cy="6547888"/>
            </a:xfrm>
            <a:custGeom>
              <a:avLst/>
              <a:gdLst/>
              <a:ahLst/>
              <a:cxnLst/>
              <a:rect r="r" b="b" t="t" l="l"/>
              <a:pathLst>
                <a:path h="6547888" w="10908324">
                  <a:moveTo>
                    <a:pt x="0" y="0"/>
                  </a:moveTo>
                  <a:lnTo>
                    <a:pt x="10908324" y="0"/>
                  </a:lnTo>
                  <a:lnTo>
                    <a:pt x="10908324" y="6547888"/>
                  </a:lnTo>
                  <a:lnTo>
                    <a:pt x="0" y="654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944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58647" cy="6547888"/>
            </a:xfrm>
            <a:custGeom>
              <a:avLst/>
              <a:gdLst/>
              <a:ahLst/>
              <a:cxnLst/>
              <a:rect r="r" b="b" t="t" l="l"/>
              <a:pathLst>
                <a:path h="6547888" w="10658647">
                  <a:moveTo>
                    <a:pt x="0" y="0"/>
                  </a:moveTo>
                  <a:lnTo>
                    <a:pt x="10658647" y="0"/>
                  </a:lnTo>
                  <a:lnTo>
                    <a:pt x="10658647" y="6547888"/>
                  </a:lnTo>
                  <a:lnTo>
                    <a:pt x="0" y="654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492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1772147" y="5931455"/>
              <a:ext cx="192457" cy="412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60"/>
                </a:lnSpc>
                <a:spcBef>
                  <a:spcPct val="0"/>
                </a:spcBef>
              </a:pPr>
            </a:p>
            <a:p>
              <a:pPr algn="l">
                <a:lnSpc>
                  <a:spcPts val="1350"/>
                </a:lnSpc>
                <a:spcBef>
                  <a:spcPct val="0"/>
                </a:spcBef>
              </a:pPr>
              <a:r>
                <a:rPr lang="en-US" sz="900" spc="-49" strike="noStrike" u="none">
                  <a:gradFill>
                    <a:gsLst>
                      <a:gs pos="0">
                        <a:srgbClr val="BF0D0D">
                          <a:alpha val="100000"/>
                        </a:srgbClr>
                      </a:gs>
                      <a:gs pos="100000">
                        <a:srgbClr val="6A0BAD">
                          <a:alpha val="100000"/>
                        </a:srgbClr>
                      </a:gs>
                    </a:gsLst>
                    <a:lin ang="2700000"/>
                  </a:gra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[2]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01747" y="2183925"/>
            <a:ext cx="4233954" cy="3667129"/>
            <a:chOff x="0" y="0"/>
            <a:chExt cx="812800" cy="7039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03986"/>
            </a:xfrm>
            <a:custGeom>
              <a:avLst/>
              <a:gdLst/>
              <a:ahLst/>
              <a:cxnLst/>
              <a:rect r="r" b="b" t="t" l="l"/>
              <a:pathLst>
                <a:path h="703986" w="812800">
                  <a:moveTo>
                    <a:pt x="812800" y="351993"/>
                  </a:moveTo>
                  <a:lnTo>
                    <a:pt x="609600" y="703986"/>
                  </a:lnTo>
                  <a:lnTo>
                    <a:pt x="203200" y="703986"/>
                  </a:lnTo>
                  <a:lnTo>
                    <a:pt x="0" y="351993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51993"/>
                  </a:ln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100000"/>
                  </a:srgbClr>
                </a:gs>
                <a:gs pos="100000">
                  <a:srgbClr val="6A0BAD">
                    <a:alpha val="100000"/>
                  </a:srgbClr>
                </a:gs>
              </a:gsLst>
              <a:lin ang="2700000"/>
            </a:gra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4300" y="-47625"/>
              <a:ext cx="584200" cy="751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26602" y="2094926"/>
            <a:ext cx="4233954" cy="3667129"/>
            <a:chOff x="0" y="0"/>
            <a:chExt cx="812800" cy="7039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03986"/>
            </a:xfrm>
            <a:custGeom>
              <a:avLst/>
              <a:gdLst/>
              <a:ahLst/>
              <a:cxnLst/>
              <a:rect r="r" b="b" t="t" l="l"/>
              <a:pathLst>
                <a:path h="703986" w="812800">
                  <a:moveTo>
                    <a:pt x="812800" y="351993"/>
                  </a:moveTo>
                  <a:lnTo>
                    <a:pt x="609600" y="703986"/>
                  </a:lnTo>
                  <a:lnTo>
                    <a:pt x="203200" y="703986"/>
                  </a:lnTo>
                  <a:lnTo>
                    <a:pt x="0" y="351993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51993"/>
                  </a:ln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100000"/>
                  </a:srgbClr>
                </a:gs>
                <a:gs pos="100000">
                  <a:srgbClr val="6A0BAD">
                    <a:alpha val="100000"/>
                  </a:srgbClr>
                </a:gs>
              </a:gsLst>
              <a:lin ang="2700000"/>
            </a:gra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14300" y="-47625"/>
              <a:ext cx="584200" cy="751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466007" y="4082670"/>
            <a:ext cx="4233954" cy="3667129"/>
            <a:chOff x="0" y="0"/>
            <a:chExt cx="812800" cy="7039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703986"/>
            </a:xfrm>
            <a:custGeom>
              <a:avLst/>
              <a:gdLst/>
              <a:ahLst/>
              <a:cxnLst/>
              <a:rect r="r" b="b" t="t" l="l"/>
              <a:pathLst>
                <a:path h="703986" w="812800">
                  <a:moveTo>
                    <a:pt x="812800" y="351993"/>
                  </a:moveTo>
                  <a:lnTo>
                    <a:pt x="609600" y="703986"/>
                  </a:lnTo>
                  <a:lnTo>
                    <a:pt x="203200" y="703986"/>
                  </a:lnTo>
                  <a:lnTo>
                    <a:pt x="0" y="351993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51993"/>
                  </a:ln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100000"/>
                  </a:srgbClr>
                </a:gs>
                <a:gs pos="100000">
                  <a:srgbClr val="6A0BAD">
                    <a:alpha val="100000"/>
                  </a:srgbClr>
                </a:gs>
              </a:gsLst>
              <a:lin ang="2700000"/>
            </a:gra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47625"/>
              <a:ext cx="584200" cy="751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589252" y="5488787"/>
            <a:ext cx="3436422" cy="156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76"/>
              </a:lnSpc>
            </a:pPr>
            <a:r>
              <a:rPr lang="en-US" b="true" sz="9054" spc="-49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&lt;μm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87367" y="6803761"/>
            <a:ext cx="343642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spc="-13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precision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002311" y="6196659"/>
            <a:ext cx="4233390" cy="3638070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3"/>
              <a:stretch>
                <a:fillRect l="-4515" t="0" r="-48262" b="0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925912" y="6078061"/>
            <a:ext cx="4233390" cy="3638070"/>
            <a:chOff x="0" y="0"/>
            <a:chExt cx="8128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4"/>
              <a:stretch>
                <a:fillRect l="-7842" t="0" r="-7842" b="0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5400513" y="3333966"/>
            <a:ext cx="3436422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 spc="-549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&lt;</a:t>
            </a:r>
            <a:r>
              <a:rPr lang="en-US" b="true" sz="9999" spc="-549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$5k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44374" y="4096080"/>
            <a:ext cx="4233954" cy="3667129"/>
            <a:chOff x="0" y="0"/>
            <a:chExt cx="812800" cy="7039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703986"/>
            </a:xfrm>
            <a:custGeom>
              <a:avLst/>
              <a:gdLst/>
              <a:ahLst/>
              <a:cxnLst/>
              <a:rect r="r" b="b" t="t" l="l"/>
              <a:pathLst>
                <a:path h="703986" w="812800">
                  <a:moveTo>
                    <a:pt x="812800" y="351993"/>
                  </a:moveTo>
                  <a:lnTo>
                    <a:pt x="609600" y="703986"/>
                  </a:lnTo>
                  <a:lnTo>
                    <a:pt x="203200" y="703986"/>
                  </a:lnTo>
                  <a:lnTo>
                    <a:pt x="0" y="351993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51993"/>
                  </a:ln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100000"/>
                  </a:srgbClr>
                </a:gs>
                <a:gs pos="100000">
                  <a:srgbClr val="6A0BAD">
                    <a:alpha val="100000"/>
                  </a:srgbClr>
                </a:gs>
              </a:gsLst>
              <a:lin ang="2700000"/>
            </a:gra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14300" y="-47625"/>
              <a:ext cx="584200" cy="751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206843" y="2910886"/>
            <a:ext cx="3671529" cy="135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8"/>
              </a:lnSpc>
            </a:pPr>
            <a:r>
              <a:rPr lang="en-US" b="true" sz="6335" spc="-34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Open</a:t>
            </a:r>
          </a:p>
          <a:p>
            <a:pPr algn="ctr">
              <a:lnSpc>
                <a:spcPts val="5068"/>
              </a:lnSpc>
            </a:pPr>
            <a:r>
              <a:rPr lang="en-US" b="true" sz="6335" spc="-348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source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00231" y="2922982"/>
            <a:ext cx="343642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spc="-1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Budget build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33534" y="4317505"/>
            <a:ext cx="322009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3200" spc="-1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Custom setup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61351" y="619526"/>
            <a:ext cx="10965299" cy="118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67"/>
              </a:lnSpc>
            </a:pPr>
            <a:r>
              <a:rPr lang="en-US" b="true" sz="878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VALUE PROPOSITION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28524" y="4759465"/>
            <a:ext cx="2865652" cy="238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6"/>
              </a:lnSpc>
            </a:pPr>
            <a:r>
              <a:rPr lang="en-US" sz="3200" spc="-1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Democratize</a:t>
            </a:r>
          </a:p>
          <a:p>
            <a:pPr algn="ctr">
              <a:lnSpc>
                <a:spcPts val="3776"/>
              </a:lnSpc>
            </a:pPr>
            <a:r>
              <a:rPr lang="en-US" b="true" sz="3200" spc="-176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proprietary </a:t>
            </a:r>
            <a:r>
              <a:rPr lang="en-US" sz="3200" spc="-1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alignment</a:t>
            </a:r>
          </a:p>
          <a:p>
            <a:pPr algn="ctr">
              <a:lnSpc>
                <a:spcPts val="3776"/>
              </a:lnSpc>
            </a:pPr>
            <a:r>
              <a:rPr lang="en-US" sz="3200" spc="-1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feedback</a:t>
            </a:r>
          </a:p>
          <a:p>
            <a:pPr algn="ctr">
              <a:lnSpc>
                <a:spcPts val="3776"/>
              </a:lnSpc>
            </a:pPr>
            <a:r>
              <a:rPr lang="en-US" sz="3200" spc="-17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systems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34615" y="4201336"/>
            <a:ext cx="2496737" cy="156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76"/>
              </a:lnSpc>
            </a:pPr>
            <a:r>
              <a:rPr lang="en-US" b="true" sz="9054" spc="-49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5.7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64773" y="5525835"/>
            <a:ext cx="343642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spc="-13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steps to align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925250" y="1990733"/>
            <a:ext cx="386385" cy="386607"/>
            <a:chOff x="0" y="0"/>
            <a:chExt cx="515179" cy="5154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5179" cy="515476"/>
            </a:xfrm>
            <a:custGeom>
              <a:avLst/>
              <a:gdLst/>
              <a:ahLst/>
              <a:cxnLst/>
              <a:rect r="r" b="b" t="t" l="l"/>
              <a:pathLst>
                <a:path h="515476" w="515179">
                  <a:moveTo>
                    <a:pt x="0" y="0"/>
                  </a:moveTo>
                  <a:lnTo>
                    <a:pt x="515179" y="0"/>
                  </a:lnTo>
                  <a:lnTo>
                    <a:pt x="515179" y="515476"/>
                  </a:lnTo>
                  <a:lnTo>
                    <a:pt x="0" y="515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28" t="0" r="-2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113441" y="52958"/>
              <a:ext cx="288298" cy="361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1"/>
                </a:lnSpc>
              </a:pPr>
              <a:r>
                <a:rPr lang="en-US" sz="1594" i="true" spc="-87">
                  <a:solidFill>
                    <a:srgbClr val="000000"/>
                  </a:solidFill>
                  <a:latin typeface="TT Supermolot Neue Italics"/>
                  <a:ea typeface="TT Supermolot Neue Italics"/>
                  <a:cs typeface="TT Supermolot Neue Italics"/>
                  <a:sym typeface="TT Supermolot Neue Italics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468158" y="3906209"/>
            <a:ext cx="386385" cy="386607"/>
            <a:chOff x="0" y="0"/>
            <a:chExt cx="515179" cy="5154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5179" cy="515476"/>
            </a:xfrm>
            <a:custGeom>
              <a:avLst/>
              <a:gdLst/>
              <a:ahLst/>
              <a:cxnLst/>
              <a:rect r="r" b="b" t="t" l="l"/>
              <a:pathLst>
                <a:path h="515476" w="515179">
                  <a:moveTo>
                    <a:pt x="0" y="0"/>
                  </a:moveTo>
                  <a:lnTo>
                    <a:pt x="515179" y="0"/>
                  </a:lnTo>
                  <a:lnTo>
                    <a:pt x="515179" y="515476"/>
                  </a:lnTo>
                  <a:lnTo>
                    <a:pt x="0" y="515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28" t="0" r="-2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113441" y="52958"/>
              <a:ext cx="288298" cy="361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1"/>
                </a:lnSpc>
              </a:pPr>
              <a:r>
                <a:rPr lang="en-US" sz="1594" i="true" spc="-87">
                  <a:solidFill>
                    <a:srgbClr val="000000"/>
                  </a:solidFill>
                  <a:latin typeface="TT Supermolot Neue Italics"/>
                  <a:ea typeface="TT Supermolot Neue Italics"/>
                  <a:cs typeface="TT Supermolot Neue Italics"/>
                  <a:sym typeface="TT Supermolot Neue Italics"/>
                </a:rPr>
                <a:t>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12386" y="3892798"/>
            <a:ext cx="386385" cy="386607"/>
            <a:chOff x="0" y="0"/>
            <a:chExt cx="515179" cy="5154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5179" cy="515476"/>
            </a:xfrm>
            <a:custGeom>
              <a:avLst/>
              <a:gdLst/>
              <a:ahLst/>
              <a:cxnLst/>
              <a:rect r="r" b="b" t="t" l="l"/>
              <a:pathLst>
                <a:path h="515476" w="515179">
                  <a:moveTo>
                    <a:pt x="0" y="0"/>
                  </a:moveTo>
                  <a:lnTo>
                    <a:pt x="515179" y="0"/>
                  </a:lnTo>
                  <a:lnTo>
                    <a:pt x="515179" y="515476"/>
                  </a:lnTo>
                  <a:lnTo>
                    <a:pt x="0" y="515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28" t="0" r="-28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113441" y="52958"/>
              <a:ext cx="288298" cy="361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1"/>
                </a:lnSpc>
              </a:pPr>
              <a:r>
                <a:rPr lang="en-US" sz="1594" i="true" spc="-87">
                  <a:solidFill>
                    <a:srgbClr val="000000"/>
                  </a:solidFill>
                  <a:latin typeface="TT Supermolot Neue Italics"/>
                  <a:ea typeface="TT Supermolot Neue Italics"/>
                  <a:cs typeface="TT Supermolot Neue Italics"/>
                  <a:sym typeface="TT Supermolot Neue Italics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850387" y="1901734"/>
            <a:ext cx="386385" cy="386607"/>
            <a:chOff x="0" y="0"/>
            <a:chExt cx="515179" cy="5154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5179" cy="515476"/>
            </a:xfrm>
            <a:custGeom>
              <a:avLst/>
              <a:gdLst/>
              <a:ahLst/>
              <a:cxnLst/>
              <a:rect r="r" b="b" t="t" l="l"/>
              <a:pathLst>
                <a:path h="515476" w="515179">
                  <a:moveTo>
                    <a:pt x="0" y="0"/>
                  </a:moveTo>
                  <a:lnTo>
                    <a:pt x="515179" y="0"/>
                  </a:lnTo>
                  <a:lnTo>
                    <a:pt x="515179" y="515476"/>
                  </a:lnTo>
                  <a:lnTo>
                    <a:pt x="0" y="515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28" t="0" r="-28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113441" y="52958"/>
              <a:ext cx="288298" cy="361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1"/>
                </a:lnSpc>
              </a:pPr>
              <a:r>
                <a:rPr lang="en-US" sz="1594" i="true" spc="-87">
                  <a:solidFill>
                    <a:srgbClr val="000000"/>
                  </a:solidFill>
                  <a:latin typeface="TT Supermolot Neue Italics"/>
                  <a:ea typeface="TT Supermolot Neue Italics"/>
                  <a:cs typeface="TT Supermolot Neue Italics"/>
                  <a:sym typeface="TT Supermolot Neue Italics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612556"/>
            <a:ext cx="16406110" cy="9434900"/>
            <a:chOff x="0" y="0"/>
            <a:chExt cx="4320951" cy="24849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20951" cy="2484912"/>
            </a:xfrm>
            <a:custGeom>
              <a:avLst/>
              <a:gdLst/>
              <a:ahLst/>
              <a:cxnLst/>
              <a:rect r="r" b="b" t="t" l="l"/>
              <a:pathLst>
                <a:path h="2484912" w="4320951">
                  <a:moveTo>
                    <a:pt x="24067" y="0"/>
                  </a:moveTo>
                  <a:lnTo>
                    <a:pt x="4296884" y="0"/>
                  </a:lnTo>
                  <a:cubicBezTo>
                    <a:pt x="4310176" y="0"/>
                    <a:pt x="4320951" y="10775"/>
                    <a:pt x="4320951" y="24067"/>
                  </a:cubicBezTo>
                  <a:lnTo>
                    <a:pt x="4320951" y="2460845"/>
                  </a:lnTo>
                  <a:cubicBezTo>
                    <a:pt x="4320951" y="2467228"/>
                    <a:pt x="4318415" y="2473350"/>
                    <a:pt x="4313902" y="2477863"/>
                  </a:cubicBezTo>
                  <a:cubicBezTo>
                    <a:pt x="4309389" y="2482376"/>
                    <a:pt x="4303267" y="2484912"/>
                    <a:pt x="4296884" y="2484912"/>
                  </a:cubicBezTo>
                  <a:lnTo>
                    <a:pt x="24067" y="2484912"/>
                  </a:lnTo>
                  <a:cubicBezTo>
                    <a:pt x="10775" y="2484912"/>
                    <a:pt x="0" y="2474137"/>
                    <a:pt x="0" y="2460845"/>
                  </a:cubicBezTo>
                  <a:lnTo>
                    <a:pt x="0" y="24067"/>
                  </a:lnTo>
                  <a:cubicBezTo>
                    <a:pt x="0" y="10775"/>
                    <a:pt x="10775" y="0"/>
                    <a:pt x="24067" y="0"/>
                  </a:cubicBezTo>
                  <a:close/>
                </a:path>
              </a:pathLst>
            </a:custGeom>
            <a:solidFill>
              <a:srgbClr val="000000"/>
            </a:solidFill>
            <a:ln w="476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20951" cy="2532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320694" y="782606"/>
            <a:ext cx="11857236" cy="9159715"/>
          </a:xfrm>
          <a:custGeom>
            <a:avLst/>
            <a:gdLst/>
            <a:ahLst/>
            <a:cxnLst/>
            <a:rect r="r" b="b" t="t" l="l"/>
            <a:pathLst>
              <a:path h="9159715" w="11857236">
                <a:moveTo>
                  <a:pt x="0" y="0"/>
                </a:moveTo>
                <a:lnTo>
                  <a:pt x="11857236" y="0"/>
                </a:lnTo>
                <a:lnTo>
                  <a:pt x="11857236" y="9159714"/>
                </a:lnTo>
                <a:lnTo>
                  <a:pt x="0" y="9159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4163404" y="249034"/>
            <a:ext cx="7911508" cy="1216924"/>
            <a:chOff x="0" y="0"/>
            <a:chExt cx="2083689" cy="3205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3689" cy="320507"/>
            </a:xfrm>
            <a:custGeom>
              <a:avLst/>
              <a:gdLst/>
              <a:ahLst/>
              <a:cxnLst/>
              <a:rect r="r" b="b" t="t" l="l"/>
              <a:pathLst>
                <a:path h="320507" w="2083689">
                  <a:moveTo>
                    <a:pt x="49907" y="0"/>
                  </a:moveTo>
                  <a:lnTo>
                    <a:pt x="2033782" y="0"/>
                  </a:lnTo>
                  <a:cubicBezTo>
                    <a:pt x="2061345" y="0"/>
                    <a:pt x="2083689" y="22344"/>
                    <a:pt x="2083689" y="49907"/>
                  </a:cubicBezTo>
                  <a:lnTo>
                    <a:pt x="2083689" y="270600"/>
                  </a:lnTo>
                  <a:cubicBezTo>
                    <a:pt x="2083689" y="283836"/>
                    <a:pt x="2078431" y="296530"/>
                    <a:pt x="2069072" y="305889"/>
                  </a:cubicBezTo>
                  <a:cubicBezTo>
                    <a:pt x="2059713" y="315249"/>
                    <a:pt x="2047019" y="320507"/>
                    <a:pt x="2033782" y="320507"/>
                  </a:cubicBezTo>
                  <a:lnTo>
                    <a:pt x="49907" y="320507"/>
                  </a:lnTo>
                  <a:cubicBezTo>
                    <a:pt x="36671" y="320507"/>
                    <a:pt x="23977" y="315249"/>
                    <a:pt x="14617" y="305889"/>
                  </a:cubicBezTo>
                  <a:cubicBezTo>
                    <a:pt x="5258" y="296530"/>
                    <a:pt x="0" y="283836"/>
                    <a:pt x="0" y="270600"/>
                  </a:cubicBezTo>
                  <a:lnTo>
                    <a:pt x="0" y="49907"/>
                  </a:lnTo>
                  <a:cubicBezTo>
                    <a:pt x="0" y="36671"/>
                    <a:pt x="5258" y="23977"/>
                    <a:pt x="14617" y="14617"/>
                  </a:cubicBezTo>
                  <a:cubicBezTo>
                    <a:pt x="23977" y="5258"/>
                    <a:pt x="36671" y="0"/>
                    <a:pt x="499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85000"/>
                  </a:srgbClr>
                </a:gs>
                <a:gs pos="100000">
                  <a:srgbClr val="6A0BAD">
                    <a:alpha val="85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83689" cy="368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48939" y="419917"/>
            <a:ext cx="2707719" cy="95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6800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SETUP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612556"/>
            <a:ext cx="16406110" cy="9434900"/>
            <a:chOff x="0" y="0"/>
            <a:chExt cx="4320951" cy="24849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20951" cy="2484912"/>
            </a:xfrm>
            <a:custGeom>
              <a:avLst/>
              <a:gdLst/>
              <a:ahLst/>
              <a:cxnLst/>
              <a:rect r="r" b="b" t="t" l="l"/>
              <a:pathLst>
                <a:path h="2484912" w="4320951">
                  <a:moveTo>
                    <a:pt x="24067" y="0"/>
                  </a:moveTo>
                  <a:lnTo>
                    <a:pt x="4296884" y="0"/>
                  </a:lnTo>
                  <a:cubicBezTo>
                    <a:pt x="4310176" y="0"/>
                    <a:pt x="4320951" y="10775"/>
                    <a:pt x="4320951" y="24067"/>
                  </a:cubicBezTo>
                  <a:lnTo>
                    <a:pt x="4320951" y="2460845"/>
                  </a:lnTo>
                  <a:cubicBezTo>
                    <a:pt x="4320951" y="2467228"/>
                    <a:pt x="4318415" y="2473350"/>
                    <a:pt x="4313902" y="2477863"/>
                  </a:cubicBezTo>
                  <a:cubicBezTo>
                    <a:pt x="4309389" y="2482376"/>
                    <a:pt x="4303267" y="2484912"/>
                    <a:pt x="4296884" y="2484912"/>
                  </a:cubicBezTo>
                  <a:lnTo>
                    <a:pt x="24067" y="2484912"/>
                  </a:lnTo>
                  <a:cubicBezTo>
                    <a:pt x="10775" y="2484912"/>
                    <a:pt x="0" y="2474137"/>
                    <a:pt x="0" y="2460845"/>
                  </a:cubicBezTo>
                  <a:lnTo>
                    <a:pt x="0" y="24067"/>
                  </a:lnTo>
                  <a:cubicBezTo>
                    <a:pt x="0" y="10775"/>
                    <a:pt x="10775" y="0"/>
                    <a:pt x="24067" y="0"/>
                  </a:cubicBezTo>
                  <a:close/>
                </a:path>
              </a:pathLst>
            </a:custGeom>
            <a:solidFill>
              <a:srgbClr val="000000"/>
            </a:solidFill>
            <a:ln w="476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20951" cy="2532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81883" y="749899"/>
            <a:ext cx="11924235" cy="9211471"/>
          </a:xfrm>
          <a:custGeom>
            <a:avLst/>
            <a:gdLst/>
            <a:ahLst/>
            <a:cxnLst/>
            <a:rect r="r" b="b" t="t" l="l"/>
            <a:pathLst>
              <a:path h="9211471" w="11924235">
                <a:moveTo>
                  <a:pt x="0" y="0"/>
                </a:moveTo>
                <a:lnTo>
                  <a:pt x="11924234" y="0"/>
                </a:lnTo>
                <a:lnTo>
                  <a:pt x="11924234" y="9211471"/>
                </a:lnTo>
                <a:lnTo>
                  <a:pt x="0" y="92114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4163404" y="249034"/>
            <a:ext cx="10384208" cy="1216924"/>
            <a:chOff x="0" y="0"/>
            <a:chExt cx="2734935" cy="3205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34936" cy="320507"/>
            </a:xfrm>
            <a:custGeom>
              <a:avLst/>
              <a:gdLst/>
              <a:ahLst/>
              <a:cxnLst/>
              <a:rect r="r" b="b" t="t" l="l"/>
              <a:pathLst>
                <a:path h="320507" w="2734936">
                  <a:moveTo>
                    <a:pt x="38023" y="0"/>
                  </a:moveTo>
                  <a:lnTo>
                    <a:pt x="2696913" y="0"/>
                  </a:lnTo>
                  <a:cubicBezTo>
                    <a:pt x="2717912" y="0"/>
                    <a:pt x="2734936" y="17023"/>
                    <a:pt x="2734936" y="38023"/>
                  </a:cubicBezTo>
                  <a:lnTo>
                    <a:pt x="2734936" y="282484"/>
                  </a:lnTo>
                  <a:cubicBezTo>
                    <a:pt x="2734936" y="292568"/>
                    <a:pt x="2730930" y="302239"/>
                    <a:pt x="2723799" y="309370"/>
                  </a:cubicBezTo>
                  <a:cubicBezTo>
                    <a:pt x="2716668" y="316501"/>
                    <a:pt x="2706997" y="320507"/>
                    <a:pt x="2696913" y="320507"/>
                  </a:cubicBezTo>
                  <a:lnTo>
                    <a:pt x="38023" y="320507"/>
                  </a:lnTo>
                  <a:cubicBezTo>
                    <a:pt x="27939" y="320507"/>
                    <a:pt x="18267" y="316501"/>
                    <a:pt x="11137" y="309370"/>
                  </a:cubicBezTo>
                  <a:cubicBezTo>
                    <a:pt x="4006" y="302239"/>
                    <a:pt x="0" y="292568"/>
                    <a:pt x="0" y="282484"/>
                  </a:cubicBezTo>
                  <a:lnTo>
                    <a:pt x="0" y="38023"/>
                  </a:lnTo>
                  <a:cubicBezTo>
                    <a:pt x="0" y="27939"/>
                    <a:pt x="4006" y="18267"/>
                    <a:pt x="11137" y="11137"/>
                  </a:cubicBezTo>
                  <a:cubicBezTo>
                    <a:pt x="18267" y="4006"/>
                    <a:pt x="27939" y="0"/>
                    <a:pt x="380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85000"/>
                  </a:srgbClr>
                </a:gs>
                <a:gs pos="100000">
                  <a:srgbClr val="6A0BAD">
                    <a:alpha val="85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734935" cy="368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48939" y="429603"/>
            <a:ext cx="5743510" cy="95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6800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TEST SETUP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4074" y="4000896"/>
            <a:ext cx="5772674" cy="5988011"/>
            <a:chOff x="0" y="0"/>
            <a:chExt cx="1627249" cy="1687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7249" cy="1687950"/>
            </a:xfrm>
            <a:custGeom>
              <a:avLst/>
              <a:gdLst/>
              <a:ahLst/>
              <a:cxnLst/>
              <a:rect r="r" b="b" t="t" l="l"/>
              <a:pathLst>
                <a:path h="1687950" w="1627249">
                  <a:moveTo>
                    <a:pt x="68398" y="0"/>
                  </a:moveTo>
                  <a:lnTo>
                    <a:pt x="1558852" y="0"/>
                  </a:lnTo>
                  <a:cubicBezTo>
                    <a:pt x="1596627" y="0"/>
                    <a:pt x="1627249" y="30623"/>
                    <a:pt x="1627249" y="68398"/>
                  </a:cubicBezTo>
                  <a:lnTo>
                    <a:pt x="1627249" y="1619553"/>
                  </a:lnTo>
                  <a:cubicBezTo>
                    <a:pt x="1627249" y="1657328"/>
                    <a:pt x="1596627" y="1687950"/>
                    <a:pt x="1558852" y="1687950"/>
                  </a:cubicBezTo>
                  <a:lnTo>
                    <a:pt x="68398" y="1687950"/>
                  </a:lnTo>
                  <a:cubicBezTo>
                    <a:pt x="30623" y="1687950"/>
                    <a:pt x="0" y="1657328"/>
                    <a:pt x="0" y="1619553"/>
                  </a:cubicBezTo>
                  <a:lnTo>
                    <a:pt x="0" y="68398"/>
                  </a:lnTo>
                  <a:cubicBezTo>
                    <a:pt x="0" y="30623"/>
                    <a:pt x="30623" y="0"/>
                    <a:pt x="6839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27249" cy="1735575"/>
            </a:xfrm>
            <a:prstGeom prst="rect">
              <a:avLst/>
            </a:prstGeom>
          </p:spPr>
          <p:txBody>
            <a:bodyPr anchor="ctr" rtlCol="false" tIns="47464" lIns="47464" bIns="47464" rIns="47464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56073" y="4780138"/>
            <a:ext cx="5633399" cy="334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24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Link: </a:t>
            </a:r>
            <a:r>
              <a:rPr lang="en-US" sz="2242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https://doi.org/10.1016/j.ohx.2022.e00317</a:t>
            </a:r>
          </a:p>
          <a:p>
            <a:pPr algn="l">
              <a:lnSpc>
                <a:spcPts val="2691"/>
              </a:lnSpc>
            </a:pPr>
          </a:p>
          <a:p>
            <a:pPr algn="l">
              <a:lnSpc>
                <a:spcPts val="2691"/>
              </a:lnSpc>
            </a:pPr>
            <a:r>
              <a:rPr lang="en-US" sz="224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Estimated Price: </a:t>
            </a:r>
            <a:r>
              <a:rPr lang="en-US" sz="22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less than $883</a:t>
            </a:r>
          </a:p>
          <a:p>
            <a:pPr algn="l">
              <a:lnSpc>
                <a:spcPts val="2691"/>
              </a:lnSpc>
            </a:pPr>
          </a:p>
          <a:p>
            <a:pPr algn="l">
              <a:lnSpc>
                <a:spcPts val="2691"/>
              </a:lnSpc>
            </a:pPr>
            <a:r>
              <a:rPr lang="en-US" sz="224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Specifications:</a:t>
            </a:r>
          </a:p>
          <a:p>
            <a:pPr algn="l" marL="405847" indent="-202924" lvl="1">
              <a:lnSpc>
                <a:spcPts val="2691"/>
              </a:lnSpc>
              <a:buFont typeface="Arial"/>
              <a:buChar char="•"/>
            </a:pPr>
            <a:r>
              <a:rPr lang="en-US" b="true" sz="224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Sensitivity: </a:t>
            </a:r>
            <a:r>
              <a:rPr lang="en-US" sz="22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25.0 nm/V </a:t>
            </a:r>
          </a:p>
          <a:p>
            <a:pPr algn="l" marL="405847" indent="-202924" lvl="1">
              <a:lnSpc>
                <a:spcPts val="2691"/>
              </a:lnSpc>
              <a:buFont typeface="Arial"/>
              <a:buChar char="•"/>
            </a:pPr>
            <a:r>
              <a:rPr lang="en-US" b="true" sz="224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Resolution:</a:t>
            </a:r>
          </a:p>
          <a:p>
            <a:pPr algn="l" marL="405847" indent="-202924" lvl="1">
              <a:lnSpc>
                <a:spcPts val="2691"/>
              </a:lnSpc>
              <a:buFont typeface="Arial"/>
              <a:buChar char="•"/>
            </a:pPr>
            <a:r>
              <a:rPr lang="en-US" b="true" sz="224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Backlash: </a:t>
            </a:r>
            <a:r>
              <a:rPr lang="en-US" sz="22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160 – 195 nm </a:t>
            </a:r>
          </a:p>
          <a:p>
            <a:pPr algn="l" marL="405847" indent="-202924" lvl="1">
              <a:lnSpc>
                <a:spcPts val="2691"/>
              </a:lnSpc>
              <a:buFont typeface="Arial"/>
              <a:buChar char="•"/>
            </a:pPr>
            <a:r>
              <a:rPr lang="en-US" b="true" sz="224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error:</a:t>
            </a:r>
            <a:r>
              <a:rPr lang="en-US" sz="224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~ 7%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63146" y="1517746"/>
            <a:ext cx="3446777" cy="3446744"/>
            <a:chOff x="0" y="0"/>
            <a:chExt cx="4595703" cy="459565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595703" cy="4595659"/>
              <a:chOff x="0" y="0"/>
              <a:chExt cx="812800" cy="81279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792"/>
              </a:xfrm>
              <a:custGeom>
                <a:avLst/>
                <a:gdLst/>
                <a:ahLst/>
                <a:cxnLst/>
                <a:rect r="r" b="b" t="t" l="l"/>
                <a:pathLst>
                  <a:path h="812792" w="812800">
                    <a:moveTo>
                      <a:pt x="406400" y="0"/>
                    </a:moveTo>
                    <a:cubicBezTo>
                      <a:pt x="181951" y="0"/>
                      <a:pt x="0" y="181950"/>
                      <a:pt x="0" y="406396"/>
                    </a:cubicBezTo>
                    <a:cubicBezTo>
                      <a:pt x="0" y="630842"/>
                      <a:pt x="181951" y="812792"/>
                      <a:pt x="406400" y="812792"/>
                    </a:cubicBezTo>
                    <a:cubicBezTo>
                      <a:pt x="630849" y="812792"/>
                      <a:pt x="812800" y="630842"/>
                      <a:pt x="812800" y="406396"/>
                    </a:cubicBezTo>
                    <a:cubicBezTo>
                      <a:pt x="812800" y="18195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099"/>
                <a:ext cx="660400" cy="698494"/>
              </a:xfrm>
              <a:prstGeom prst="rect">
                <a:avLst/>
              </a:prstGeom>
            </p:spPr>
            <p:txBody>
              <a:bodyPr anchor="ctr" rtlCol="false" tIns="42947" lIns="42947" bIns="42947" rIns="42947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468334" y="1393903"/>
              <a:ext cx="3659034" cy="2458870"/>
              <a:chOff x="0" y="0"/>
              <a:chExt cx="4283418" cy="28784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283456" cy="2878455"/>
              </a:xfrm>
              <a:custGeom>
                <a:avLst/>
                <a:gdLst/>
                <a:ahLst/>
                <a:cxnLst/>
                <a:rect r="r" b="b" t="t" l="l"/>
                <a:pathLst>
                  <a:path h="2878455" w="4283456">
                    <a:moveTo>
                      <a:pt x="600895" y="0"/>
                    </a:moveTo>
                    <a:lnTo>
                      <a:pt x="3682560" y="0"/>
                    </a:lnTo>
                    <a:cubicBezTo>
                      <a:pt x="4014426" y="0"/>
                      <a:pt x="4283456" y="269030"/>
                      <a:pt x="4283456" y="600895"/>
                    </a:cubicBezTo>
                    <a:lnTo>
                      <a:pt x="4283456" y="2277559"/>
                    </a:lnTo>
                    <a:cubicBezTo>
                      <a:pt x="4283456" y="2436927"/>
                      <a:pt x="4220147" y="2589767"/>
                      <a:pt x="4107458" y="2702457"/>
                    </a:cubicBezTo>
                    <a:cubicBezTo>
                      <a:pt x="3994768" y="2815147"/>
                      <a:pt x="3841928" y="2878455"/>
                      <a:pt x="3682560" y="2878455"/>
                    </a:cubicBezTo>
                    <a:lnTo>
                      <a:pt x="600895" y="2878455"/>
                    </a:lnTo>
                    <a:cubicBezTo>
                      <a:pt x="269030" y="2878455"/>
                      <a:pt x="0" y="2609425"/>
                      <a:pt x="0" y="2277559"/>
                    </a:cubicBezTo>
                    <a:lnTo>
                      <a:pt x="0" y="600895"/>
                    </a:lnTo>
                    <a:cubicBezTo>
                      <a:pt x="0" y="269030"/>
                      <a:pt x="269030" y="0"/>
                      <a:pt x="600895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0" r="0" b="0"/>
                </a:stretch>
              </a:blip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1081486" y="725258"/>
              <a:ext cx="2801333" cy="539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31"/>
                </a:lnSpc>
              </a:pPr>
              <a:r>
                <a:rPr lang="en-US" sz="260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XY-Stage [1]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6634" y="8151018"/>
            <a:ext cx="5647555" cy="1142854"/>
            <a:chOff x="0" y="0"/>
            <a:chExt cx="7707325" cy="15596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07376" cy="1559687"/>
            </a:xfrm>
            <a:custGeom>
              <a:avLst/>
              <a:gdLst/>
              <a:ahLst/>
              <a:cxnLst/>
              <a:rect r="r" b="b" t="t" l="l"/>
              <a:pathLst>
                <a:path h="1559687" w="7707376">
                  <a:moveTo>
                    <a:pt x="0" y="0"/>
                  </a:moveTo>
                  <a:lnTo>
                    <a:pt x="7707376" y="0"/>
                  </a:lnTo>
                  <a:lnTo>
                    <a:pt x="7707376" y="1559687"/>
                  </a:lnTo>
                  <a:lnTo>
                    <a:pt x="0" y="1559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71998" y="4000896"/>
            <a:ext cx="5791771" cy="5988011"/>
            <a:chOff x="0" y="0"/>
            <a:chExt cx="1632632" cy="16879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32633" cy="1687950"/>
            </a:xfrm>
            <a:custGeom>
              <a:avLst/>
              <a:gdLst/>
              <a:ahLst/>
              <a:cxnLst/>
              <a:rect r="r" b="b" t="t" l="l"/>
              <a:pathLst>
                <a:path h="1687950" w="1632633">
                  <a:moveTo>
                    <a:pt x="68172" y="0"/>
                  </a:moveTo>
                  <a:lnTo>
                    <a:pt x="1564460" y="0"/>
                  </a:lnTo>
                  <a:cubicBezTo>
                    <a:pt x="1582541" y="0"/>
                    <a:pt x="1599881" y="7182"/>
                    <a:pt x="1612665" y="19967"/>
                  </a:cubicBezTo>
                  <a:cubicBezTo>
                    <a:pt x="1625450" y="32752"/>
                    <a:pt x="1632633" y="50092"/>
                    <a:pt x="1632633" y="68172"/>
                  </a:cubicBezTo>
                  <a:lnTo>
                    <a:pt x="1632633" y="1619778"/>
                  </a:lnTo>
                  <a:cubicBezTo>
                    <a:pt x="1632633" y="1637859"/>
                    <a:pt x="1625450" y="1655199"/>
                    <a:pt x="1612665" y="1667983"/>
                  </a:cubicBezTo>
                  <a:cubicBezTo>
                    <a:pt x="1599881" y="1680768"/>
                    <a:pt x="1582541" y="1687950"/>
                    <a:pt x="1564460" y="1687950"/>
                  </a:cubicBezTo>
                  <a:lnTo>
                    <a:pt x="68172" y="1687950"/>
                  </a:lnTo>
                  <a:cubicBezTo>
                    <a:pt x="50092" y="1687950"/>
                    <a:pt x="32752" y="1680768"/>
                    <a:pt x="19967" y="1667983"/>
                  </a:cubicBezTo>
                  <a:cubicBezTo>
                    <a:pt x="7182" y="1655199"/>
                    <a:pt x="0" y="1637859"/>
                    <a:pt x="0" y="1619778"/>
                  </a:cubicBezTo>
                  <a:lnTo>
                    <a:pt x="0" y="68172"/>
                  </a:lnTo>
                  <a:cubicBezTo>
                    <a:pt x="0" y="50092"/>
                    <a:pt x="7182" y="32752"/>
                    <a:pt x="19967" y="19967"/>
                  </a:cubicBezTo>
                  <a:cubicBezTo>
                    <a:pt x="32752" y="7182"/>
                    <a:pt x="50092" y="0"/>
                    <a:pt x="6817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32632" cy="1735575"/>
            </a:xfrm>
            <a:prstGeom prst="rect">
              <a:avLst/>
            </a:prstGeom>
          </p:spPr>
          <p:txBody>
            <a:bodyPr anchor="ctr" rtlCol="false" tIns="47464" lIns="47464" bIns="47464" rIns="47464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057396" y="4000896"/>
            <a:ext cx="5774297" cy="5988011"/>
            <a:chOff x="0" y="0"/>
            <a:chExt cx="1627707" cy="16879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27707" cy="1687950"/>
            </a:xfrm>
            <a:custGeom>
              <a:avLst/>
              <a:gdLst/>
              <a:ahLst/>
              <a:cxnLst/>
              <a:rect r="r" b="b" t="t" l="l"/>
              <a:pathLst>
                <a:path h="1687950" w="1627707">
                  <a:moveTo>
                    <a:pt x="68379" y="0"/>
                  </a:moveTo>
                  <a:lnTo>
                    <a:pt x="1559328" y="0"/>
                  </a:lnTo>
                  <a:cubicBezTo>
                    <a:pt x="1597093" y="0"/>
                    <a:pt x="1627707" y="30614"/>
                    <a:pt x="1627707" y="68379"/>
                  </a:cubicBezTo>
                  <a:lnTo>
                    <a:pt x="1627707" y="1619572"/>
                  </a:lnTo>
                  <a:cubicBezTo>
                    <a:pt x="1627707" y="1657336"/>
                    <a:pt x="1597093" y="1687950"/>
                    <a:pt x="1559328" y="1687950"/>
                  </a:cubicBezTo>
                  <a:lnTo>
                    <a:pt x="68379" y="1687950"/>
                  </a:lnTo>
                  <a:cubicBezTo>
                    <a:pt x="30614" y="1687950"/>
                    <a:pt x="0" y="1657336"/>
                    <a:pt x="0" y="1619572"/>
                  </a:cubicBezTo>
                  <a:lnTo>
                    <a:pt x="0" y="68379"/>
                  </a:lnTo>
                  <a:cubicBezTo>
                    <a:pt x="0" y="30614"/>
                    <a:pt x="30614" y="0"/>
                    <a:pt x="6837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627707" cy="1735575"/>
            </a:xfrm>
            <a:prstGeom prst="rect">
              <a:avLst/>
            </a:prstGeom>
          </p:spPr>
          <p:txBody>
            <a:bodyPr anchor="ctr" rtlCol="false" tIns="47464" lIns="47464" bIns="47464" rIns="47464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218811" y="8931476"/>
            <a:ext cx="5698144" cy="653648"/>
            <a:chOff x="0" y="0"/>
            <a:chExt cx="7425982" cy="8518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25944" cy="851916"/>
            </a:xfrm>
            <a:custGeom>
              <a:avLst/>
              <a:gdLst/>
              <a:ahLst/>
              <a:cxnLst/>
              <a:rect r="r" b="b" t="t" l="l"/>
              <a:pathLst>
                <a:path h="851916" w="7425944">
                  <a:moveTo>
                    <a:pt x="0" y="0"/>
                  </a:moveTo>
                  <a:lnTo>
                    <a:pt x="7425944" y="0"/>
                  </a:lnTo>
                  <a:lnTo>
                    <a:pt x="7425944" y="851916"/>
                  </a:lnTo>
                  <a:lnTo>
                    <a:pt x="0" y="851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252242" y="8790163"/>
            <a:ext cx="5384603" cy="1148623"/>
            <a:chOff x="0" y="0"/>
            <a:chExt cx="6659880" cy="14206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59880" cy="1420622"/>
            </a:xfrm>
            <a:custGeom>
              <a:avLst/>
              <a:gdLst/>
              <a:ahLst/>
              <a:cxnLst/>
              <a:rect r="r" b="b" t="t" l="l"/>
              <a:pathLst>
                <a:path h="1420622" w="6659880">
                  <a:moveTo>
                    <a:pt x="353426" y="0"/>
                  </a:moveTo>
                  <a:lnTo>
                    <a:pt x="6306454" y="0"/>
                  </a:lnTo>
                  <a:cubicBezTo>
                    <a:pt x="6501646" y="0"/>
                    <a:pt x="6659880" y="158234"/>
                    <a:pt x="6659880" y="353426"/>
                  </a:cubicBezTo>
                  <a:lnTo>
                    <a:pt x="6659880" y="1067196"/>
                  </a:lnTo>
                  <a:cubicBezTo>
                    <a:pt x="6659880" y="1160930"/>
                    <a:pt x="6622645" y="1250825"/>
                    <a:pt x="6556364" y="1317106"/>
                  </a:cubicBezTo>
                  <a:cubicBezTo>
                    <a:pt x="6490084" y="1383386"/>
                    <a:pt x="6400188" y="1420622"/>
                    <a:pt x="6306454" y="1420622"/>
                  </a:cubicBezTo>
                  <a:lnTo>
                    <a:pt x="353426" y="1420622"/>
                  </a:lnTo>
                  <a:cubicBezTo>
                    <a:pt x="259692" y="1420622"/>
                    <a:pt x="169796" y="1383386"/>
                    <a:pt x="103516" y="1317106"/>
                  </a:cubicBezTo>
                  <a:cubicBezTo>
                    <a:pt x="37236" y="1250825"/>
                    <a:pt x="0" y="1160930"/>
                    <a:pt x="0" y="1067196"/>
                  </a:cubicBezTo>
                  <a:lnTo>
                    <a:pt x="0" y="353426"/>
                  </a:lnTo>
                  <a:cubicBezTo>
                    <a:pt x="0" y="158234"/>
                    <a:pt x="158234" y="0"/>
                    <a:pt x="353426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31451" y="9337993"/>
            <a:ext cx="5054797" cy="51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2"/>
              </a:lnSpc>
              <a:spcBef>
                <a:spcPct val="0"/>
              </a:spcBef>
            </a:pPr>
            <a:r>
              <a:rPr lang="en-US" sz="1494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[3] H.-S. Liao et </a:t>
            </a:r>
            <a:r>
              <a:rPr lang="en-US" sz="1494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al., HardwareX, vol. 11, p. e00317, 2022.</a:t>
            </a:r>
          </a:p>
          <a:p>
            <a:pPr algn="l">
              <a:lnSpc>
                <a:spcPts val="2092"/>
              </a:lnSpc>
              <a:spcBef>
                <a:spcPct val="0"/>
              </a:spcBef>
            </a:pPr>
            <a:r>
              <a:rPr lang="en-US" sz="1494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[4] W.-M. Wang et al., Nanotechnology, vol. 24, p. 455503, 2013.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875779" y="272247"/>
            <a:ext cx="10384208" cy="1159774"/>
            <a:chOff x="0" y="0"/>
            <a:chExt cx="2734935" cy="3054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34936" cy="305455"/>
            </a:xfrm>
            <a:custGeom>
              <a:avLst/>
              <a:gdLst/>
              <a:ahLst/>
              <a:cxnLst/>
              <a:rect r="r" b="b" t="t" l="l"/>
              <a:pathLst>
                <a:path h="305455" w="2734936">
                  <a:moveTo>
                    <a:pt x="38023" y="0"/>
                  </a:moveTo>
                  <a:lnTo>
                    <a:pt x="2696913" y="0"/>
                  </a:lnTo>
                  <a:cubicBezTo>
                    <a:pt x="2717912" y="0"/>
                    <a:pt x="2734936" y="17023"/>
                    <a:pt x="2734936" y="38023"/>
                  </a:cubicBezTo>
                  <a:lnTo>
                    <a:pt x="2734936" y="267432"/>
                  </a:lnTo>
                  <a:cubicBezTo>
                    <a:pt x="2734936" y="277516"/>
                    <a:pt x="2730930" y="287188"/>
                    <a:pt x="2723799" y="294318"/>
                  </a:cubicBezTo>
                  <a:cubicBezTo>
                    <a:pt x="2716668" y="301449"/>
                    <a:pt x="2706997" y="305455"/>
                    <a:pt x="2696913" y="305455"/>
                  </a:cubicBezTo>
                  <a:lnTo>
                    <a:pt x="38023" y="305455"/>
                  </a:lnTo>
                  <a:cubicBezTo>
                    <a:pt x="27939" y="305455"/>
                    <a:pt x="18267" y="301449"/>
                    <a:pt x="11137" y="294318"/>
                  </a:cubicBezTo>
                  <a:cubicBezTo>
                    <a:pt x="4006" y="287188"/>
                    <a:pt x="0" y="277516"/>
                    <a:pt x="0" y="267432"/>
                  </a:cubicBezTo>
                  <a:lnTo>
                    <a:pt x="0" y="38023"/>
                  </a:lnTo>
                  <a:cubicBezTo>
                    <a:pt x="0" y="27939"/>
                    <a:pt x="4006" y="18267"/>
                    <a:pt x="11137" y="11137"/>
                  </a:cubicBezTo>
                  <a:cubicBezTo>
                    <a:pt x="18267" y="4006"/>
                    <a:pt x="27939" y="0"/>
                    <a:pt x="380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85000"/>
                  </a:srgbClr>
                </a:gs>
                <a:gs pos="100000">
                  <a:srgbClr val="6A0BAD">
                    <a:alpha val="85000"/>
                  </a:srgbClr>
                </a:gs>
              </a:gsLst>
              <a:lin ang="2700000"/>
            </a:gradFill>
            <a:ln w="38100" cap="rnd">
              <a:solidFill>
                <a:srgbClr val="FFFFFF">
                  <a:alpha val="84706"/>
                </a:srgbClr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734935" cy="353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812419" y="464281"/>
            <a:ext cx="14510929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600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INTERFACES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292107" y="1517746"/>
            <a:ext cx="3551552" cy="3551518"/>
            <a:chOff x="0" y="0"/>
            <a:chExt cx="812800" cy="8127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792"/>
            </a:xfrm>
            <a:custGeom>
              <a:avLst/>
              <a:gdLst/>
              <a:ahLst/>
              <a:cxnLst/>
              <a:rect r="r" b="b" t="t" l="l"/>
              <a:pathLst>
                <a:path h="812792" w="812800">
                  <a:moveTo>
                    <a:pt x="406400" y="0"/>
                  </a:moveTo>
                  <a:cubicBezTo>
                    <a:pt x="181951" y="0"/>
                    <a:pt x="0" y="181950"/>
                    <a:pt x="0" y="406396"/>
                  </a:cubicBezTo>
                  <a:cubicBezTo>
                    <a:pt x="0" y="630842"/>
                    <a:pt x="181951" y="812792"/>
                    <a:pt x="406400" y="812792"/>
                  </a:cubicBezTo>
                  <a:cubicBezTo>
                    <a:pt x="630849" y="812792"/>
                    <a:pt x="812800" y="630842"/>
                    <a:pt x="812800" y="406396"/>
                  </a:cubicBezTo>
                  <a:cubicBezTo>
                    <a:pt x="812800" y="18195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4"/>
              <a:ext cx="660400" cy="708019"/>
            </a:xfrm>
            <a:prstGeom prst="rect">
              <a:avLst/>
            </a:prstGeom>
          </p:spPr>
          <p:txBody>
            <a:bodyPr anchor="ctr" rtlCol="false" tIns="42947" lIns="42947" bIns="42947" rIns="42947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7755275" y="2861609"/>
            <a:ext cx="2689221" cy="1858282"/>
          </a:xfrm>
          <a:custGeom>
            <a:avLst/>
            <a:gdLst/>
            <a:ahLst/>
            <a:cxnLst/>
            <a:rect r="r" b="b" t="t" l="l"/>
            <a:pathLst>
              <a:path h="1858282" w="2689221">
                <a:moveTo>
                  <a:pt x="0" y="0"/>
                </a:moveTo>
                <a:lnTo>
                  <a:pt x="2689221" y="0"/>
                </a:lnTo>
                <a:lnTo>
                  <a:pt x="2689221" y="1858282"/>
                </a:lnTo>
                <a:lnTo>
                  <a:pt x="0" y="18582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795672" y="2037516"/>
            <a:ext cx="2608427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9"/>
              </a:lnSpc>
            </a:pPr>
            <a:r>
              <a:rPr lang="en-US" sz="258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Photodetector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565146" y="2456616"/>
            <a:ext cx="306948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Thorlabs FDSP625 Pigtailed Si Photodiode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48945" y="4801519"/>
            <a:ext cx="5413305" cy="334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24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Link: </a:t>
            </a:r>
            <a:r>
              <a:rPr lang="en-US" sz="224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 tooltip="https://www.thorlabs.com/thorproduct.cfm?partnumber=FDSP625"/>
              </a:rPr>
              <a:t>https://www.thorlabs.com/thorproduct.cfm?partnumber=FDSP625</a:t>
            </a:r>
            <a:r>
              <a:rPr lang="en-US" sz="22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2688"/>
              </a:lnSpc>
            </a:pPr>
          </a:p>
          <a:p>
            <a:pPr algn="l">
              <a:lnSpc>
                <a:spcPts val="2688"/>
              </a:lnSpc>
            </a:pPr>
            <a:r>
              <a:rPr lang="en-US" sz="224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Estimated Price: </a:t>
            </a:r>
            <a:r>
              <a:rPr lang="en-US" sz="22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$178.32</a:t>
            </a:r>
          </a:p>
          <a:p>
            <a:pPr algn="l">
              <a:lnSpc>
                <a:spcPts val="2688"/>
              </a:lnSpc>
            </a:pPr>
          </a:p>
          <a:p>
            <a:pPr algn="l">
              <a:lnSpc>
                <a:spcPts val="2688"/>
              </a:lnSpc>
            </a:pPr>
            <a:r>
              <a:rPr lang="en-US" sz="224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Specifications:</a:t>
            </a:r>
          </a:p>
          <a:p>
            <a:pPr algn="l" marL="405384" indent="-202692" lvl="1">
              <a:lnSpc>
                <a:spcPts val="2688"/>
              </a:lnSpc>
              <a:buFont typeface="Arial"/>
              <a:buChar char="•"/>
            </a:pPr>
            <a:r>
              <a:rPr lang="en-US" b="true" sz="224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Spectral Band:</a:t>
            </a:r>
            <a:r>
              <a:rPr lang="en-US" sz="22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320 nm to 1000 nm </a:t>
            </a:r>
          </a:p>
          <a:p>
            <a:pPr algn="l" marL="405384" indent="-202692" lvl="1">
              <a:lnSpc>
                <a:spcPts val="2688"/>
              </a:lnSpc>
              <a:buFont typeface="Arial"/>
              <a:buChar char="•"/>
            </a:pPr>
            <a:r>
              <a:rPr lang="en-US" b="true" sz="224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Response Speed: </a:t>
            </a:r>
            <a:r>
              <a:rPr lang="en-US" sz="22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700 ps rise/fall time </a:t>
            </a:r>
          </a:p>
          <a:p>
            <a:pPr algn="l" marL="405384" indent="-202692" lvl="1">
              <a:lnSpc>
                <a:spcPts val="2688"/>
              </a:lnSpc>
              <a:buFont typeface="Arial"/>
              <a:buChar char="•"/>
            </a:pPr>
            <a:r>
              <a:rPr lang="en-US" b="true" sz="224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Noise:</a:t>
            </a:r>
            <a:r>
              <a:rPr lang="en-US" sz="22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0.01 nA dark current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07410" y="4712420"/>
            <a:ext cx="5385368" cy="401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24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Link: </a:t>
            </a:r>
          </a:p>
          <a:p>
            <a:pPr algn="l">
              <a:lnSpc>
                <a:spcPts val="2688"/>
              </a:lnSpc>
            </a:pPr>
            <a:r>
              <a:rPr lang="en-US" sz="224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https://doi.org/10.1088/0957-4484/24/45/455503</a:t>
            </a:r>
          </a:p>
          <a:p>
            <a:pPr algn="l">
              <a:lnSpc>
                <a:spcPts val="2688"/>
              </a:lnSpc>
            </a:pPr>
          </a:p>
          <a:p>
            <a:pPr algn="l">
              <a:lnSpc>
                <a:spcPts val="2688"/>
              </a:lnSpc>
            </a:pPr>
            <a:r>
              <a:rPr lang="en-US" sz="224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Estimated Price: </a:t>
            </a:r>
            <a:r>
              <a:rPr lang="en-US" sz="22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less than $125 (without DAQ)</a:t>
            </a:r>
          </a:p>
          <a:p>
            <a:pPr algn="l">
              <a:lnSpc>
                <a:spcPts val="2688"/>
              </a:lnSpc>
            </a:pPr>
          </a:p>
          <a:p>
            <a:pPr algn="l">
              <a:lnSpc>
                <a:spcPts val="2688"/>
              </a:lnSpc>
            </a:pPr>
            <a:r>
              <a:rPr lang="en-US" sz="224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Specifications:</a:t>
            </a:r>
          </a:p>
          <a:p>
            <a:pPr algn="l" marL="405384" indent="-202692" lvl="1">
              <a:lnSpc>
                <a:spcPts val="2688"/>
              </a:lnSpc>
              <a:buFont typeface="Arial"/>
              <a:buChar char="•"/>
            </a:pPr>
            <a:r>
              <a:rPr lang="en-US" b="true" sz="224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XY Range: </a:t>
            </a:r>
            <a:r>
              <a:rPr lang="en-US" sz="22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µm</a:t>
            </a:r>
          </a:p>
          <a:p>
            <a:pPr algn="l" marL="405384" indent="-202692" lvl="1">
              <a:lnSpc>
                <a:spcPts val="2688"/>
              </a:lnSpc>
              <a:buFont typeface="Arial"/>
              <a:buChar char="•"/>
            </a:pPr>
            <a:r>
              <a:rPr lang="en-US" b="true" sz="224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Nonlinearity: </a:t>
            </a:r>
            <a:r>
              <a:rPr lang="en-US" sz="22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2.11% X / 2.73% Y </a:t>
            </a:r>
          </a:p>
          <a:p>
            <a:pPr algn="l" marL="405384" indent="-202692" lvl="1">
              <a:lnSpc>
                <a:spcPts val="2688"/>
              </a:lnSpc>
              <a:buFont typeface="Arial"/>
              <a:buChar char="•"/>
            </a:pPr>
            <a:r>
              <a:rPr lang="en-US" b="true" sz="224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Noise / Resolution: </a:t>
            </a:r>
            <a:r>
              <a:rPr lang="en-US" sz="22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~0.06 nm </a:t>
            </a:r>
          </a:p>
          <a:p>
            <a:pPr algn="l" marL="405384" indent="-202692" lvl="1">
              <a:lnSpc>
                <a:spcPts val="2688"/>
              </a:lnSpc>
              <a:buFont typeface="Arial"/>
              <a:buChar char="•"/>
            </a:pPr>
            <a:r>
              <a:rPr lang="en-US" b="true" sz="224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Resonance: </a:t>
            </a:r>
            <a:r>
              <a:rPr lang="en-US" sz="22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~360 Hz (X/Y)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224318" y="1517746"/>
            <a:ext cx="3551552" cy="3551518"/>
            <a:chOff x="0" y="0"/>
            <a:chExt cx="4735403" cy="4735358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4735403" cy="4735358"/>
              <a:chOff x="0" y="0"/>
              <a:chExt cx="812800" cy="81279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792"/>
              </a:xfrm>
              <a:custGeom>
                <a:avLst/>
                <a:gdLst/>
                <a:ahLst/>
                <a:cxnLst/>
                <a:rect r="r" b="b" t="t" l="l"/>
                <a:pathLst>
                  <a:path h="812792" w="812800">
                    <a:moveTo>
                      <a:pt x="406400" y="0"/>
                    </a:moveTo>
                    <a:cubicBezTo>
                      <a:pt x="181951" y="0"/>
                      <a:pt x="0" y="181950"/>
                      <a:pt x="0" y="406396"/>
                    </a:cubicBezTo>
                    <a:cubicBezTo>
                      <a:pt x="0" y="630842"/>
                      <a:pt x="181951" y="812792"/>
                      <a:pt x="406400" y="812792"/>
                    </a:cubicBezTo>
                    <a:cubicBezTo>
                      <a:pt x="630849" y="812792"/>
                      <a:pt x="812800" y="630842"/>
                      <a:pt x="812800" y="406396"/>
                    </a:cubicBezTo>
                    <a:cubicBezTo>
                      <a:pt x="812800" y="18195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28574"/>
                <a:ext cx="660400" cy="708019"/>
              </a:xfrm>
              <a:prstGeom prst="rect">
                <a:avLst/>
              </a:prstGeom>
            </p:spPr>
            <p:txBody>
              <a:bodyPr anchor="ctr" rtlCol="false" tIns="42947" lIns="42947" bIns="42947" rIns="42947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43" id="43"/>
            <p:cNvSpPr/>
            <p:nvPr/>
          </p:nvSpPr>
          <p:spPr>
            <a:xfrm flipH="false" flipV="false" rot="0">
              <a:off x="1231362" y="1909729"/>
              <a:ext cx="2382817" cy="2660556"/>
            </a:xfrm>
            <a:custGeom>
              <a:avLst/>
              <a:gdLst/>
              <a:ahLst/>
              <a:cxnLst/>
              <a:rect r="r" b="b" t="t" l="l"/>
              <a:pathLst>
                <a:path h="2660556" w="2382817">
                  <a:moveTo>
                    <a:pt x="0" y="0"/>
                  </a:moveTo>
                  <a:lnTo>
                    <a:pt x="2382816" y="0"/>
                  </a:lnTo>
                  <a:lnTo>
                    <a:pt x="2382816" y="2660556"/>
                  </a:lnTo>
                  <a:lnTo>
                    <a:pt x="0" y="2660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002" r="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 rot="0">
              <a:off x="376450" y="220192"/>
              <a:ext cx="3982502" cy="157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99"/>
                </a:lnSpc>
              </a:pPr>
              <a:r>
                <a:rPr lang="en-US" sz="2582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MEM</a:t>
              </a:r>
              <a:r>
                <a:rPr lang="en-US" sz="2582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 </a:t>
              </a:r>
            </a:p>
            <a:p>
              <a:pPr algn="ctr">
                <a:lnSpc>
                  <a:spcPts val="3099"/>
                </a:lnSpc>
              </a:pPr>
              <a:r>
                <a:rPr lang="en-US" sz="2582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Actuator [2]</a:t>
              </a:r>
            </a:p>
            <a:p>
              <a:pPr algn="ctr">
                <a:lnSpc>
                  <a:spcPts val="3099"/>
                </a:lnSpc>
              </a:pP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6450" y="1208942"/>
              <a:ext cx="4092640" cy="730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Buzze</a:t>
              </a: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r-Scanner (Wang et al. 2013)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98366" y="1923279"/>
            <a:ext cx="12287594" cy="9488085"/>
            <a:chOff x="0" y="0"/>
            <a:chExt cx="3236239" cy="249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36239" cy="2498919"/>
            </a:xfrm>
            <a:custGeom>
              <a:avLst/>
              <a:gdLst/>
              <a:ahLst/>
              <a:cxnLst/>
              <a:rect r="r" b="b" t="t" l="l"/>
              <a:pathLst>
                <a:path h="2498919" w="3236239">
                  <a:moveTo>
                    <a:pt x="32133" y="0"/>
                  </a:moveTo>
                  <a:lnTo>
                    <a:pt x="3204106" y="0"/>
                  </a:lnTo>
                  <a:cubicBezTo>
                    <a:pt x="3212628" y="0"/>
                    <a:pt x="3220801" y="3385"/>
                    <a:pt x="3226827" y="9412"/>
                  </a:cubicBezTo>
                  <a:cubicBezTo>
                    <a:pt x="3232853" y="15438"/>
                    <a:pt x="3236239" y="23611"/>
                    <a:pt x="3236239" y="32133"/>
                  </a:cubicBezTo>
                  <a:lnTo>
                    <a:pt x="3236239" y="2466786"/>
                  </a:lnTo>
                  <a:cubicBezTo>
                    <a:pt x="3236239" y="2475309"/>
                    <a:pt x="3232853" y="2483482"/>
                    <a:pt x="3226827" y="2489508"/>
                  </a:cubicBezTo>
                  <a:cubicBezTo>
                    <a:pt x="3220801" y="2495534"/>
                    <a:pt x="3212628" y="2498919"/>
                    <a:pt x="3204106" y="2498919"/>
                  </a:cubicBezTo>
                  <a:lnTo>
                    <a:pt x="32133" y="2498919"/>
                  </a:lnTo>
                  <a:cubicBezTo>
                    <a:pt x="23611" y="2498919"/>
                    <a:pt x="15438" y="2495534"/>
                    <a:pt x="9412" y="2489508"/>
                  </a:cubicBezTo>
                  <a:cubicBezTo>
                    <a:pt x="3385" y="2483482"/>
                    <a:pt x="0" y="2475309"/>
                    <a:pt x="0" y="2466786"/>
                  </a:cubicBezTo>
                  <a:lnTo>
                    <a:pt x="0" y="32133"/>
                  </a:lnTo>
                  <a:cubicBezTo>
                    <a:pt x="0" y="23611"/>
                    <a:pt x="3385" y="15438"/>
                    <a:pt x="9412" y="9412"/>
                  </a:cubicBezTo>
                  <a:cubicBezTo>
                    <a:pt x="15438" y="3385"/>
                    <a:pt x="23611" y="0"/>
                    <a:pt x="321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85000"/>
                  </a:srgbClr>
                </a:gs>
                <a:gs pos="100000">
                  <a:srgbClr val="6A0BAD">
                    <a:alpha val="85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236239" cy="2546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5741" y="612556"/>
            <a:ext cx="17086211" cy="9434900"/>
            <a:chOff x="0" y="0"/>
            <a:chExt cx="4500072" cy="24849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00072" cy="2484912"/>
            </a:xfrm>
            <a:custGeom>
              <a:avLst/>
              <a:gdLst/>
              <a:ahLst/>
              <a:cxnLst/>
              <a:rect r="r" b="b" t="t" l="l"/>
              <a:pathLst>
                <a:path h="2484912" w="4500072">
                  <a:moveTo>
                    <a:pt x="23109" y="0"/>
                  </a:moveTo>
                  <a:lnTo>
                    <a:pt x="4476964" y="0"/>
                  </a:lnTo>
                  <a:cubicBezTo>
                    <a:pt x="4489726" y="0"/>
                    <a:pt x="4500072" y="10346"/>
                    <a:pt x="4500072" y="23109"/>
                  </a:cubicBezTo>
                  <a:lnTo>
                    <a:pt x="4500072" y="2461803"/>
                  </a:lnTo>
                  <a:cubicBezTo>
                    <a:pt x="4500072" y="2474566"/>
                    <a:pt x="4489726" y="2484912"/>
                    <a:pt x="4476964" y="2484912"/>
                  </a:cubicBezTo>
                  <a:lnTo>
                    <a:pt x="23109" y="2484912"/>
                  </a:lnTo>
                  <a:cubicBezTo>
                    <a:pt x="10346" y="2484912"/>
                    <a:pt x="0" y="2474566"/>
                    <a:pt x="0" y="2461803"/>
                  </a:cubicBezTo>
                  <a:lnTo>
                    <a:pt x="0" y="23109"/>
                  </a:lnTo>
                  <a:cubicBezTo>
                    <a:pt x="0" y="10346"/>
                    <a:pt x="10346" y="0"/>
                    <a:pt x="23109" y="0"/>
                  </a:cubicBezTo>
                  <a:close/>
                </a:path>
              </a:pathLst>
            </a:custGeom>
            <a:solidFill>
              <a:srgbClr val="000000"/>
            </a:solidFill>
            <a:ln w="476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500072" cy="2532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97007" y="829243"/>
            <a:ext cx="16669496" cy="9001528"/>
          </a:xfrm>
          <a:custGeom>
            <a:avLst/>
            <a:gdLst/>
            <a:ahLst/>
            <a:cxnLst/>
            <a:rect r="r" b="b" t="t" l="l"/>
            <a:pathLst>
              <a:path h="9001528" w="16669496">
                <a:moveTo>
                  <a:pt x="0" y="0"/>
                </a:moveTo>
                <a:lnTo>
                  <a:pt x="16669496" y="0"/>
                </a:lnTo>
                <a:lnTo>
                  <a:pt x="16669496" y="9001527"/>
                </a:lnTo>
                <a:lnTo>
                  <a:pt x="0" y="9001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709535" y="4838920"/>
            <a:ext cx="2856968" cy="499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0"/>
              </a:lnSpc>
            </a:pPr>
            <a:r>
              <a:rPr lang="en-US" b="true" sz="126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Pi</a:t>
            </a: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n allocation:</a:t>
            </a:r>
          </a:p>
          <a:p>
            <a:pPr algn="l" marL="0" indent="0" lvl="0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Power:</a:t>
            </a:r>
          </a:p>
          <a:p>
            <a:pPr algn="l" marL="0" indent="0" lvl="0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1. Analog</a:t>
            </a:r>
          </a:p>
          <a:p>
            <a:pPr algn="l" marL="0" indent="0" lvl="0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2. Digital</a:t>
            </a:r>
          </a:p>
          <a:p>
            <a:pPr algn="l" marL="0" indent="0" lvl="0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Input:</a:t>
            </a:r>
          </a:p>
          <a:p>
            <a:pPr algn="l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1. Photocurrent (analog)</a:t>
            </a:r>
          </a:p>
          <a:p>
            <a:pPr algn="l" marL="0" indent="0" lvl="0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2. U</a:t>
            </a: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ser instruction config (digital)</a:t>
            </a:r>
          </a:p>
          <a:p>
            <a:pPr algn="l" marL="0" indent="0" lvl="0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Output:</a:t>
            </a:r>
          </a:p>
          <a:p>
            <a:pPr algn="l" marL="0" indent="0" lvl="0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1. Filtered Amp Signal (analog)</a:t>
            </a:r>
          </a:p>
          <a:p>
            <a:pPr algn="l" marL="0" indent="0" lvl="0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2. Area Signal (analog)</a:t>
            </a:r>
          </a:p>
          <a:p>
            <a:pPr algn="l" marL="0" indent="0" lvl="0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3. Analog-time pulse (analog)</a:t>
            </a:r>
          </a:p>
          <a:p>
            <a:pPr algn="l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4. Offset direction (digital)</a:t>
            </a:r>
          </a:p>
          <a:p>
            <a:pPr algn="l" marL="0" indent="0" lvl="0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5. Normaliz</a:t>
            </a: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ed Area (digital)</a:t>
            </a:r>
          </a:p>
          <a:p>
            <a:pPr algn="l" marL="0" indent="0" lvl="0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6. Error x (digital)</a:t>
            </a:r>
          </a:p>
          <a:p>
            <a:pPr algn="l" marL="0" indent="0" lvl="0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7. Error y (di</a:t>
            </a: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gita</a:t>
            </a: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l</a:t>
            </a: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)</a:t>
            </a:r>
          </a:p>
          <a:p>
            <a:pPr algn="l" marL="0" indent="0" lvl="0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8.</a:t>
            </a: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Global motion</a:t>
            </a: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x co</a:t>
            </a: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ntrol (digital)</a:t>
            </a:r>
          </a:p>
          <a:p>
            <a:pPr algn="l" marL="0" indent="0" lvl="0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9. Global motion y control (d</a:t>
            </a: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igital)</a:t>
            </a:r>
          </a:p>
          <a:p>
            <a:pPr algn="l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10.</a:t>
            </a: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MEMs</a:t>
            </a: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 con</a:t>
            </a: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trol (analog)</a:t>
            </a:r>
          </a:p>
          <a:p>
            <a:pPr algn="l">
              <a:lnSpc>
                <a:spcPts val="1890"/>
              </a:lnSpc>
            </a:pPr>
            <a:r>
              <a:rPr lang="en-US" b="true" sz="126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11. Analog Wave Mixer (analog)</a:t>
            </a:r>
          </a:p>
          <a:p>
            <a:pPr algn="l" marL="0" indent="0" lvl="0">
              <a:lnSpc>
                <a:spcPts val="4049"/>
              </a:lnSpc>
            </a:pPr>
            <a:r>
              <a:rPr lang="en-US" b="true" sz="2699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Total pin count: 15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612556"/>
            <a:ext cx="16406110" cy="9434900"/>
            <a:chOff x="0" y="0"/>
            <a:chExt cx="4320951" cy="24849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20951" cy="2484912"/>
            </a:xfrm>
            <a:custGeom>
              <a:avLst/>
              <a:gdLst/>
              <a:ahLst/>
              <a:cxnLst/>
              <a:rect r="r" b="b" t="t" l="l"/>
              <a:pathLst>
                <a:path h="2484912" w="4320951">
                  <a:moveTo>
                    <a:pt x="24067" y="0"/>
                  </a:moveTo>
                  <a:lnTo>
                    <a:pt x="4296884" y="0"/>
                  </a:lnTo>
                  <a:cubicBezTo>
                    <a:pt x="4310176" y="0"/>
                    <a:pt x="4320951" y="10775"/>
                    <a:pt x="4320951" y="24067"/>
                  </a:cubicBezTo>
                  <a:lnTo>
                    <a:pt x="4320951" y="2460845"/>
                  </a:lnTo>
                  <a:cubicBezTo>
                    <a:pt x="4320951" y="2467228"/>
                    <a:pt x="4318415" y="2473350"/>
                    <a:pt x="4313902" y="2477863"/>
                  </a:cubicBezTo>
                  <a:cubicBezTo>
                    <a:pt x="4309389" y="2482376"/>
                    <a:pt x="4303267" y="2484912"/>
                    <a:pt x="4296884" y="2484912"/>
                  </a:cubicBezTo>
                  <a:lnTo>
                    <a:pt x="24067" y="2484912"/>
                  </a:lnTo>
                  <a:cubicBezTo>
                    <a:pt x="10775" y="2484912"/>
                    <a:pt x="0" y="2474137"/>
                    <a:pt x="0" y="2460845"/>
                  </a:cubicBezTo>
                  <a:lnTo>
                    <a:pt x="0" y="24067"/>
                  </a:lnTo>
                  <a:cubicBezTo>
                    <a:pt x="0" y="10775"/>
                    <a:pt x="10775" y="0"/>
                    <a:pt x="24067" y="0"/>
                  </a:cubicBezTo>
                  <a:close/>
                </a:path>
              </a:pathLst>
            </a:custGeom>
            <a:solidFill>
              <a:srgbClr val="000000"/>
            </a:solidFill>
            <a:ln w="476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20951" cy="2532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184746" y="887491"/>
            <a:ext cx="13881649" cy="8889009"/>
          </a:xfrm>
          <a:custGeom>
            <a:avLst/>
            <a:gdLst/>
            <a:ahLst/>
            <a:cxnLst/>
            <a:rect r="r" b="b" t="t" l="l"/>
            <a:pathLst>
              <a:path h="8889009" w="13881649">
                <a:moveTo>
                  <a:pt x="0" y="0"/>
                </a:moveTo>
                <a:lnTo>
                  <a:pt x="13881649" y="0"/>
                </a:lnTo>
                <a:lnTo>
                  <a:pt x="13881649" y="8889009"/>
                </a:lnTo>
                <a:lnTo>
                  <a:pt x="0" y="8889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241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184746" y="510500"/>
            <a:ext cx="4600160" cy="2365036"/>
            <a:chOff x="0" y="0"/>
            <a:chExt cx="1211565" cy="6228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1565" cy="622890"/>
            </a:xfrm>
            <a:custGeom>
              <a:avLst/>
              <a:gdLst/>
              <a:ahLst/>
              <a:cxnLst/>
              <a:rect r="r" b="b" t="t" l="l"/>
              <a:pathLst>
                <a:path h="622890" w="1211565">
                  <a:moveTo>
                    <a:pt x="85831" y="0"/>
                  </a:moveTo>
                  <a:lnTo>
                    <a:pt x="1125734" y="0"/>
                  </a:lnTo>
                  <a:cubicBezTo>
                    <a:pt x="1148497" y="0"/>
                    <a:pt x="1170329" y="9043"/>
                    <a:pt x="1186425" y="25139"/>
                  </a:cubicBezTo>
                  <a:cubicBezTo>
                    <a:pt x="1202522" y="41236"/>
                    <a:pt x="1211565" y="63067"/>
                    <a:pt x="1211565" y="85831"/>
                  </a:cubicBezTo>
                  <a:lnTo>
                    <a:pt x="1211565" y="537059"/>
                  </a:lnTo>
                  <a:cubicBezTo>
                    <a:pt x="1211565" y="559823"/>
                    <a:pt x="1202522" y="581654"/>
                    <a:pt x="1186425" y="597751"/>
                  </a:cubicBezTo>
                  <a:cubicBezTo>
                    <a:pt x="1170329" y="613847"/>
                    <a:pt x="1148497" y="622890"/>
                    <a:pt x="1125734" y="622890"/>
                  </a:cubicBezTo>
                  <a:lnTo>
                    <a:pt x="85831" y="622890"/>
                  </a:lnTo>
                  <a:cubicBezTo>
                    <a:pt x="38428" y="622890"/>
                    <a:pt x="0" y="584462"/>
                    <a:pt x="0" y="537059"/>
                  </a:cubicBezTo>
                  <a:lnTo>
                    <a:pt x="0" y="85831"/>
                  </a:lnTo>
                  <a:cubicBezTo>
                    <a:pt x="0" y="63067"/>
                    <a:pt x="9043" y="41236"/>
                    <a:pt x="25139" y="25139"/>
                  </a:cubicBezTo>
                  <a:cubicBezTo>
                    <a:pt x="41236" y="9043"/>
                    <a:pt x="63067" y="0"/>
                    <a:pt x="85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11565" cy="670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3017565" y="338672"/>
            <a:ext cx="9802471" cy="2279273"/>
            <a:chOff x="0" y="0"/>
            <a:chExt cx="2581721" cy="6003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1721" cy="600302"/>
            </a:xfrm>
            <a:custGeom>
              <a:avLst/>
              <a:gdLst/>
              <a:ahLst/>
              <a:cxnLst/>
              <a:rect r="r" b="b" t="t" l="l"/>
              <a:pathLst>
                <a:path h="600302" w="2581721">
                  <a:moveTo>
                    <a:pt x="40279" y="0"/>
                  </a:moveTo>
                  <a:lnTo>
                    <a:pt x="2541442" y="0"/>
                  </a:lnTo>
                  <a:cubicBezTo>
                    <a:pt x="2563687" y="0"/>
                    <a:pt x="2581721" y="18034"/>
                    <a:pt x="2581721" y="40279"/>
                  </a:cubicBezTo>
                  <a:lnTo>
                    <a:pt x="2581721" y="560023"/>
                  </a:lnTo>
                  <a:cubicBezTo>
                    <a:pt x="2581721" y="570706"/>
                    <a:pt x="2577477" y="580951"/>
                    <a:pt x="2569923" y="588505"/>
                  </a:cubicBezTo>
                  <a:cubicBezTo>
                    <a:pt x="2562370" y="596059"/>
                    <a:pt x="2552124" y="600302"/>
                    <a:pt x="2541442" y="600302"/>
                  </a:cubicBezTo>
                  <a:lnTo>
                    <a:pt x="40279" y="600302"/>
                  </a:lnTo>
                  <a:cubicBezTo>
                    <a:pt x="18034" y="600302"/>
                    <a:pt x="0" y="582269"/>
                    <a:pt x="0" y="560023"/>
                  </a:cubicBezTo>
                  <a:lnTo>
                    <a:pt x="0" y="40279"/>
                  </a:lnTo>
                  <a:cubicBezTo>
                    <a:pt x="0" y="29597"/>
                    <a:pt x="4244" y="19351"/>
                    <a:pt x="11798" y="11798"/>
                  </a:cubicBezTo>
                  <a:cubicBezTo>
                    <a:pt x="19351" y="4244"/>
                    <a:pt x="29597" y="0"/>
                    <a:pt x="4027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85000"/>
                  </a:srgbClr>
                </a:gs>
                <a:gs pos="100000">
                  <a:srgbClr val="6A0BAD">
                    <a:alpha val="85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81721" cy="647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1765" y="598932"/>
            <a:ext cx="7900568" cy="91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6399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ANALOG DOMAIN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1765" y="1880888"/>
            <a:ext cx="7900568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999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AFE &amp; MEMS WAVE MIXER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81765" y="1628991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9175" y="612556"/>
            <a:ext cx="16406110" cy="9434900"/>
            <a:chOff x="0" y="0"/>
            <a:chExt cx="4320951" cy="24849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20951" cy="2484912"/>
            </a:xfrm>
            <a:custGeom>
              <a:avLst/>
              <a:gdLst/>
              <a:ahLst/>
              <a:cxnLst/>
              <a:rect r="r" b="b" t="t" l="l"/>
              <a:pathLst>
                <a:path h="2484912" w="4320951">
                  <a:moveTo>
                    <a:pt x="24067" y="0"/>
                  </a:moveTo>
                  <a:lnTo>
                    <a:pt x="4296884" y="0"/>
                  </a:lnTo>
                  <a:cubicBezTo>
                    <a:pt x="4310176" y="0"/>
                    <a:pt x="4320951" y="10775"/>
                    <a:pt x="4320951" y="24067"/>
                  </a:cubicBezTo>
                  <a:lnTo>
                    <a:pt x="4320951" y="2460845"/>
                  </a:lnTo>
                  <a:cubicBezTo>
                    <a:pt x="4320951" y="2467228"/>
                    <a:pt x="4318415" y="2473350"/>
                    <a:pt x="4313902" y="2477863"/>
                  </a:cubicBezTo>
                  <a:cubicBezTo>
                    <a:pt x="4309389" y="2482376"/>
                    <a:pt x="4303267" y="2484912"/>
                    <a:pt x="4296884" y="2484912"/>
                  </a:cubicBezTo>
                  <a:lnTo>
                    <a:pt x="24067" y="2484912"/>
                  </a:lnTo>
                  <a:cubicBezTo>
                    <a:pt x="10775" y="2484912"/>
                    <a:pt x="0" y="2474137"/>
                    <a:pt x="0" y="2460845"/>
                  </a:cubicBezTo>
                  <a:lnTo>
                    <a:pt x="0" y="24067"/>
                  </a:lnTo>
                  <a:cubicBezTo>
                    <a:pt x="0" y="10775"/>
                    <a:pt x="10775" y="0"/>
                    <a:pt x="24067" y="0"/>
                  </a:cubicBezTo>
                  <a:close/>
                </a:path>
              </a:pathLst>
            </a:custGeom>
            <a:solidFill>
              <a:srgbClr val="000000"/>
            </a:solidFill>
            <a:ln w="476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20951" cy="2532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22784" y="847131"/>
            <a:ext cx="15763958" cy="8965751"/>
          </a:xfrm>
          <a:custGeom>
            <a:avLst/>
            <a:gdLst/>
            <a:ahLst/>
            <a:cxnLst/>
            <a:rect r="r" b="b" t="t" l="l"/>
            <a:pathLst>
              <a:path h="8965751" w="15763958">
                <a:moveTo>
                  <a:pt x="0" y="0"/>
                </a:moveTo>
                <a:lnTo>
                  <a:pt x="15763959" y="0"/>
                </a:lnTo>
                <a:lnTo>
                  <a:pt x="15763959" y="8965751"/>
                </a:lnTo>
                <a:lnTo>
                  <a:pt x="0" y="8965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7622" y="1881795"/>
            <a:ext cx="6070426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529833" y="1028700"/>
            <a:ext cx="2966540" cy="1300382"/>
            <a:chOff x="0" y="0"/>
            <a:chExt cx="781311" cy="3424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1311" cy="342487"/>
            </a:xfrm>
            <a:custGeom>
              <a:avLst/>
              <a:gdLst/>
              <a:ahLst/>
              <a:cxnLst/>
              <a:rect r="r" b="b" t="t" l="l"/>
              <a:pathLst>
                <a:path h="342487" w="781311">
                  <a:moveTo>
                    <a:pt x="133097" y="0"/>
                  </a:moveTo>
                  <a:lnTo>
                    <a:pt x="648214" y="0"/>
                  </a:lnTo>
                  <a:cubicBezTo>
                    <a:pt x="721721" y="0"/>
                    <a:pt x="781311" y="59590"/>
                    <a:pt x="781311" y="133097"/>
                  </a:cubicBezTo>
                  <a:lnTo>
                    <a:pt x="781311" y="209390"/>
                  </a:lnTo>
                  <a:cubicBezTo>
                    <a:pt x="781311" y="244690"/>
                    <a:pt x="767288" y="278544"/>
                    <a:pt x="742328" y="303504"/>
                  </a:cubicBezTo>
                  <a:cubicBezTo>
                    <a:pt x="717367" y="328465"/>
                    <a:pt x="683513" y="342487"/>
                    <a:pt x="648214" y="342487"/>
                  </a:cubicBezTo>
                  <a:lnTo>
                    <a:pt x="133097" y="342487"/>
                  </a:lnTo>
                  <a:cubicBezTo>
                    <a:pt x="97798" y="342487"/>
                    <a:pt x="63944" y="328465"/>
                    <a:pt x="38983" y="303504"/>
                  </a:cubicBezTo>
                  <a:cubicBezTo>
                    <a:pt x="14023" y="278544"/>
                    <a:pt x="0" y="244690"/>
                    <a:pt x="0" y="209390"/>
                  </a:cubicBezTo>
                  <a:lnTo>
                    <a:pt x="0" y="133097"/>
                  </a:lnTo>
                  <a:cubicBezTo>
                    <a:pt x="0" y="97798"/>
                    <a:pt x="14023" y="63944"/>
                    <a:pt x="38983" y="38983"/>
                  </a:cubicBezTo>
                  <a:cubicBezTo>
                    <a:pt x="63944" y="14023"/>
                    <a:pt x="97798" y="0"/>
                    <a:pt x="13309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81311" cy="390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043827" y="339038"/>
            <a:ext cx="6540200" cy="1951482"/>
            <a:chOff x="0" y="0"/>
            <a:chExt cx="1722522" cy="5139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2522" cy="513971"/>
            </a:xfrm>
            <a:custGeom>
              <a:avLst/>
              <a:gdLst/>
              <a:ahLst/>
              <a:cxnLst/>
              <a:rect r="r" b="b" t="t" l="l"/>
              <a:pathLst>
                <a:path h="513971" w="1722522">
                  <a:moveTo>
                    <a:pt x="60371" y="0"/>
                  </a:moveTo>
                  <a:lnTo>
                    <a:pt x="1662151" y="0"/>
                  </a:lnTo>
                  <a:cubicBezTo>
                    <a:pt x="1695493" y="0"/>
                    <a:pt x="1722522" y="27029"/>
                    <a:pt x="1722522" y="60371"/>
                  </a:cubicBezTo>
                  <a:lnTo>
                    <a:pt x="1722522" y="453600"/>
                  </a:lnTo>
                  <a:cubicBezTo>
                    <a:pt x="1722522" y="469611"/>
                    <a:pt x="1716161" y="484967"/>
                    <a:pt x="1704840" y="496288"/>
                  </a:cubicBezTo>
                  <a:cubicBezTo>
                    <a:pt x="1693518" y="507610"/>
                    <a:pt x="1678162" y="513971"/>
                    <a:pt x="1662151" y="513971"/>
                  </a:cubicBezTo>
                  <a:lnTo>
                    <a:pt x="60371" y="513971"/>
                  </a:lnTo>
                  <a:cubicBezTo>
                    <a:pt x="44360" y="513971"/>
                    <a:pt x="29004" y="507610"/>
                    <a:pt x="17682" y="496288"/>
                  </a:cubicBezTo>
                  <a:cubicBezTo>
                    <a:pt x="6360" y="484967"/>
                    <a:pt x="0" y="469611"/>
                    <a:pt x="0" y="453600"/>
                  </a:cubicBezTo>
                  <a:lnTo>
                    <a:pt x="0" y="60371"/>
                  </a:lnTo>
                  <a:cubicBezTo>
                    <a:pt x="0" y="27029"/>
                    <a:pt x="27029" y="0"/>
                    <a:pt x="603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85000"/>
                  </a:srgbClr>
                </a:gs>
                <a:gs pos="100000">
                  <a:srgbClr val="6A0BAD">
                    <a:alpha val="85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22522" cy="561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14387" y="415238"/>
            <a:ext cx="3785143" cy="187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6800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DIGITAL </a:t>
            </a:r>
          </a:p>
          <a:p>
            <a:pPr algn="l">
              <a:lnSpc>
                <a:spcPts val="7344"/>
              </a:lnSpc>
            </a:pPr>
            <a:r>
              <a:rPr lang="en-US" sz="6800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DOMAIN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67178" y="-5284447"/>
            <a:ext cx="12626294" cy="1262629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100000"/>
                  </a:srgbClr>
                </a:gs>
                <a:gs pos="100000">
                  <a:srgbClr val="6A0BA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39627" y="2115397"/>
            <a:ext cx="15408745" cy="2510689"/>
            <a:chOff x="0" y="0"/>
            <a:chExt cx="20544994" cy="334758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0544994" cy="3347586"/>
              <a:chOff x="0" y="0"/>
              <a:chExt cx="4058270" cy="66125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58271" cy="661251"/>
              </a:xfrm>
              <a:custGeom>
                <a:avLst/>
                <a:gdLst/>
                <a:ahLst/>
                <a:cxnLst/>
                <a:rect r="r" b="b" t="t" l="l"/>
                <a:pathLst>
                  <a:path h="661251" w="4058271">
                    <a:moveTo>
                      <a:pt x="25624" y="0"/>
                    </a:moveTo>
                    <a:lnTo>
                      <a:pt x="4032646" y="0"/>
                    </a:lnTo>
                    <a:cubicBezTo>
                      <a:pt x="4046798" y="0"/>
                      <a:pt x="4058271" y="11472"/>
                      <a:pt x="4058271" y="25624"/>
                    </a:cubicBezTo>
                    <a:lnTo>
                      <a:pt x="4058271" y="635627"/>
                    </a:lnTo>
                    <a:cubicBezTo>
                      <a:pt x="4058271" y="642423"/>
                      <a:pt x="4055571" y="648941"/>
                      <a:pt x="4050765" y="653746"/>
                    </a:cubicBezTo>
                    <a:cubicBezTo>
                      <a:pt x="4045960" y="658552"/>
                      <a:pt x="4039442" y="661251"/>
                      <a:pt x="4032646" y="661251"/>
                    </a:cubicBezTo>
                    <a:lnTo>
                      <a:pt x="25624" y="661251"/>
                    </a:lnTo>
                    <a:cubicBezTo>
                      <a:pt x="11472" y="661251"/>
                      <a:pt x="0" y="649779"/>
                      <a:pt x="0" y="635627"/>
                    </a:cubicBezTo>
                    <a:lnTo>
                      <a:pt x="0" y="25624"/>
                    </a:lnTo>
                    <a:cubicBezTo>
                      <a:pt x="0" y="11472"/>
                      <a:pt x="11472" y="0"/>
                      <a:pt x="2562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4058270" cy="7088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2850134" y="1089213"/>
              <a:ext cx="14591283" cy="1984638"/>
            </a:xfrm>
            <a:custGeom>
              <a:avLst/>
              <a:gdLst/>
              <a:ahLst/>
              <a:cxnLst/>
              <a:rect r="r" b="b" t="t" l="l"/>
              <a:pathLst>
                <a:path h="1984638" w="14591283">
                  <a:moveTo>
                    <a:pt x="0" y="0"/>
                  </a:moveTo>
                  <a:lnTo>
                    <a:pt x="14591284" y="0"/>
                  </a:lnTo>
                  <a:lnTo>
                    <a:pt x="14591284" y="1984638"/>
                  </a:lnTo>
                  <a:lnTo>
                    <a:pt x="0" y="1984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47587" y="-9519"/>
              <a:ext cx="19596378" cy="923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999"/>
                </a:lnSpc>
              </a:pPr>
              <a:r>
                <a:rPr lang="en-US" b="true" sz="3999" u="sng">
                  <a:solidFill>
                    <a:srgbClr val="000000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Three-Point</a:t>
              </a:r>
              <a:r>
                <a:rPr lang="en-US" b="true" sz="3999" u="sng">
                  <a:solidFill>
                    <a:srgbClr val="000000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 Gaussian </a:t>
              </a:r>
              <a:r>
                <a:rPr lang="en-US" b="true" sz="3999" u="sng">
                  <a:solidFill>
                    <a:srgbClr val="000000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Area Method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385445" y="5408272"/>
            <a:ext cx="8127406" cy="3911314"/>
          </a:xfrm>
          <a:custGeom>
            <a:avLst/>
            <a:gdLst/>
            <a:ahLst/>
            <a:cxnLst/>
            <a:rect r="r" b="b" t="t" l="l"/>
            <a:pathLst>
              <a:path h="3911314" w="8127406">
                <a:moveTo>
                  <a:pt x="0" y="0"/>
                </a:moveTo>
                <a:lnTo>
                  <a:pt x="8127406" y="0"/>
                </a:lnTo>
                <a:lnTo>
                  <a:pt x="8127406" y="3911314"/>
                </a:lnTo>
                <a:lnTo>
                  <a:pt x="0" y="3911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31880"/>
            <a:ext cx="16713490" cy="118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72"/>
              </a:lnSpc>
            </a:pPr>
            <a:r>
              <a:rPr lang="en-US" sz="8784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SIGNAL PROCESSING ALGORITHM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293972"/>
            <a:ext cx="7617364" cy="398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0"/>
              </a:lnSpc>
            </a:pPr>
            <a:r>
              <a:rPr lang="en-US" b="true" sz="350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3-Poi</a:t>
            </a:r>
            <a:r>
              <a:rPr lang="en-US" b="true" sz="3500" strike="noStrike" u="non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nt Sampling Workflow :</a:t>
            </a:r>
          </a:p>
          <a:p>
            <a:pPr algn="l" marL="755651" indent="-377825" lvl="1">
              <a:lnSpc>
                <a:spcPts val="5250"/>
              </a:lnSpc>
              <a:buAutoNum type="arabicPeriod" startAt="1"/>
            </a:pP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Readout – Boot and sweep</a:t>
            </a:r>
          </a:p>
          <a:p>
            <a:pPr algn="l" marL="755651" indent="-377825" lvl="1">
              <a:lnSpc>
                <a:spcPts val="5250"/>
              </a:lnSpc>
              <a:buAutoNum type="arabicPeriod" startAt="1"/>
            </a:pP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U</a:t>
            </a: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ser config movement and sweep</a:t>
            </a:r>
          </a:p>
          <a:p>
            <a:pPr algn="l" marL="755651" indent="-377825" lvl="1">
              <a:lnSpc>
                <a:spcPts val="5250"/>
              </a:lnSpc>
              <a:buAutoNum type="arabicPeriod" startAt="1"/>
            </a:pP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Smart movement and sweep</a:t>
            </a:r>
          </a:p>
          <a:p>
            <a:pPr algn="l" marL="755651" indent="-377825" lvl="1">
              <a:lnSpc>
                <a:spcPts val="5250"/>
              </a:lnSpc>
              <a:buAutoNum type="arabicPeriod" startAt="1"/>
            </a:pP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I</a:t>
            </a: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terate unt</a:t>
            </a: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il</a:t>
            </a: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ali</a:t>
            </a: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gn</a:t>
            </a: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ment an</a:t>
            </a: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d</a:t>
            </a: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</a:t>
            </a: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</a:t>
            </a: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to</a:t>
            </a:r>
            <a:r>
              <a:rPr lang="en-US" sz="3500" strike="noStrike" u="none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</a:t>
            </a:r>
          </a:p>
          <a:p>
            <a:pPr algn="l" marL="0" indent="0" lvl="0">
              <a:lnSpc>
                <a:spcPts val="525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13966" y="9660648"/>
            <a:ext cx="928990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[5] J. Li, J. D.</a:t>
            </a: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 Valentine, and A. E. Rana, Nucl. Instrum. Methods Phys. Res. A, vol. 422, no. 1–3, pp. 438–443, 1999.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197329" y="1591597"/>
            <a:ext cx="9475632" cy="6862858"/>
            <a:chOff x="0" y="0"/>
            <a:chExt cx="2495640" cy="18075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95640" cy="1807502"/>
            </a:xfrm>
            <a:custGeom>
              <a:avLst/>
              <a:gdLst/>
              <a:ahLst/>
              <a:cxnLst/>
              <a:rect r="r" b="b" t="t" l="l"/>
              <a:pathLst>
                <a:path h="1807502" w="2495640">
                  <a:moveTo>
                    <a:pt x="41669" y="0"/>
                  </a:moveTo>
                  <a:lnTo>
                    <a:pt x="2453971" y="0"/>
                  </a:lnTo>
                  <a:cubicBezTo>
                    <a:pt x="2465022" y="0"/>
                    <a:pt x="2475621" y="4390"/>
                    <a:pt x="2483435" y="12205"/>
                  </a:cubicBezTo>
                  <a:cubicBezTo>
                    <a:pt x="2491250" y="20019"/>
                    <a:pt x="2495640" y="30618"/>
                    <a:pt x="2495640" y="41669"/>
                  </a:cubicBezTo>
                  <a:lnTo>
                    <a:pt x="2495640" y="1765833"/>
                  </a:lnTo>
                  <a:cubicBezTo>
                    <a:pt x="2495640" y="1776884"/>
                    <a:pt x="2491250" y="1787483"/>
                    <a:pt x="2483435" y="1795297"/>
                  </a:cubicBezTo>
                  <a:cubicBezTo>
                    <a:pt x="2475621" y="1803112"/>
                    <a:pt x="2465022" y="1807502"/>
                    <a:pt x="2453971" y="1807502"/>
                  </a:cubicBezTo>
                  <a:lnTo>
                    <a:pt x="41669" y="1807502"/>
                  </a:lnTo>
                  <a:cubicBezTo>
                    <a:pt x="30618" y="1807502"/>
                    <a:pt x="20019" y="1803112"/>
                    <a:pt x="12205" y="1795297"/>
                  </a:cubicBezTo>
                  <a:cubicBezTo>
                    <a:pt x="4390" y="1787483"/>
                    <a:pt x="0" y="1776884"/>
                    <a:pt x="0" y="1765833"/>
                  </a:cubicBezTo>
                  <a:lnTo>
                    <a:pt x="0" y="41669"/>
                  </a:lnTo>
                  <a:cubicBezTo>
                    <a:pt x="0" y="30618"/>
                    <a:pt x="4390" y="20019"/>
                    <a:pt x="12205" y="12205"/>
                  </a:cubicBezTo>
                  <a:cubicBezTo>
                    <a:pt x="20019" y="4390"/>
                    <a:pt x="30618" y="0"/>
                    <a:pt x="416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100000"/>
                  </a:srgbClr>
                </a:gs>
                <a:gs pos="100000">
                  <a:srgbClr val="6A0BA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495640" cy="1855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73140" y="7581934"/>
            <a:ext cx="1378834" cy="74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56"/>
              </a:lnSpc>
              <a:spcBef>
                <a:spcPct val="0"/>
              </a:spcBef>
            </a:pPr>
            <a:r>
              <a:rPr lang="en-US" b="true" sz="4326" spc="-23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20K+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964203" y="2262400"/>
            <a:ext cx="9323797" cy="5762201"/>
            <a:chOff x="0" y="0"/>
            <a:chExt cx="12431730" cy="768293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239730" y="95250"/>
              <a:ext cx="11478900" cy="488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487"/>
                </a:lnSpc>
              </a:pPr>
              <a:r>
                <a:rPr lang="en-US" sz="8784" b="true">
                  <a:solidFill>
                    <a:srgbClr val="FFFFFF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SIGNAL PROCESSING ALGORITHM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0" y="4979099"/>
              <a:ext cx="12431730" cy="2703836"/>
              <a:chOff x="0" y="0"/>
              <a:chExt cx="2325123" cy="50570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25123" cy="505702"/>
              </a:xfrm>
              <a:custGeom>
                <a:avLst/>
                <a:gdLst/>
                <a:ahLst/>
                <a:cxnLst/>
                <a:rect r="r" b="b" t="t" l="l"/>
                <a:pathLst>
                  <a:path h="505702" w="2325123">
                    <a:moveTo>
                      <a:pt x="42003" y="0"/>
                    </a:moveTo>
                    <a:lnTo>
                      <a:pt x="2283120" y="0"/>
                    </a:lnTo>
                    <a:cubicBezTo>
                      <a:pt x="2294260" y="0"/>
                      <a:pt x="2304944" y="4425"/>
                      <a:pt x="2312821" y="12302"/>
                    </a:cubicBezTo>
                    <a:cubicBezTo>
                      <a:pt x="2320698" y="20180"/>
                      <a:pt x="2325123" y="30863"/>
                      <a:pt x="2325123" y="42003"/>
                    </a:cubicBezTo>
                    <a:lnTo>
                      <a:pt x="2325123" y="463699"/>
                    </a:lnTo>
                    <a:cubicBezTo>
                      <a:pt x="2325123" y="486897"/>
                      <a:pt x="2306318" y="505702"/>
                      <a:pt x="2283120" y="505702"/>
                    </a:cubicBezTo>
                    <a:lnTo>
                      <a:pt x="42003" y="505702"/>
                    </a:lnTo>
                    <a:cubicBezTo>
                      <a:pt x="30863" y="505702"/>
                      <a:pt x="20180" y="501277"/>
                      <a:pt x="12302" y="493400"/>
                    </a:cubicBezTo>
                    <a:cubicBezTo>
                      <a:pt x="4425" y="485522"/>
                      <a:pt x="0" y="474839"/>
                      <a:pt x="0" y="463699"/>
                    </a:cubicBezTo>
                    <a:lnTo>
                      <a:pt x="0" y="42003"/>
                    </a:lnTo>
                    <a:cubicBezTo>
                      <a:pt x="0" y="30863"/>
                      <a:pt x="4425" y="20180"/>
                      <a:pt x="12302" y="12302"/>
                    </a:cubicBezTo>
                    <a:cubicBezTo>
                      <a:pt x="20180" y="4425"/>
                      <a:pt x="30863" y="0"/>
                      <a:pt x="4200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BF0D0D">
                      <a:alpha val="100000"/>
                    </a:srgbClr>
                  </a:gs>
                  <a:gs pos="100000">
                    <a:srgbClr val="6A0BAD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325123" cy="543802"/>
              </a:xfrm>
              <a:prstGeom prst="rect">
                <a:avLst/>
              </a:prstGeom>
            </p:spPr>
            <p:txBody>
              <a:bodyPr anchor="ctr" rtlCol="false" tIns="54091" lIns="54091" bIns="54091" rIns="54091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43961" y="5156544"/>
              <a:ext cx="12143809" cy="2363894"/>
              <a:chOff x="0" y="0"/>
              <a:chExt cx="4575198" cy="890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575198" cy="890600"/>
              </a:xfrm>
              <a:custGeom>
                <a:avLst/>
                <a:gdLst/>
                <a:ahLst/>
                <a:cxnLst/>
                <a:rect r="r" b="b" t="t" l="l"/>
                <a:pathLst>
                  <a:path h="890600" w="4575198">
                    <a:moveTo>
                      <a:pt x="42999" y="0"/>
                    </a:moveTo>
                    <a:lnTo>
                      <a:pt x="4532199" y="0"/>
                    </a:lnTo>
                    <a:cubicBezTo>
                      <a:pt x="4555947" y="0"/>
                      <a:pt x="4575198" y="19251"/>
                      <a:pt x="4575198" y="42999"/>
                    </a:cubicBezTo>
                    <a:lnTo>
                      <a:pt x="4575198" y="847601"/>
                    </a:lnTo>
                    <a:cubicBezTo>
                      <a:pt x="4575198" y="871349"/>
                      <a:pt x="4555947" y="890600"/>
                      <a:pt x="4532199" y="890600"/>
                    </a:cubicBezTo>
                    <a:lnTo>
                      <a:pt x="42999" y="890600"/>
                    </a:lnTo>
                    <a:cubicBezTo>
                      <a:pt x="19251" y="890600"/>
                      <a:pt x="0" y="871349"/>
                      <a:pt x="0" y="847601"/>
                    </a:cubicBezTo>
                    <a:lnTo>
                      <a:pt x="0" y="42999"/>
                    </a:lnTo>
                    <a:cubicBezTo>
                      <a:pt x="0" y="19251"/>
                      <a:pt x="19251" y="0"/>
                      <a:pt x="4299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575198" cy="938225"/>
              </a:xfrm>
              <a:prstGeom prst="rect">
                <a:avLst/>
              </a:prstGeom>
            </p:spPr>
            <p:txBody>
              <a:bodyPr anchor="ctr" rtlCol="false" tIns="26853" lIns="26853" bIns="26853" rIns="26853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240996" y="5633927"/>
              <a:ext cx="11928479" cy="1572202"/>
            </a:xfrm>
            <a:custGeom>
              <a:avLst/>
              <a:gdLst/>
              <a:ahLst/>
              <a:cxnLst/>
              <a:rect r="r" b="b" t="t" l="l"/>
              <a:pathLst>
                <a:path h="1572202" w="11928479">
                  <a:moveTo>
                    <a:pt x="0" y="0"/>
                  </a:moveTo>
                  <a:lnTo>
                    <a:pt x="11928479" y="0"/>
                  </a:lnTo>
                  <a:lnTo>
                    <a:pt x="11928479" y="1572202"/>
                  </a:lnTo>
                  <a:lnTo>
                    <a:pt x="0" y="1572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98" r="0" b="-159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46166" y="680809"/>
            <a:ext cx="7954536" cy="8830503"/>
            <a:chOff x="0" y="0"/>
            <a:chExt cx="2095022" cy="23257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95022" cy="2325729"/>
            </a:xfrm>
            <a:custGeom>
              <a:avLst/>
              <a:gdLst/>
              <a:ahLst/>
              <a:cxnLst/>
              <a:rect r="r" b="b" t="t" l="l"/>
              <a:pathLst>
                <a:path h="2325729" w="2095022">
                  <a:moveTo>
                    <a:pt x="49637" y="0"/>
                  </a:moveTo>
                  <a:lnTo>
                    <a:pt x="2045385" y="0"/>
                  </a:lnTo>
                  <a:cubicBezTo>
                    <a:pt x="2058550" y="0"/>
                    <a:pt x="2071175" y="5230"/>
                    <a:pt x="2080484" y="14538"/>
                  </a:cubicBezTo>
                  <a:cubicBezTo>
                    <a:pt x="2089792" y="23847"/>
                    <a:pt x="2095022" y="36472"/>
                    <a:pt x="2095022" y="49637"/>
                  </a:cubicBezTo>
                  <a:lnTo>
                    <a:pt x="2095022" y="2276092"/>
                  </a:lnTo>
                  <a:cubicBezTo>
                    <a:pt x="2095022" y="2303506"/>
                    <a:pt x="2072799" y="2325729"/>
                    <a:pt x="2045385" y="2325729"/>
                  </a:cubicBezTo>
                  <a:lnTo>
                    <a:pt x="49637" y="2325729"/>
                  </a:lnTo>
                  <a:cubicBezTo>
                    <a:pt x="36472" y="2325729"/>
                    <a:pt x="23847" y="2320500"/>
                    <a:pt x="14538" y="2311191"/>
                  </a:cubicBezTo>
                  <a:cubicBezTo>
                    <a:pt x="5230" y="2301882"/>
                    <a:pt x="0" y="2289257"/>
                    <a:pt x="0" y="2276092"/>
                  </a:cubicBezTo>
                  <a:lnTo>
                    <a:pt x="0" y="49637"/>
                  </a:lnTo>
                  <a:cubicBezTo>
                    <a:pt x="0" y="36472"/>
                    <a:pt x="5230" y="23847"/>
                    <a:pt x="14538" y="14538"/>
                  </a:cubicBezTo>
                  <a:cubicBezTo>
                    <a:pt x="23847" y="5230"/>
                    <a:pt x="36472" y="0"/>
                    <a:pt x="4963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095022" cy="2373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39443" y="903535"/>
            <a:ext cx="7367981" cy="8354765"/>
          </a:xfrm>
          <a:custGeom>
            <a:avLst/>
            <a:gdLst/>
            <a:ahLst/>
            <a:cxnLst/>
            <a:rect r="r" b="b" t="t" l="l"/>
            <a:pathLst>
              <a:path h="8354765" w="7367981">
                <a:moveTo>
                  <a:pt x="0" y="0"/>
                </a:moveTo>
                <a:lnTo>
                  <a:pt x="7367982" y="0"/>
                </a:lnTo>
                <a:lnTo>
                  <a:pt x="7367982" y="8354765"/>
                </a:lnTo>
                <a:lnTo>
                  <a:pt x="0" y="8354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197329" y="1591597"/>
            <a:ext cx="9475632" cy="6862858"/>
            <a:chOff x="0" y="0"/>
            <a:chExt cx="2495640" cy="18075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95640" cy="1807502"/>
            </a:xfrm>
            <a:custGeom>
              <a:avLst/>
              <a:gdLst/>
              <a:ahLst/>
              <a:cxnLst/>
              <a:rect r="r" b="b" t="t" l="l"/>
              <a:pathLst>
                <a:path h="1807502" w="2495640">
                  <a:moveTo>
                    <a:pt x="41669" y="0"/>
                  </a:moveTo>
                  <a:lnTo>
                    <a:pt x="2453971" y="0"/>
                  </a:lnTo>
                  <a:cubicBezTo>
                    <a:pt x="2465022" y="0"/>
                    <a:pt x="2475621" y="4390"/>
                    <a:pt x="2483435" y="12205"/>
                  </a:cubicBezTo>
                  <a:cubicBezTo>
                    <a:pt x="2491250" y="20019"/>
                    <a:pt x="2495640" y="30618"/>
                    <a:pt x="2495640" y="41669"/>
                  </a:cubicBezTo>
                  <a:lnTo>
                    <a:pt x="2495640" y="1765833"/>
                  </a:lnTo>
                  <a:cubicBezTo>
                    <a:pt x="2495640" y="1776884"/>
                    <a:pt x="2491250" y="1787483"/>
                    <a:pt x="2483435" y="1795297"/>
                  </a:cubicBezTo>
                  <a:cubicBezTo>
                    <a:pt x="2475621" y="1803112"/>
                    <a:pt x="2465022" y="1807502"/>
                    <a:pt x="2453971" y="1807502"/>
                  </a:cubicBezTo>
                  <a:lnTo>
                    <a:pt x="41669" y="1807502"/>
                  </a:lnTo>
                  <a:cubicBezTo>
                    <a:pt x="30618" y="1807502"/>
                    <a:pt x="20019" y="1803112"/>
                    <a:pt x="12205" y="1795297"/>
                  </a:cubicBezTo>
                  <a:cubicBezTo>
                    <a:pt x="4390" y="1787483"/>
                    <a:pt x="0" y="1776884"/>
                    <a:pt x="0" y="1765833"/>
                  </a:cubicBezTo>
                  <a:lnTo>
                    <a:pt x="0" y="41669"/>
                  </a:lnTo>
                  <a:cubicBezTo>
                    <a:pt x="0" y="30618"/>
                    <a:pt x="4390" y="20019"/>
                    <a:pt x="12205" y="12205"/>
                  </a:cubicBezTo>
                  <a:cubicBezTo>
                    <a:pt x="20019" y="4390"/>
                    <a:pt x="30618" y="0"/>
                    <a:pt x="416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100000"/>
                  </a:srgbClr>
                </a:gs>
                <a:gs pos="100000">
                  <a:srgbClr val="6A0BA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495640" cy="1855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73140" y="7581934"/>
            <a:ext cx="1378834" cy="74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56"/>
              </a:lnSpc>
              <a:spcBef>
                <a:spcPct val="0"/>
              </a:spcBef>
            </a:pPr>
            <a:r>
              <a:rPr lang="en-US" b="true" sz="4326" spc="-237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20K+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7549" y="1207388"/>
            <a:ext cx="8175922" cy="7872224"/>
            <a:chOff x="0" y="0"/>
            <a:chExt cx="2153329" cy="20733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3329" cy="2073343"/>
            </a:xfrm>
            <a:custGeom>
              <a:avLst/>
              <a:gdLst/>
              <a:ahLst/>
              <a:cxnLst/>
              <a:rect r="r" b="b" t="t" l="l"/>
              <a:pathLst>
                <a:path h="2073343" w="2153329">
                  <a:moveTo>
                    <a:pt x="48293" y="0"/>
                  </a:moveTo>
                  <a:lnTo>
                    <a:pt x="2105036" y="0"/>
                  </a:lnTo>
                  <a:cubicBezTo>
                    <a:pt x="2131708" y="0"/>
                    <a:pt x="2153329" y="21621"/>
                    <a:pt x="2153329" y="48293"/>
                  </a:cubicBezTo>
                  <a:lnTo>
                    <a:pt x="2153329" y="2025050"/>
                  </a:lnTo>
                  <a:cubicBezTo>
                    <a:pt x="2153329" y="2051721"/>
                    <a:pt x="2131708" y="2073343"/>
                    <a:pt x="2105036" y="2073343"/>
                  </a:cubicBezTo>
                  <a:lnTo>
                    <a:pt x="48293" y="2073343"/>
                  </a:lnTo>
                  <a:cubicBezTo>
                    <a:pt x="21621" y="2073343"/>
                    <a:pt x="0" y="2051721"/>
                    <a:pt x="0" y="2025050"/>
                  </a:cubicBezTo>
                  <a:lnTo>
                    <a:pt x="0" y="48293"/>
                  </a:lnTo>
                  <a:cubicBezTo>
                    <a:pt x="0" y="21621"/>
                    <a:pt x="21621" y="0"/>
                    <a:pt x="48293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53329" cy="2120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39065" y="1986379"/>
            <a:ext cx="7993841" cy="6253440"/>
          </a:xfrm>
          <a:custGeom>
            <a:avLst/>
            <a:gdLst/>
            <a:ahLst/>
            <a:cxnLst/>
            <a:rect r="r" b="b" t="t" l="l"/>
            <a:pathLst>
              <a:path h="6253440" w="7993841">
                <a:moveTo>
                  <a:pt x="0" y="0"/>
                </a:moveTo>
                <a:lnTo>
                  <a:pt x="7993841" y="0"/>
                </a:lnTo>
                <a:lnTo>
                  <a:pt x="7993841" y="6253440"/>
                </a:lnTo>
                <a:lnTo>
                  <a:pt x="0" y="6253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33759" y="2229192"/>
            <a:ext cx="8419416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7499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3-POINT SAMPLING WORKFLOW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44000" y="4324692"/>
            <a:ext cx="8779447" cy="3298154"/>
            <a:chOff x="0" y="0"/>
            <a:chExt cx="11705930" cy="43975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1705930" cy="4397538"/>
              <a:chOff x="0" y="0"/>
              <a:chExt cx="2189376" cy="82247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89376" cy="822478"/>
              </a:xfrm>
              <a:custGeom>
                <a:avLst/>
                <a:gdLst/>
                <a:ahLst/>
                <a:cxnLst/>
                <a:rect r="r" b="b" t="t" l="l"/>
                <a:pathLst>
                  <a:path h="822478" w="2189376">
                    <a:moveTo>
                      <a:pt x="44973" y="0"/>
                    </a:moveTo>
                    <a:lnTo>
                      <a:pt x="2144403" y="0"/>
                    </a:lnTo>
                    <a:cubicBezTo>
                      <a:pt x="2169241" y="0"/>
                      <a:pt x="2189376" y="20135"/>
                      <a:pt x="2189376" y="44973"/>
                    </a:cubicBezTo>
                    <a:lnTo>
                      <a:pt x="2189376" y="777505"/>
                    </a:lnTo>
                    <a:cubicBezTo>
                      <a:pt x="2189376" y="802342"/>
                      <a:pt x="2169241" y="822478"/>
                      <a:pt x="2144403" y="822478"/>
                    </a:cubicBezTo>
                    <a:lnTo>
                      <a:pt x="44973" y="822478"/>
                    </a:lnTo>
                    <a:cubicBezTo>
                      <a:pt x="20135" y="822478"/>
                      <a:pt x="0" y="802342"/>
                      <a:pt x="0" y="777505"/>
                    </a:cubicBezTo>
                    <a:lnTo>
                      <a:pt x="0" y="44973"/>
                    </a:lnTo>
                    <a:cubicBezTo>
                      <a:pt x="0" y="20135"/>
                      <a:pt x="20135" y="0"/>
                      <a:pt x="4497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BF0D0D">
                      <a:alpha val="100000"/>
                    </a:srgbClr>
                  </a:gs>
                  <a:gs pos="100000">
                    <a:srgbClr val="6A0BAD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189376" cy="860578"/>
              </a:xfrm>
              <a:prstGeom prst="rect">
                <a:avLst/>
              </a:prstGeom>
            </p:spPr>
            <p:txBody>
              <a:bodyPr anchor="ctr" rtlCol="false" tIns="53652" lIns="53652" bIns="53652" rIns="53652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39367" y="302889"/>
              <a:ext cx="11397086" cy="3756019"/>
              <a:chOff x="0" y="0"/>
              <a:chExt cx="4293869" cy="141508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293869" cy="1415086"/>
              </a:xfrm>
              <a:custGeom>
                <a:avLst/>
                <a:gdLst/>
                <a:ahLst/>
                <a:cxnLst/>
                <a:rect r="r" b="b" t="t" l="l"/>
                <a:pathLst>
                  <a:path h="1415086" w="4293869">
                    <a:moveTo>
                      <a:pt x="46192" y="0"/>
                    </a:moveTo>
                    <a:lnTo>
                      <a:pt x="4247678" y="0"/>
                    </a:lnTo>
                    <a:cubicBezTo>
                      <a:pt x="4273188" y="0"/>
                      <a:pt x="4293869" y="20681"/>
                      <a:pt x="4293869" y="46192"/>
                    </a:cubicBezTo>
                    <a:lnTo>
                      <a:pt x="4293869" y="1368894"/>
                    </a:lnTo>
                    <a:cubicBezTo>
                      <a:pt x="4293869" y="1394405"/>
                      <a:pt x="4273188" y="1415086"/>
                      <a:pt x="4247678" y="1415086"/>
                    </a:cubicBezTo>
                    <a:lnTo>
                      <a:pt x="46192" y="1415086"/>
                    </a:lnTo>
                    <a:cubicBezTo>
                      <a:pt x="20681" y="1415086"/>
                      <a:pt x="0" y="1394405"/>
                      <a:pt x="0" y="1368894"/>
                    </a:cubicBezTo>
                    <a:lnTo>
                      <a:pt x="0" y="46192"/>
                    </a:lnTo>
                    <a:cubicBezTo>
                      <a:pt x="0" y="20681"/>
                      <a:pt x="20681" y="0"/>
                      <a:pt x="4619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4293869" cy="1462711"/>
              </a:xfrm>
              <a:prstGeom prst="rect">
                <a:avLst/>
              </a:prstGeom>
            </p:spPr>
            <p:txBody>
              <a:bodyPr anchor="ctr" rtlCol="false" tIns="26634" lIns="26634" bIns="26634" rIns="26634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</p:grpSp>
      <p:sp>
        <p:nvSpPr>
          <p:cNvPr name="TextBox 19" id="19"/>
          <p:cNvSpPr txBox="true"/>
          <p:nvPr/>
        </p:nvSpPr>
        <p:spPr>
          <a:xfrm rot="0">
            <a:off x="9314272" y="4829209"/>
            <a:ext cx="8482067" cy="284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AutoNum type="arabicPeriod" startAt="1"/>
            </a:pPr>
            <a:r>
              <a:rPr lang="en-US" sz="3000" strike="noStrike" u="none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Readout – Boot and sweep</a:t>
            </a:r>
          </a:p>
          <a:p>
            <a:pPr algn="l" marL="647700" indent="-323850" lvl="1">
              <a:lnSpc>
                <a:spcPts val="4500"/>
              </a:lnSpc>
              <a:buAutoNum type="arabicPeriod" startAt="1"/>
            </a:pPr>
            <a:r>
              <a:rPr lang="en-US" sz="3000" strike="noStrike" u="none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User config </a:t>
            </a:r>
            <a:r>
              <a:rPr lang="en-US" sz="3000" strike="noStrike" u="none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movement and sweep</a:t>
            </a:r>
          </a:p>
          <a:p>
            <a:pPr algn="l" marL="647700" indent="-323850" lvl="1">
              <a:lnSpc>
                <a:spcPts val="4500"/>
              </a:lnSpc>
              <a:buAutoNum type="arabicPeriod" startAt="1"/>
            </a:pPr>
            <a:r>
              <a:rPr lang="en-US" sz="3000" strike="noStrike" u="none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Smart movement and sweep</a:t>
            </a:r>
          </a:p>
          <a:p>
            <a:pPr algn="l" marL="647700" indent="-323850" lvl="1">
              <a:lnSpc>
                <a:spcPts val="4500"/>
              </a:lnSpc>
              <a:buAutoNum type="arabicPeriod" startAt="1"/>
            </a:pPr>
            <a:r>
              <a:rPr lang="en-US" sz="3000" strike="noStrike" u="none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I</a:t>
            </a:r>
            <a:r>
              <a:rPr lang="en-US" sz="3000" strike="noStrike" u="none">
                <a:solidFill>
                  <a:srgbClr val="000000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terate until alignment and stop</a:t>
            </a:r>
          </a:p>
          <a:p>
            <a:pPr algn="l" marL="0" indent="0" lvl="0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30604" y="261911"/>
            <a:ext cx="11074604" cy="1149413"/>
            <a:chOff x="0" y="0"/>
            <a:chExt cx="2916768" cy="3027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6768" cy="302726"/>
            </a:xfrm>
            <a:custGeom>
              <a:avLst/>
              <a:gdLst/>
              <a:ahLst/>
              <a:cxnLst/>
              <a:rect r="r" b="b" t="t" l="l"/>
              <a:pathLst>
                <a:path h="302726" w="2916768">
                  <a:moveTo>
                    <a:pt x="35653" y="0"/>
                  </a:moveTo>
                  <a:lnTo>
                    <a:pt x="2881116" y="0"/>
                  </a:lnTo>
                  <a:cubicBezTo>
                    <a:pt x="2890571" y="0"/>
                    <a:pt x="2899639" y="3756"/>
                    <a:pt x="2906326" y="10442"/>
                  </a:cubicBezTo>
                  <a:cubicBezTo>
                    <a:pt x="2913012" y="17129"/>
                    <a:pt x="2916768" y="26197"/>
                    <a:pt x="2916768" y="35653"/>
                  </a:cubicBezTo>
                  <a:lnTo>
                    <a:pt x="2916768" y="267074"/>
                  </a:lnTo>
                  <a:cubicBezTo>
                    <a:pt x="2916768" y="276529"/>
                    <a:pt x="2913012" y="285598"/>
                    <a:pt x="2906326" y="292284"/>
                  </a:cubicBezTo>
                  <a:cubicBezTo>
                    <a:pt x="2899639" y="298970"/>
                    <a:pt x="2890571" y="302726"/>
                    <a:pt x="2881116" y="302726"/>
                  </a:cubicBezTo>
                  <a:lnTo>
                    <a:pt x="35653" y="302726"/>
                  </a:lnTo>
                  <a:cubicBezTo>
                    <a:pt x="26197" y="302726"/>
                    <a:pt x="17129" y="298970"/>
                    <a:pt x="10442" y="292284"/>
                  </a:cubicBezTo>
                  <a:cubicBezTo>
                    <a:pt x="3756" y="285598"/>
                    <a:pt x="0" y="276529"/>
                    <a:pt x="0" y="267074"/>
                  </a:cubicBezTo>
                  <a:lnTo>
                    <a:pt x="0" y="35653"/>
                  </a:lnTo>
                  <a:cubicBezTo>
                    <a:pt x="0" y="26197"/>
                    <a:pt x="3756" y="17129"/>
                    <a:pt x="10442" y="10442"/>
                  </a:cubicBezTo>
                  <a:cubicBezTo>
                    <a:pt x="17129" y="3756"/>
                    <a:pt x="26197" y="0"/>
                    <a:pt x="3565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85000"/>
                  </a:srgbClr>
                </a:gs>
                <a:gs pos="100000">
                  <a:srgbClr val="6A0BAD">
                    <a:alpha val="85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916768" cy="350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7622" y="1881795"/>
            <a:ext cx="6070426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44552" y="459967"/>
            <a:ext cx="9471118" cy="95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6800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SIMULATION RESULTS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44552" y="1691924"/>
            <a:ext cx="17754488" cy="8222459"/>
            <a:chOff x="0" y="0"/>
            <a:chExt cx="23672651" cy="1096327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3231020" y="0"/>
              <a:ext cx="10441631" cy="10963278"/>
              <a:chOff x="0" y="0"/>
              <a:chExt cx="2062531" cy="21660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62531" cy="2166021"/>
              </a:xfrm>
              <a:custGeom>
                <a:avLst/>
                <a:gdLst/>
                <a:ahLst/>
                <a:cxnLst/>
                <a:rect r="r" b="b" t="t" l="l"/>
                <a:pathLst>
                  <a:path h="2166021" w="2062531">
                    <a:moveTo>
                      <a:pt x="2062531" y="58327"/>
                    </a:moveTo>
                    <a:lnTo>
                      <a:pt x="2062531" y="2107693"/>
                    </a:lnTo>
                    <a:cubicBezTo>
                      <a:pt x="2062531" y="2139907"/>
                      <a:pt x="2036417" y="2166021"/>
                      <a:pt x="2004204" y="2166021"/>
                    </a:cubicBezTo>
                    <a:lnTo>
                      <a:pt x="58327" y="2166021"/>
                    </a:lnTo>
                    <a:cubicBezTo>
                      <a:pt x="26114" y="2166021"/>
                      <a:pt x="0" y="2139907"/>
                      <a:pt x="0" y="2107693"/>
                    </a:cubicBezTo>
                    <a:lnTo>
                      <a:pt x="0" y="58327"/>
                    </a:lnTo>
                    <a:cubicBezTo>
                      <a:pt x="0" y="26114"/>
                      <a:pt x="26114" y="0"/>
                      <a:pt x="58327" y="0"/>
                    </a:cubicBezTo>
                    <a:lnTo>
                      <a:pt x="2004204" y="0"/>
                    </a:lnTo>
                    <a:cubicBezTo>
                      <a:pt x="2019673" y="0"/>
                      <a:pt x="2034509" y="6145"/>
                      <a:pt x="2045447" y="17084"/>
                    </a:cubicBezTo>
                    <a:cubicBezTo>
                      <a:pt x="2056386" y="28022"/>
                      <a:pt x="2062531" y="42858"/>
                      <a:pt x="2062531" y="583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062531" cy="22136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5382426" y="1143423"/>
              <a:ext cx="5887914" cy="3193588"/>
            </a:xfrm>
            <a:custGeom>
              <a:avLst/>
              <a:gdLst/>
              <a:ahLst/>
              <a:cxnLst/>
              <a:rect r="r" b="b" t="t" l="l"/>
              <a:pathLst>
                <a:path h="3193588" w="5887914">
                  <a:moveTo>
                    <a:pt x="0" y="0"/>
                  </a:moveTo>
                  <a:lnTo>
                    <a:pt x="5887914" y="0"/>
                  </a:lnTo>
                  <a:lnTo>
                    <a:pt x="5887914" y="3193588"/>
                  </a:lnTo>
                  <a:lnTo>
                    <a:pt x="0" y="319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77208" t="-31398" r="-15384" b="-394388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0" y="0"/>
              <a:ext cx="12944271" cy="10963278"/>
              <a:chOff x="0" y="0"/>
              <a:chExt cx="2655688" cy="224972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655688" cy="2249727"/>
              </a:xfrm>
              <a:custGeom>
                <a:avLst/>
                <a:gdLst/>
                <a:ahLst/>
                <a:cxnLst/>
                <a:rect r="r" b="b" t="t" l="l"/>
                <a:pathLst>
                  <a:path h="2249727" w="2655688">
                    <a:moveTo>
                      <a:pt x="2655688" y="47050"/>
                    </a:moveTo>
                    <a:lnTo>
                      <a:pt x="2655688" y="2202677"/>
                    </a:lnTo>
                    <a:cubicBezTo>
                      <a:pt x="2655688" y="2228662"/>
                      <a:pt x="2634623" y="2249727"/>
                      <a:pt x="2608638" y="2249727"/>
                    </a:cubicBezTo>
                    <a:lnTo>
                      <a:pt x="47050" y="2249727"/>
                    </a:lnTo>
                    <a:cubicBezTo>
                      <a:pt x="34572" y="2249727"/>
                      <a:pt x="22604" y="2244770"/>
                      <a:pt x="13781" y="2235946"/>
                    </a:cubicBezTo>
                    <a:cubicBezTo>
                      <a:pt x="4957" y="2227123"/>
                      <a:pt x="0" y="2215155"/>
                      <a:pt x="0" y="2202677"/>
                    </a:cubicBezTo>
                    <a:lnTo>
                      <a:pt x="0" y="47050"/>
                    </a:lnTo>
                    <a:cubicBezTo>
                      <a:pt x="0" y="34572"/>
                      <a:pt x="4957" y="22604"/>
                      <a:pt x="13781" y="13781"/>
                    </a:cubicBezTo>
                    <a:cubicBezTo>
                      <a:pt x="22604" y="4957"/>
                      <a:pt x="34572" y="0"/>
                      <a:pt x="47050" y="0"/>
                    </a:cubicBezTo>
                    <a:lnTo>
                      <a:pt x="2608638" y="0"/>
                    </a:lnTo>
                    <a:cubicBezTo>
                      <a:pt x="2621116" y="0"/>
                      <a:pt x="2633084" y="4957"/>
                      <a:pt x="2641907" y="13781"/>
                    </a:cubicBezTo>
                    <a:cubicBezTo>
                      <a:pt x="2650731" y="22604"/>
                      <a:pt x="2655688" y="34572"/>
                      <a:pt x="2655688" y="4705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2655688" cy="22973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190118" y="3051909"/>
              <a:ext cx="12564035" cy="6046442"/>
            </a:xfrm>
            <a:custGeom>
              <a:avLst/>
              <a:gdLst/>
              <a:ahLst/>
              <a:cxnLst/>
              <a:rect r="r" b="b" t="t" l="l"/>
              <a:pathLst>
                <a:path h="6046442" w="12564035">
                  <a:moveTo>
                    <a:pt x="0" y="0"/>
                  </a:moveTo>
                  <a:lnTo>
                    <a:pt x="12564035" y="0"/>
                  </a:lnTo>
                  <a:lnTo>
                    <a:pt x="12564035" y="6046442"/>
                  </a:lnTo>
                  <a:lnTo>
                    <a:pt x="0" y="6046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485061" y="736973"/>
              <a:ext cx="10380869" cy="1829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FFFFF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Active alignment Tracking for Gaussian Peak. (WIth Errors)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4744105" y="4469471"/>
              <a:ext cx="7164555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Average Convergence Steps to 1% Transmission loss 5.7 ± 1.1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4494484" y="253365"/>
              <a:ext cx="7104856" cy="890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FFFFF"/>
                  </a:solidFill>
                  <a:latin typeface="TT Supermolot Neue Bold"/>
                  <a:ea typeface="TT Supermolot Neue Bold"/>
                  <a:cs typeface="TT Supermolot Neue Bold"/>
                  <a:sym typeface="TT Supermolot Neue Bold"/>
                </a:rPr>
                <a:t>Monte Carlo Simulation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13581295" y="6075130"/>
              <a:ext cx="9741081" cy="4484513"/>
            </a:xfrm>
            <a:custGeom>
              <a:avLst/>
              <a:gdLst/>
              <a:ahLst/>
              <a:cxnLst/>
              <a:rect r="r" b="b" t="t" l="l"/>
              <a:pathLst>
                <a:path h="4484513" w="9741081">
                  <a:moveTo>
                    <a:pt x="0" y="0"/>
                  </a:moveTo>
                  <a:lnTo>
                    <a:pt x="9741081" y="0"/>
                  </a:lnTo>
                  <a:lnTo>
                    <a:pt x="9741081" y="4484514"/>
                  </a:lnTo>
                  <a:lnTo>
                    <a:pt x="0" y="44845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496" t="-62904" r="-129850" b="-9357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30604" y="261911"/>
            <a:ext cx="7311027" cy="1149413"/>
            <a:chOff x="0" y="0"/>
            <a:chExt cx="1925538" cy="3027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25538" cy="302726"/>
            </a:xfrm>
            <a:custGeom>
              <a:avLst/>
              <a:gdLst/>
              <a:ahLst/>
              <a:cxnLst/>
              <a:rect r="r" b="b" t="t" l="l"/>
              <a:pathLst>
                <a:path h="302726" w="1925538">
                  <a:moveTo>
                    <a:pt x="54006" y="0"/>
                  </a:moveTo>
                  <a:lnTo>
                    <a:pt x="1871532" y="0"/>
                  </a:lnTo>
                  <a:cubicBezTo>
                    <a:pt x="1901359" y="0"/>
                    <a:pt x="1925538" y="24179"/>
                    <a:pt x="1925538" y="54006"/>
                  </a:cubicBezTo>
                  <a:lnTo>
                    <a:pt x="1925538" y="248720"/>
                  </a:lnTo>
                  <a:cubicBezTo>
                    <a:pt x="1925538" y="278547"/>
                    <a:pt x="1901359" y="302726"/>
                    <a:pt x="1871532" y="302726"/>
                  </a:cubicBezTo>
                  <a:lnTo>
                    <a:pt x="54006" y="302726"/>
                  </a:lnTo>
                  <a:cubicBezTo>
                    <a:pt x="24179" y="302726"/>
                    <a:pt x="0" y="278547"/>
                    <a:pt x="0" y="248720"/>
                  </a:cubicBezTo>
                  <a:lnTo>
                    <a:pt x="0" y="54006"/>
                  </a:lnTo>
                  <a:cubicBezTo>
                    <a:pt x="0" y="24179"/>
                    <a:pt x="24179" y="0"/>
                    <a:pt x="540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F0D0D">
                    <a:alpha val="85000"/>
                  </a:srgbClr>
                </a:gs>
                <a:gs pos="100000">
                  <a:srgbClr val="6A0BAD">
                    <a:alpha val="85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925538" cy="350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7622" y="1881795"/>
            <a:ext cx="6070426" cy="5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375435" y="1583530"/>
            <a:ext cx="2595304" cy="4310055"/>
            <a:chOff x="0" y="0"/>
            <a:chExt cx="3460406" cy="574674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4293225"/>
              <a:ext cx="3460406" cy="1453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TIM (TEAM LEAD)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HKUST CHEM (UG)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UW HACKERFAB UWASIC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0" y="0"/>
              <a:ext cx="3400407" cy="4081165"/>
              <a:chOff x="0" y="0"/>
              <a:chExt cx="926263" cy="11117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26263" cy="1111700"/>
              </a:xfrm>
              <a:custGeom>
                <a:avLst/>
                <a:gdLst/>
                <a:ahLst/>
                <a:cxnLst/>
                <a:rect r="r" b="b" t="t" l="l"/>
                <a:pathLst>
                  <a:path h="1111700" w="926263">
                    <a:moveTo>
                      <a:pt x="151784" y="0"/>
                    </a:moveTo>
                    <a:lnTo>
                      <a:pt x="774479" y="0"/>
                    </a:lnTo>
                    <a:cubicBezTo>
                      <a:pt x="858307" y="0"/>
                      <a:pt x="926263" y="67956"/>
                      <a:pt x="926263" y="151784"/>
                    </a:cubicBezTo>
                    <a:lnTo>
                      <a:pt x="926263" y="959915"/>
                    </a:lnTo>
                    <a:cubicBezTo>
                      <a:pt x="926263" y="1043743"/>
                      <a:pt x="858307" y="1111700"/>
                      <a:pt x="774479" y="1111700"/>
                    </a:cubicBezTo>
                    <a:lnTo>
                      <a:pt x="151784" y="1111700"/>
                    </a:lnTo>
                    <a:cubicBezTo>
                      <a:pt x="67956" y="1111700"/>
                      <a:pt x="0" y="1043743"/>
                      <a:pt x="0" y="959915"/>
                    </a:cubicBezTo>
                    <a:lnTo>
                      <a:pt x="0" y="151784"/>
                    </a:lnTo>
                    <a:cubicBezTo>
                      <a:pt x="0" y="67956"/>
                      <a:pt x="67956" y="0"/>
                      <a:pt x="151784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0009" t="0" r="-10009" b="0"/>
                </a:stretch>
              </a:blip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5380423" y="1583530"/>
            <a:ext cx="2550305" cy="4310055"/>
            <a:chOff x="0" y="0"/>
            <a:chExt cx="3400407" cy="574674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370051" y="4293225"/>
              <a:ext cx="2660306" cy="1453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ABRAAR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TMU CE (UG)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LCRAIN</a:t>
              </a:r>
            </a:p>
            <a:p>
              <a:pPr algn="ctr">
                <a:lnSpc>
                  <a:spcPts val="2160"/>
                </a:lnSpc>
              </a:pP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0" y="0"/>
              <a:ext cx="3400407" cy="4081165"/>
              <a:chOff x="0" y="0"/>
              <a:chExt cx="926263" cy="11117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26263" cy="1111700"/>
              </a:xfrm>
              <a:custGeom>
                <a:avLst/>
                <a:gdLst/>
                <a:ahLst/>
                <a:cxnLst/>
                <a:rect r="r" b="b" t="t" l="l"/>
                <a:pathLst>
                  <a:path h="1111700" w="926263">
                    <a:moveTo>
                      <a:pt x="151784" y="0"/>
                    </a:moveTo>
                    <a:lnTo>
                      <a:pt x="774479" y="0"/>
                    </a:lnTo>
                    <a:cubicBezTo>
                      <a:pt x="858307" y="0"/>
                      <a:pt x="926263" y="67956"/>
                      <a:pt x="926263" y="151784"/>
                    </a:cubicBezTo>
                    <a:lnTo>
                      <a:pt x="926263" y="959915"/>
                    </a:lnTo>
                    <a:cubicBezTo>
                      <a:pt x="926263" y="1043743"/>
                      <a:pt x="858307" y="1111700"/>
                      <a:pt x="774479" y="1111700"/>
                    </a:cubicBezTo>
                    <a:lnTo>
                      <a:pt x="151784" y="1111700"/>
                    </a:lnTo>
                    <a:cubicBezTo>
                      <a:pt x="67956" y="1111700"/>
                      <a:pt x="0" y="1043743"/>
                      <a:pt x="0" y="959915"/>
                    </a:cubicBezTo>
                    <a:lnTo>
                      <a:pt x="0" y="151784"/>
                    </a:lnTo>
                    <a:cubicBezTo>
                      <a:pt x="0" y="67956"/>
                      <a:pt x="67956" y="0"/>
                      <a:pt x="151784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2446" t="0" r="-2446" b="0"/>
                </a:stretch>
              </a:blip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</p:grpSp>
      </p:grpSp>
      <p:grpSp>
        <p:nvGrpSpPr>
          <p:cNvPr name="Group 15" id="15"/>
          <p:cNvGrpSpPr/>
          <p:nvPr/>
        </p:nvGrpSpPr>
        <p:grpSpPr>
          <a:xfrm rot="0">
            <a:off x="7547019" y="5816629"/>
            <a:ext cx="2550305" cy="4609375"/>
            <a:chOff x="0" y="0"/>
            <a:chExt cx="3400407" cy="614583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426412" y="4336701"/>
              <a:ext cx="2660306" cy="1809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VICTORIA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UW NE (UG)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IQC URA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UWASIC</a:t>
              </a:r>
            </a:p>
            <a:p>
              <a:pPr algn="ctr">
                <a:lnSpc>
                  <a:spcPts val="2160"/>
                </a:lnSpc>
              </a:pP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0"/>
              <a:ext cx="3400407" cy="4081165"/>
              <a:chOff x="0" y="0"/>
              <a:chExt cx="926263" cy="11117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26263" cy="1111700"/>
              </a:xfrm>
              <a:custGeom>
                <a:avLst/>
                <a:gdLst/>
                <a:ahLst/>
                <a:cxnLst/>
                <a:rect r="r" b="b" t="t" l="l"/>
                <a:pathLst>
                  <a:path h="1111700" w="926263">
                    <a:moveTo>
                      <a:pt x="151784" y="0"/>
                    </a:moveTo>
                    <a:lnTo>
                      <a:pt x="774479" y="0"/>
                    </a:lnTo>
                    <a:cubicBezTo>
                      <a:pt x="858307" y="0"/>
                      <a:pt x="926263" y="67956"/>
                      <a:pt x="926263" y="151784"/>
                    </a:cubicBezTo>
                    <a:lnTo>
                      <a:pt x="926263" y="959915"/>
                    </a:lnTo>
                    <a:cubicBezTo>
                      <a:pt x="926263" y="1043743"/>
                      <a:pt x="858307" y="1111700"/>
                      <a:pt x="774479" y="1111700"/>
                    </a:cubicBezTo>
                    <a:lnTo>
                      <a:pt x="151784" y="1111700"/>
                    </a:lnTo>
                    <a:cubicBezTo>
                      <a:pt x="67956" y="1111700"/>
                      <a:pt x="0" y="1043743"/>
                      <a:pt x="0" y="959915"/>
                    </a:cubicBezTo>
                    <a:lnTo>
                      <a:pt x="0" y="151784"/>
                    </a:lnTo>
                    <a:cubicBezTo>
                      <a:pt x="0" y="67956"/>
                      <a:pt x="67956" y="0"/>
                      <a:pt x="151784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-3646" r="0" b="-3646"/>
                </a:stretch>
              </a:blip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</p:grpSp>
      </p:grpSp>
      <p:grpSp>
        <p:nvGrpSpPr>
          <p:cNvPr name="Group 19" id="19"/>
          <p:cNvGrpSpPr/>
          <p:nvPr/>
        </p:nvGrpSpPr>
        <p:grpSpPr>
          <a:xfrm rot="0">
            <a:off x="11983274" y="5893586"/>
            <a:ext cx="2550305" cy="4334885"/>
            <a:chOff x="0" y="0"/>
            <a:chExt cx="3400407" cy="5779847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367115" y="4326332"/>
              <a:ext cx="2660306" cy="1453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ASHMITA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UCD ECE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(PG)</a:t>
              </a:r>
            </a:p>
            <a:p>
              <a:pPr algn="ctr">
                <a:lnSpc>
                  <a:spcPts val="2160"/>
                </a:lnSpc>
              </a:pP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0" y="0"/>
              <a:ext cx="3400407" cy="4081165"/>
              <a:chOff x="0" y="0"/>
              <a:chExt cx="926263" cy="11117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26263" cy="1111700"/>
              </a:xfrm>
              <a:custGeom>
                <a:avLst/>
                <a:gdLst/>
                <a:ahLst/>
                <a:cxnLst/>
                <a:rect r="r" b="b" t="t" l="l"/>
                <a:pathLst>
                  <a:path h="1111700" w="926263">
                    <a:moveTo>
                      <a:pt x="151784" y="0"/>
                    </a:moveTo>
                    <a:lnTo>
                      <a:pt x="774479" y="0"/>
                    </a:lnTo>
                    <a:cubicBezTo>
                      <a:pt x="858307" y="0"/>
                      <a:pt x="926263" y="67956"/>
                      <a:pt x="926263" y="151784"/>
                    </a:cubicBezTo>
                    <a:lnTo>
                      <a:pt x="926263" y="959915"/>
                    </a:lnTo>
                    <a:cubicBezTo>
                      <a:pt x="926263" y="1043743"/>
                      <a:pt x="858307" y="1111700"/>
                      <a:pt x="774479" y="1111700"/>
                    </a:cubicBezTo>
                    <a:lnTo>
                      <a:pt x="151784" y="1111700"/>
                    </a:lnTo>
                    <a:cubicBezTo>
                      <a:pt x="67956" y="1111700"/>
                      <a:pt x="0" y="1043743"/>
                      <a:pt x="0" y="959915"/>
                    </a:cubicBezTo>
                    <a:lnTo>
                      <a:pt x="0" y="151784"/>
                    </a:lnTo>
                    <a:cubicBezTo>
                      <a:pt x="0" y="67956"/>
                      <a:pt x="67956" y="0"/>
                      <a:pt x="151784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3367" r="0" b="-3367"/>
                </a:stretch>
              </a:blip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</p:grpSp>
      </p:grpSp>
      <p:grpSp>
        <p:nvGrpSpPr>
          <p:cNvPr name="Group 23" id="23"/>
          <p:cNvGrpSpPr/>
          <p:nvPr/>
        </p:nvGrpSpPr>
        <p:grpSpPr>
          <a:xfrm rot="0">
            <a:off x="3109728" y="5814870"/>
            <a:ext cx="2550305" cy="4334885"/>
            <a:chOff x="0" y="0"/>
            <a:chExt cx="3400407" cy="577984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370051" y="4326332"/>
              <a:ext cx="2660306" cy="1453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REZA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UCD ECE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(PG)</a:t>
              </a:r>
            </a:p>
            <a:p>
              <a:pPr algn="ctr">
                <a:lnSpc>
                  <a:spcPts val="2160"/>
                </a:lnSpc>
              </a:pP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0" y="0"/>
              <a:ext cx="3400407" cy="4081165"/>
              <a:chOff x="0" y="0"/>
              <a:chExt cx="926263" cy="11117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26263" cy="1111700"/>
              </a:xfrm>
              <a:custGeom>
                <a:avLst/>
                <a:gdLst/>
                <a:ahLst/>
                <a:cxnLst/>
                <a:rect r="r" b="b" t="t" l="l"/>
                <a:pathLst>
                  <a:path h="1111700" w="926263">
                    <a:moveTo>
                      <a:pt x="151784" y="0"/>
                    </a:moveTo>
                    <a:lnTo>
                      <a:pt x="774479" y="0"/>
                    </a:lnTo>
                    <a:cubicBezTo>
                      <a:pt x="858307" y="0"/>
                      <a:pt x="926263" y="67956"/>
                      <a:pt x="926263" y="151784"/>
                    </a:cubicBezTo>
                    <a:lnTo>
                      <a:pt x="926263" y="959915"/>
                    </a:lnTo>
                    <a:cubicBezTo>
                      <a:pt x="926263" y="1043743"/>
                      <a:pt x="858307" y="1111700"/>
                      <a:pt x="774479" y="1111700"/>
                    </a:cubicBezTo>
                    <a:lnTo>
                      <a:pt x="151784" y="1111700"/>
                    </a:lnTo>
                    <a:cubicBezTo>
                      <a:pt x="67956" y="1111700"/>
                      <a:pt x="0" y="1043743"/>
                      <a:pt x="0" y="959915"/>
                    </a:cubicBezTo>
                    <a:lnTo>
                      <a:pt x="0" y="151784"/>
                    </a:lnTo>
                    <a:cubicBezTo>
                      <a:pt x="0" y="67956"/>
                      <a:pt x="67956" y="0"/>
                      <a:pt x="151784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-5546" r="0" b="-5546"/>
                </a:stretch>
              </a:blip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</p:grpSp>
      </p:grpSp>
      <p:grpSp>
        <p:nvGrpSpPr>
          <p:cNvPr name="Group 27" id="27"/>
          <p:cNvGrpSpPr/>
          <p:nvPr/>
        </p:nvGrpSpPr>
        <p:grpSpPr>
          <a:xfrm rot="0">
            <a:off x="14324059" y="1583530"/>
            <a:ext cx="2550305" cy="4818861"/>
            <a:chOff x="0" y="0"/>
            <a:chExt cx="3400407" cy="6425148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644008" y="4260432"/>
              <a:ext cx="2660306" cy="2164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NITIN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UCSB EE (PG)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MEDIATEK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AMS DESIGN ENGINEER</a:t>
              </a:r>
            </a:p>
            <a:p>
              <a:pPr algn="ctr">
                <a:lnSpc>
                  <a:spcPts val="2160"/>
                </a:lnSpc>
              </a:pP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0" y="0"/>
              <a:ext cx="3400407" cy="4081165"/>
              <a:chOff x="0" y="0"/>
              <a:chExt cx="926263" cy="11117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26263" cy="1111700"/>
              </a:xfrm>
              <a:custGeom>
                <a:avLst/>
                <a:gdLst/>
                <a:ahLst/>
                <a:cxnLst/>
                <a:rect r="r" b="b" t="t" l="l"/>
                <a:pathLst>
                  <a:path h="1111700" w="926263">
                    <a:moveTo>
                      <a:pt x="151784" y="0"/>
                    </a:moveTo>
                    <a:lnTo>
                      <a:pt x="774479" y="0"/>
                    </a:lnTo>
                    <a:cubicBezTo>
                      <a:pt x="858307" y="0"/>
                      <a:pt x="926263" y="67956"/>
                      <a:pt x="926263" y="151784"/>
                    </a:cubicBezTo>
                    <a:lnTo>
                      <a:pt x="926263" y="959915"/>
                    </a:lnTo>
                    <a:cubicBezTo>
                      <a:pt x="926263" y="1043743"/>
                      <a:pt x="858307" y="1111700"/>
                      <a:pt x="774479" y="1111700"/>
                    </a:cubicBezTo>
                    <a:lnTo>
                      <a:pt x="151784" y="1111700"/>
                    </a:lnTo>
                    <a:cubicBezTo>
                      <a:pt x="67956" y="1111700"/>
                      <a:pt x="0" y="1043743"/>
                      <a:pt x="0" y="959915"/>
                    </a:cubicBezTo>
                    <a:lnTo>
                      <a:pt x="0" y="151784"/>
                    </a:lnTo>
                    <a:cubicBezTo>
                      <a:pt x="0" y="67956"/>
                      <a:pt x="67956" y="0"/>
                      <a:pt x="151784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0" t="-5546" r="0" b="-5546"/>
                </a:stretch>
              </a:blip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</p:grpSp>
      </p:grpSp>
      <p:grpSp>
        <p:nvGrpSpPr>
          <p:cNvPr name="Group 31" id="31"/>
          <p:cNvGrpSpPr/>
          <p:nvPr/>
        </p:nvGrpSpPr>
        <p:grpSpPr>
          <a:xfrm rot="0">
            <a:off x="9715670" y="1583530"/>
            <a:ext cx="2550305" cy="4310055"/>
            <a:chOff x="0" y="0"/>
            <a:chExt cx="3400407" cy="5746740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370051" y="4293225"/>
              <a:ext cx="2660306" cy="1453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BELKACEM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UT EE (PHD)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>
                  <a:solidFill>
                    <a:srgbClr val="FFFFFF"/>
                  </a:solidFill>
                  <a:latin typeface="TT Supermolot Neue"/>
                  <a:ea typeface="TT Supermolot Neue"/>
                  <a:cs typeface="TT Supermolot Neue"/>
                  <a:sym typeface="TT Supermolot Neue"/>
                </a:rPr>
                <a:t>AUTOMATION LAB</a:t>
              </a:r>
            </a:p>
            <a:p>
              <a:pPr algn="ctr">
                <a:lnSpc>
                  <a:spcPts val="2160"/>
                </a:lnSpc>
              </a:pP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0" y="0"/>
              <a:ext cx="3400407" cy="4081165"/>
              <a:chOff x="0" y="0"/>
              <a:chExt cx="926263" cy="11117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26263" cy="1111700"/>
              </a:xfrm>
              <a:custGeom>
                <a:avLst/>
                <a:gdLst/>
                <a:ahLst/>
                <a:cxnLst/>
                <a:rect r="r" b="b" t="t" l="l"/>
                <a:pathLst>
                  <a:path h="1111700" w="926263">
                    <a:moveTo>
                      <a:pt x="151784" y="0"/>
                    </a:moveTo>
                    <a:lnTo>
                      <a:pt x="774479" y="0"/>
                    </a:lnTo>
                    <a:cubicBezTo>
                      <a:pt x="858307" y="0"/>
                      <a:pt x="926263" y="67956"/>
                      <a:pt x="926263" y="151784"/>
                    </a:cubicBezTo>
                    <a:lnTo>
                      <a:pt x="926263" y="959915"/>
                    </a:lnTo>
                    <a:cubicBezTo>
                      <a:pt x="926263" y="1043743"/>
                      <a:pt x="858307" y="1111700"/>
                      <a:pt x="774479" y="1111700"/>
                    </a:cubicBezTo>
                    <a:lnTo>
                      <a:pt x="151784" y="1111700"/>
                    </a:lnTo>
                    <a:cubicBezTo>
                      <a:pt x="67956" y="1111700"/>
                      <a:pt x="0" y="1043743"/>
                      <a:pt x="0" y="959915"/>
                    </a:cubicBezTo>
                    <a:lnTo>
                      <a:pt x="0" y="151784"/>
                    </a:lnTo>
                    <a:cubicBezTo>
                      <a:pt x="0" y="67956"/>
                      <a:pt x="67956" y="0"/>
                      <a:pt x="151784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10009" t="0" r="-10009" b="0"/>
                </a:stretch>
              </a:blip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</p:grpSp>
      </p:grpSp>
      <p:sp>
        <p:nvSpPr>
          <p:cNvPr name="Freeform 35" id="35"/>
          <p:cNvSpPr/>
          <p:nvPr/>
        </p:nvSpPr>
        <p:spPr>
          <a:xfrm flipH="false" flipV="false" rot="0">
            <a:off x="244552" y="7982313"/>
            <a:ext cx="1832207" cy="1818150"/>
          </a:xfrm>
          <a:custGeom>
            <a:avLst/>
            <a:gdLst/>
            <a:ahLst/>
            <a:cxnLst/>
            <a:rect r="r" b="b" t="t" l="l"/>
            <a:pathLst>
              <a:path h="1818150" w="1832207">
                <a:moveTo>
                  <a:pt x="0" y="0"/>
                </a:moveTo>
                <a:lnTo>
                  <a:pt x="1832208" y="0"/>
                </a:lnTo>
                <a:lnTo>
                  <a:pt x="1832208" y="1818149"/>
                </a:lnTo>
                <a:lnTo>
                  <a:pt x="0" y="18181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244552" y="459967"/>
            <a:ext cx="9471118" cy="95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6800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OUR TEAM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533579" y="8197517"/>
            <a:ext cx="3335021" cy="187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44"/>
              </a:lnSpc>
            </a:pPr>
            <a:r>
              <a:rPr lang="en-US" b="true" sz="680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THANK </a:t>
            </a:r>
          </a:p>
          <a:p>
            <a:pPr algn="r">
              <a:lnSpc>
                <a:spcPts val="7344"/>
              </a:lnSpc>
            </a:pPr>
            <a:r>
              <a:rPr lang="en-US" b="true" sz="680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YOU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44552" y="7505815"/>
            <a:ext cx="1968636" cy="34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2"/>
              </a:lnSpc>
            </a:pPr>
            <a:r>
              <a:rPr lang="en-US" b="true" sz="2400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PROJECT INFO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DAHMOtRDryg</dc:identifier>
  <dcterms:modified xsi:type="dcterms:W3CDTF">2011-08-01T06:04:30Z</dcterms:modified>
  <cp:revision>1</cp:revision>
  <dc:title>Probton Chipathon 2026</dc:title>
</cp:coreProperties>
</file>