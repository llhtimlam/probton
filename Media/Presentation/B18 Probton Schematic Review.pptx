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embeddedFontLst>
    <p:embeddedFont>
      <p:font typeface="Merriweather Sans" pitchFamily="2" charset="0"/>
      <p:bold r:id="rId22"/>
    </p:embeddedFont>
    <p:embeddedFont>
      <p:font typeface="Tahoma" panose="020B0604030504040204" pitchFamily="34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3FB7BBF-6EF4-4F01-B70F-00AC92495604}">
  <a:tblStyle styleId="{C3FB7BBF-6EF4-4F01-B70F-00AC9249560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884" y="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30ba7a137_1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30ba7a137_1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30ba7a137_1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30ba7a137_1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30ba7a137_1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30ba7a137_1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30ba7a137_1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30ba7a137_1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30ba7a137_1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f30ba7a137_1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30ba7a137_1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f30ba7a137_1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080f3b065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f080f3b065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080f3b065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f080f3b065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0591400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0591400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080f3b065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f080f3b065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0591400c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0591400c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0591400c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0591400c0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30f9f7c49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f30f9f7c49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30f9f7c49_1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f30f9f7c49_1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30f9f7c49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f30f9f7c49_1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30ba7a137_1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f30ba7a137_1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30ba7a137_1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f30ba7a137_1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30ba7a137_1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f30ba7a137_1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30f9f7c49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f30f9f7c49_1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_OneColumnBullets">
  <p:cSld name="Content Slide_OneColumnBullets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297611" y="424066"/>
            <a:ext cx="8531100" cy="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2600"/>
              <a:buFont typeface="Calibri"/>
              <a:buNone/>
              <a:defRPr sz="2600" b="1" i="0" u="none" strike="noStrike" cap="none">
                <a:solidFill>
                  <a:srgbClr val="0066A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body" idx="1"/>
          </p:nvPr>
        </p:nvSpPr>
        <p:spPr>
          <a:xfrm>
            <a:off x="297611" y="978764"/>
            <a:ext cx="8531100" cy="34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457200" marR="0" lvl="0" indent="-2857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66A1"/>
              </a:buClr>
              <a:buSzPts val="900"/>
              <a:buFont typeface="Merriweather Sans"/>
              <a:buChar char="▶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66A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66A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66A1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66A1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and Content">
  <p:cSld name="5_Title and Conten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695417" y="137357"/>
            <a:ext cx="7961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695324" y="775331"/>
            <a:ext cx="7961400" cy="3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695417" y="137357"/>
            <a:ext cx="7961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695324" y="775331"/>
            <a:ext cx="7961400" cy="3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Ref">
  <p:cSld name="Title and Content with Ref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body" idx="1"/>
          </p:nvPr>
        </p:nvSpPr>
        <p:spPr>
          <a:xfrm>
            <a:off x="695416" y="4505492"/>
            <a:ext cx="6162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1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695417" y="137357"/>
            <a:ext cx="7961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2"/>
          </p:nvPr>
        </p:nvSpPr>
        <p:spPr>
          <a:xfrm>
            <a:off x="695324" y="775331"/>
            <a:ext cx="7961400" cy="3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695417" y="137357"/>
            <a:ext cx="7961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695324" y="775331"/>
            <a:ext cx="7961400" cy="3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695417" y="137357"/>
            <a:ext cx="7961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body" idx="1"/>
          </p:nvPr>
        </p:nvSpPr>
        <p:spPr>
          <a:xfrm>
            <a:off x="695324" y="775331"/>
            <a:ext cx="7961400" cy="3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95417" y="137357"/>
            <a:ext cx="7961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1"/>
          </p:nvPr>
        </p:nvSpPr>
        <p:spPr>
          <a:xfrm>
            <a:off x="695324" y="775331"/>
            <a:ext cx="7961400" cy="3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10"/>
          <p:cNvSpPr txBox="1"/>
          <p:nvPr/>
        </p:nvSpPr>
        <p:spPr>
          <a:xfrm>
            <a:off x="1371600" y="4800600"/>
            <a:ext cx="6400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Symposia on VLSI Technology and Circuits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/>
          </p:nvPr>
        </p:nvSpPr>
        <p:spPr>
          <a:xfrm>
            <a:off x="695417" y="137357"/>
            <a:ext cx="7961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695324" y="775331"/>
            <a:ext cx="7961400" cy="3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title"/>
          </p:nvPr>
        </p:nvSpPr>
        <p:spPr>
          <a:xfrm>
            <a:off x="457200" y="57150"/>
            <a:ext cx="82296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body" idx="1"/>
          </p:nvPr>
        </p:nvSpPr>
        <p:spPr>
          <a:xfrm>
            <a:off x="457200" y="800101"/>
            <a:ext cx="8229600" cy="41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53" name="Google Shape;53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825" y="4819600"/>
            <a:ext cx="2067676" cy="26522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" name="Google Shape;55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85750" y="4395100"/>
            <a:ext cx="1617024" cy="68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gi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gi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/>
        </p:nvSpPr>
        <p:spPr>
          <a:xfrm>
            <a:off x="284909" y="4628375"/>
            <a:ext cx="1543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200"/>
              <a:buFont typeface="Calibri"/>
              <a:buNone/>
            </a:pPr>
            <a:fld id="{00000000-1234-1234-1234-123412341234}" type="slidenum">
              <a:rPr lang="en" sz="900" b="0" i="0" u="none" strike="noStrike" cap="none">
                <a:solidFill>
                  <a:srgbClr val="0066A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 b="0" i="0" u="none" strike="noStrike" cap="none">
              <a:solidFill>
                <a:srgbClr val="0066A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7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53349" y="4553785"/>
            <a:ext cx="859278" cy="266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1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665" y="1"/>
            <a:ext cx="9140333" cy="68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" y="4457701"/>
            <a:ext cx="9140333" cy="68552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hyperlink" Target="https://www.thorlabs.com/thorproduct.cfm?partnumber=FDSP625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/>
          </p:nvPr>
        </p:nvSpPr>
        <p:spPr>
          <a:xfrm>
            <a:off x="311700" y="250987"/>
            <a:ext cx="8520600" cy="104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+mn-lt"/>
              </a:rPr>
              <a:t>B18 Probton</a:t>
            </a:r>
            <a:endParaRPr>
              <a:latin typeface="+mn-lt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subTitle" idx="1"/>
          </p:nvPr>
        </p:nvSpPr>
        <p:spPr>
          <a:xfrm>
            <a:off x="311700" y="1099964"/>
            <a:ext cx="8520600" cy="51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+mn-lt"/>
              </a:rPr>
              <a:t>ASIC Solution for Optical Probe Station</a:t>
            </a:r>
            <a:endParaRPr sz="1800">
              <a:solidFill>
                <a:schemeClr val="dk1"/>
              </a:solidFill>
              <a:latin typeface="+mn-lt"/>
            </a:endParaRPr>
          </a:p>
        </p:txBody>
      </p:sp>
      <p:graphicFrame>
        <p:nvGraphicFramePr>
          <p:cNvPr id="70" name="Google Shape;70;p15"/>
          <p:cNvGraphicFramePr/>
          <p:nvPr/>
        </p:nvGraphicFramePr>
        <p:xfrm>
          <a:off x="723750" y="1617524"/>
          <a:ext cx="7364500" cy="3215310"/>
        </p:xfrm>
        <a:graphic>
          <a:graphicData uri="http://schemas.openxmlformats.org/drawingml/2006/table">
            <a:tbl>
              <a:tblPr>
                <a:noFill/>
                <a:tableStyleId>{C3FB7BBF-6EF4-4F01-B70F-00AC92495604}</a:tableStyleId>
              </a:tblPr>
              <a:tblGrid>
                <a:gridCol w="1841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1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1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4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Discord name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Affiliation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Experience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Role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timlam0531</a:t>
                      </a:r>
                      <a:endParaRPr sz="700"/>
                    </a:p>
                  </a:txBody>
                  <a:tcPr marL="91425" marR="91425" marT="91425" marB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HKUST, Hong Kong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Hobbyist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Team lead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abraaaar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Toronto Metropolitan University, Toronto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Undergraduate student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Team member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belkacem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University of Tlemcen, Algeria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PhD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Team member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nitin_i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University of California, Santa Barbara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AMS Design Engineer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Team member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rezasetiabekti8375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University College Dublin, Ireland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Master student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Team member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ashmita1509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University College Dublin, Ireland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Master student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Team member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vik_lyn_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University of Waterloo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Undergraduate student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Team member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anna_b75_06065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None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Hobbyist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Team member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CadMiuM#9906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HKUST, Hong Kong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Undergraduate student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Team member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Looking for members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Mixed Signal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1" name="Google Shape;71;p15"/>
          <p:cNvSpPr txBox="1"/>
          <p:nvPr/>
        </p:nvSpPr>
        <p:spPr>
          <a:xfrm>
            <a:off x="0" y="592475"/>
            <a:ext cx="1469400" cy="8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  <a:latin typeface="+mn-lt"/>
              </a:rPr>
              <a:t>Review Date:</a:t>
            </a:r>
            <a:endParaRPr sz="1200" dirty="0">
              <a:solidFill>
                <a:schemeClr val="dk2"/>
              </a:solidFill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  <a:latin typeface="+mn-lt"/>
              </a:rPr>
              <a:t>July 4, 2024</a:t>
            </a:r>
            <a:br>
              <a:rPr lang="en" sz="1200" dirty="0">
                <a:solidFill>
                  <a:schemeClr val="dk2"/>
                </a:solidFill>
                <a:latin typeface="+mn-lt"/>
              </a:rPr>
            </a:br>
            <a:r>
              <a:rPr lang="en" sz="1200" dirty="0">
                <a:solidFill>
                  <a:schemeClr val="dk2"/>
                </a:solidFill>
                <a:latin typeface="+mn-lt"/>
              </a:rPr>
              <a:t>Review Version:</a:t>
            </a:r>
            <a:endParaRPr sz="1200" dirty="0">
              <a:solidFill>
                <a:schemeClr val="dk2"/>
              </a:solidFill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  <a:latin typeface="+mn-lt"/>
              </a:rPr>
              <a:t>Schematic Review</a:t>
            </a:r>
            <a:endParaRPr sz="1200" dirty="0">
              <a:solidFill>
                <a:schemeClr val="dk2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/>
        </p:nvSpPr>
        <p:spPr>
          <a:xfrm>
            <a:off x="150851" y="284725"/>
            <a:ext cx="3068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+mn-lt"/>
              </a:rPr>
              <a:t>Design Objective:</a:t>
            </a:r>
            <a:endParaRPr sz="1100" b="1">
              <a:latin typeface="+mn-lt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150850" y="674600"/>
            <a:ext cx="4140900" cy="5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  <a:highlight>
                  <a:schemeClr val="lt1"/>
                </a:highlight>
                <a:latin typeface="+mn-lt"/>
              </a:rPr>
              <a:t>Extract alignment direction using voting filter while automatically isolating and discarding corrupt signal data.</a:t>
            </a:r>
            <a:endParaRPr sz="1600" dirty="0">
              <a:latin typeface="+mn-lt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682427" y="3186900"/>
            <a:ext cx="2391300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Link: </a:t>
            </a:r>
            <a:r>
              <a:rPr lang="en" sz="1100" b="0" i="0" u="sng" strike="noStrike" cap="none" dirty="0">
                <a:solidFill>
                  <a:srgbClr val="0563C1"/>
                </a:solidFill>
                <a:latin typeface="+mn-lt"/>
                <a:ea typeface="Arial"/>
                <a:cs typeface="Arial"/>
                <a:sym typeface="Arial"/>
              </a:rPr>
              <a:t>https://doi.org/10.1016/j.ohx.2022.e00317</a:t>
            </a:r>
            <a:endParaRPr sz="700" dirty="0">
              <a:latin typeface="+mn-lt"/>
            </a:endParaRPr>
          </a:p>
          <a:p>
            <a:pPr marL="0" marR="0" lvl="0" indent="0" algn="l" rtl="0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Key Specifications:</a:t>
            </a:r>
            <a:endParaRPr sz="700" dirty="0">
              <a:latin typeface="+mn-lt"/>
            </a:endParaRPr>
          </a:p>
          <a:p>
            <a:pPr marL="203200" marR="0" lvl="1" indent="-95250" algn="l" rtl="0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1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Sensitivity: </a:t>
            </a:r>
            <a:r>
              <a:rPr lang="en" sz="11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25.0 nm/V </a:t>
            </a:r>
            <a:endParaRPr sz="700" dirty="0">
              <a:latin typeface="+mn-lt"/>
            </a:endParaRPr>
          </a:p>
          <a:p>
            <a:pPr marL="203200" marR="0" lvl="1" indent="-95250" algn="l" rtl="0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1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Resolution:</a:t>
            </a:r>
            <a:endParaRPr sz="700" dirty="0">
              <a:latin typeface="+mn-lt"/>
            </a:endParaRPr>
          </a:p>
          <a:p>
            <a:pPr marL="203200" marR="0" lvl="1" indent="-95250" algn="l" rtl="0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1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Backlash: </a:t>
            </a:r>
            <a:r>
              <a:rPr lang="en" sz="11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160 – 195 nm </a:t>
            </a:r>
            <a:endParaRPr sz="700" dirty="0">
              <a:latin typeface="+mn-lt"/>
            </a:endParaRPr>
          </a:p>
          <a:p>
            <a:pPr marL="203200" marR="0" lvl="1" indent="-95250" algn="l" rtl="0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1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Step error:</a:t>
            </a:r>
            <a:r>
              <a:rPr lang="en" sz="11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~ 7%</a:t>
            </a:r>
            <a:endParaRPr sz="700" dirty="0">
              <a:latin typeface="+mn-lt"/>
            </a:endParaRPr>
          </a:p>
        </p:txBody>
      </p:sp>
      <p:grpSp>
        <p:nvGrpSpPr>
          <p:cNvPr id="79" name="Google Shape;79;p16"/>
          <p:cNvGrpSpPr/>
          <p:nvPr/>
        </p:nvGrpSpPr>
        <p:grpSpPr>
          <a:xfrm>
            <a:off x="1070225" y="1731437"/>
            <a:ext cx="1388371" cy="1388358"/>
            <a:chOff x="0" y="0"/>
            <a:chExt cx="4595734" cy="4595689"/>
          </a:xfrm>
        </p:grpSpPr>
        <p:grpSp>
          <p:nvGrpSpPr>
            <p:cNvPr id="80" name="Google Shape;80;p16"/>
            <p:cNvGrpSpPr/>
            <p:nvPr/>
          </p:nvGrpSpPr>
          <p:grpSpPr>
            <a:xfrm>
              <a:off x="0" y="0"/>
              <a:ext cx="4595734" cy="4595689"/>
              <a:chOff x="0" y="0"/>
              <a:chExt cx="812800" cy="812792"/>
            </a:xfrm>
          </p:grpSpPr>
          <p:sp>
            <p:nvSpPr>
              <p:cNvPr id="81" name="Google Shape;81;p16"/>
              <p:cNvSpPr/>
              <p:nvPr/>
            </p:nvSpPr>
            <p:spPr>
              <a:xfrm>
                <a:off x="0" y="0"/>
                <a:ext cx="812800" cy="81279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792" extrusionOk="0">
                    <a:moveTo>
                      <a:pt x="406400" y="0"/>
                    </a:moveTo>
                    <a:cubicBezTo>
                      <a:pt x="181951" y="0"/>
                      <a:pt x="0" y="181950"/>
                      <a:pt x="0" y="406396"/>
                    </a:cubicBezTo>
                    <a:cubicBezTo>
                      <a:pt x="0" y="630842"/>
                      <a:pt x="181951" y="812792"/>
                      <a:pt x="406400" y="812792"/>
                    </a:cubicBezTo>
                    <a:cubicBezTo>
                      <a:pt x="630849" y="812792"/>
                      <a:pt x="812800" y="630842"/>
                      <a:pt x="812800" y="406396"/>
                    </a:cubicBezTo>
                    <a:cubicBezTo>
                      <a:pt x="812800" y="18195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0" cap="sq" cmpd="sng">
                <a:solidFill>
                  <a:srgbClr val="0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36850" tIns="36850" rIns="36850" bIns="36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n-lt"/>
                </a:endParaRPr>
              </a:p>
            </p:txBody>
          </p:sp>
          <p:sp>
            <p:nvSpPr>
              <p:cNvPr id="82" name="Google Shape;82;p16"/>
              <p:cNvSpPr txBox="1"/>
              <p:nvPr/>
            </p:nvSpPr>
            <p:spPr>
              <a:xfrm>
                <a:off x="76200" y="38099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7325" tIns="17325" rIns="17325" bIns="173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44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25" b="0" i="0" u="none" strike="noStrike" cap="none">
                  <a:solidFill>
                    <a:schemeClr val="dk1"/>
                  </a:solidFill>
                  <a:latin typeface="+mn-lt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3" name="Google Shape;83;p16"/>
            <p:cNvSpPr/>
            <p:nvPr/>
          </p:nvSpPr>
          <p:spPr>
            <a:xfrm>
              <a:off x="468334" y="1393903"/>
              <a:ext cx="3662355" cy="2461079"/>
            </a:xfrm>
            <a:custGeom>
              <a:avLst/>
              <a:gdLst/>
              <a:ahLst/>
              <a:cxnLst/>
              <a:rect l="l" t="t" r="r" b="b"/>
              <a:pathLst>
                <a:path w="4283456" h="2878455" extrusionOk="0">
                  <a:moveTo>
                    <a:pt x="600895" y="0"/>
                  </a:moveTo>
                  <a:lnTo>
                    <a:pt x="3682560" y="0"/>
                  </a:lnTo>
                  <a:cubicBezTo>
                    <a:pt x="4014426" y="0"/>
                    <a:pt x="4283456" y="269030"/>
                    <a:pt x="4283456" y="600895"/>
                  </a:cubicBezTo>
                  <a:lnTo>
                    <a:pt x="4283456" y="2277559"/>
                  </a:lnTo>
                  <a:cubicBezTo>
                    <a:pt x="4283456" y="2436927"/>
                    <a:pt x="4220147" y="2589767"/>
                    <a:pt x="4107458" y="2702457"/>
                  </a:cubicBezTo>
                  <a:cubicBezTo>
                    <a:pt x="3994768" y="2815147"/>
                    <a:pt x="3841928" y="2878455"/>
                    <a:pt x="3682560" y="2878455"/>
                  </a:cubicBezTo>
                  <a:lnTo>
                    <a:pt x="600895" y="2878455"/>
                  </a:lnTo>
                  <a:cubicBezTo>
                    <a:pt x="269030" y="2878455"/>
                    <a:pt x="0" y="2609425"/>
                    <a:pt x="0" y="2277559"/>
                  </a:cubicBezTo>
                  <a:lnTo>
                    <a:pt x="0" y="600895"/>
                  </a:lnTo>
                  <a:cubicBezTo>
                    <a:pt x="0" y="269030"/>
                    <a:pt x="269030" y="0"/>
                    <a:pt x="600895" y="0"/>
                  </a:cubicBez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36850" tIns="36850" rIns="36850" bIns="36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84" name="Google Shape;84;p16"/>
            <p:cNvSpPr txBox="1"/>
            <p:nvPr/>
          </p:nvSpPr>
          <p:spPr>
            <a:xfrm>
              <a:off x="1081486" y="725256"/>
              <a:ext cx="2801401" cy="640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47" b="1" i="0" u="none" strike="noStrike" cap="none">
                  <a:solidFill>
                    <a:srgbClr val="000000"/>
                  </a:solidFill>
                  <a:latin typeface="+mn-lt"/>
                  <a:ea typeface="Arial"/>
                  <a:cs typeface="Arial"/>
                  <a:sym typeface="Arial"/>
                </a:rPr>
                <a:t>XY-Stage [1]</a:t>
              </a:r>
              <a:endParaRPr sz="564">
                <a:latin typeface="+mn-lt"/>
              </a:endParaRPr>
            </a:p>
          </p:txBody>
        </p:sp>
      </p:grpSp>
      <p:sp>
        <p:nvSpPr>
          <p:cNvPr id="85" name="Google Shape;85;p16"/>
          <p:cNvSpPr txBox="1"/>
          <p:nvPr/>
        </p:nvSpPr>
        <p:spPr>
          <a:xfrm>
            <a:off x="4227124" y="2529707"/>
            <a:ext cx="918300" cy="1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16" b="1" i="0" u="none" strike="noStrike" cap="none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Photodetector</a:t>
            </a:r>
            <a:endParaRPr sz="493">
              <a:latin typeface="+mn-lt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4084416" y="2650567"/>
            <a:ext cx="1146600" cy="248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72" b="0" i="0" u="none" strike="noStrike" cap="none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Thorlabs FDSP625 Pigtailed Si Photodiode</a:t>
            </a:r>
            <a:endParaRPr sz="523">
              <a:latin typeface="+mn-lt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3332050" y="3187275"/>
            <a:ext cx="2481600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Link: </a:t>
            </a:r>
            <a:r>
              <a:rPr lang="en" sz="1100" b="0" i="0" u="sng" strike="noStrike" cap="none" dirty="0">
                <a:solidFill>
                  <a:schemeClr val="hlink"/>
                </a:solidFill>
                <a:latin typeface="+mn-lt"/>
                <a:ea typeface="Arial"/>
                <a:cs typeface="Arial"/>
                <a:sym typeface="Arial"/>
                <a:hlinkClick r:id="rId4"/>
              </a:rPr>
              <a:t>https://www.thorlabs.com/thorproduct.cfm?partnumber=FDSP625</a:t>
            </a:r>
            <a:r>
              <a:rPr lang="en" sz="11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endParaRPr sz="700" dirty="0">
              <a:latin typeface="+mn-lt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Key Specifications:</a:t>
            </a:r>
            <a:endParaRPr sz="700" dirty="0">
              <a:latin typeface="+mn-lt"/>
            </a:endParaRPr>
          </a:p>
          <a:p>
            <a:pPr marL="203200" marR="0" lvl="1" indent="-952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1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Spectral Band:</a:t>
            </a:r>
            <a:r>
              <a:rPr lang="en" sz="11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320 nm to 1000 nm </a:t>
            </a:r>
            <a:endParaRPr sz="700" dirty="0">
              <a:latin typeface="+mn-lt"/>
            </a:endParaRPr>
          </a:p>
          <a:p>
            <a:pPr marL="203200" marR="0" lvl="1" indent="-952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1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Response Speed: </a:t>
            </a:r>
            <a:r>
              <a:rPr lang="en" sz="11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700 ps rise/fall time </a:t>
            </a:r>
            <a:endParaRPr sz="700" dirty="0">
              <a:latin typeface="+mn-lt"/>
            </a:endParaRPr>
          </a:p>
          <a:p>
            <a:pPr marL="203200" marR="0" lvl="1" indent="-952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1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Noise:</a:t>
            </a:r>
            <a:r>
              <a:rPr lang="en" sz="11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0.01 nA dark current</a:t>
            </a:r>
            <a:endParaRPr sz="700" dirty="0">
              <a:latin typeface="+mn-lt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6222700" y="3186901"/>
            <a:ext cx="2437500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Link: </a:t>
            </a:r>
            <a:endParaRPr sz="700" dirty="0">
              <a:latin typeface="+mn-lt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sng" strike="noStrike" cap="none" dirty="0">
                <a:solidFill>
                  <a:srgbClr val="0563C1"/>
                </a:solidFill>
                <a:latin typeface="+mn-lt"/>
                <a:ea typeface="Arial"/>
                <a:cs typeface="Arial"/>
                <a:sym typeface="Arial"/>
              </a:rPr>
              <a:t>https://doi.org/10.1088/0957-4484/24/45/455503</a:t>
            </a:r>
            <a:endParaRPr sz="700" dirty="0">
              <a:latin typeface="+mn-lt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Key Specifications:</a:t>
            </a:r>
            <a:endParaRPr sz="700" dirty="0">
              <a:latin typeface="+mn-lt"/>
            </a:endParaRPr>
          </a:p>
          <a:p>
            <a:pPr marL="203200" marR="0" lvl="1" indent="-952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1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XY Range: </a:t>
            </a:r>
            <a:r>
              <a:rPr lang="en" sz="11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5 µm</a:t>
            </a:r>
            <a:endParaRPr sz="700" dirty="0">
              <a:latin typeface="+mn-lt"/>
            </a:endParaRPr>
          </a:p>
          <a:p>
            <a:pPr marL="203200" marR="0" lvl="1" indent="-952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1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Nonlinearity: </a:t>
            </a:r>
            <a:r>
              <a:rPr lang="en" sz="11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2.11% X / 2.73% Y </a:t>
            </a:r>
            <a:endParaRPr sz="700" dirty="0">
              <a:latin typeface="+mn-lt"/>
            </a:endParaRPr>
          </a:p>
          <a:p>
            <a:pPr marL="203200" marR="0" lvl="1" indent="-952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1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Noise / Resolution: </a:t>
            </a:r>
            <a:r>
              <a:rPr lang="en" sz="11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~0.06 nm </a:t>
            </a:r>
            <a:endParaRPr sz="700" dirty="0">
              <a:latin typeface="+mn-lt"/>
            </a:endParaRPr>
          </a:p>
          <a:p>
            <a:pPr marL="203200" marR="0" lvl="1" indent="-952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1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Resonance: </a:t>
            </a:r>
            <a:r>
              <a:rPr lang="en" sz="11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~360 Hz (X/Y)</a:t>
            </a:r>
            <a:endParaRPr sz="700" dirty="0">
              <a:latin typeface="+mn-lt"/>
            </a:endParaRPr>
          </a:p>
        </p:txBody>
      </p:sp>
      <p:grpSp>
        <p:nvGrpSpPr>
          <p:cNvPr id="89" name="Google Shape;89;p16"/>
          <p:cNvGrpSpPr/>
          <p:nvPr/>
        </p:nvGrpSpPr>
        <p:grpSpPr>
          <a:xfrm>
            <a:off x="6747003" y="1731411"/>
            <a:ext cx="1388885" cy="1388398"/>
            <a:chOff x="0" y="0"/>
            <a:chExt cx="4735373" cy="4735326"/>
          </a:xfrm>
        </p:grpSpPr>
        <p:grpSp>
          <p:nvGrpSpPr>
            <p:cNvPr id="90" name="Google Shape;90;p16"/>
            <p:cNvGrpSpPr/>
            <p:nvPr/>
          </p:nvGrpSpPr>
          <p:grpSpPr>
            <a:xfrm>
              <a:off x="0" y="0"/>
              <a:ext cx="4735373" cy="4735326"/>
              <a:chOff x="0" y="0"/>
              <a:chExt cx="812800" cy="812792"/>
            </a:xfrm>
          </p:grpSpPr>
          <p:sp>
            <p:nvSpPr>
              <p:cNvPr id="91" name="Google Shape;91;p16"/>
              <p:cNvSpPr/>
              <p:nvPr/>
            </p:nvSpPr>
            <p:spPr>
              <a:xfrm>
                <a:off x="0" y="0"/>
                <a:ext cx="812800" cy="81279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792" extrusionOk="0">
                    <a:moveTo>
                      <a:pt x="406400" y="0"/>
                    </a:moveTo>
                    <a:cubicBezTo>
                      <a:pt x="181951" y="0"/>
                      <a:pt x="0" y="181950"/>
                      <a:pt x="0" y="406396"/>
                    </a:cubicBezTo>
                    <a:cubicBezTo>
                      <a:pt x="0" y="630842"/>
                      <a:pt x="181951" y="812792"/>
                      <a:pt x="406400" y="812792"/>
                    </a:cubicBezTo>
                    <a:cubicBezTo>
                      <a:pt x="630849" y="812792"/>
                      <a:pt x="812800" y="630842"/>
                      <a:pt x="812800" y="406396"/>
                    </a:cubicBezTo>
                    <a:cubicBezTo>
                      <a:pt x="812800" y="18195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900" cap="sq" cmpd="sng">
                <a:solidFill>
                  <a:srgbClr val="0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35750" tIns="35750" rIns="35750" bIns="35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n-lt"/>
                </a:endParaRPr>
              </a:p>
            </p:txBody>
          </p:sp>
          <p:sp>
            <p:nvSpPr>
              <p:cNvPr id="92" name="Google Shape;92;p16"/>
              <p:cNvSpPr txBox="1"/>
              <p:nvPr/>
            </p:nvSpPr>
            <p:spPr>
              <a:xfrm>
                <a:off x="76200" y="28574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6800" tIns="16800" rIns="16800" bIns="16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43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4" b="0" i="0" u="none" strike="noStrike" cap="none">
                  <a:solidFill>
                    <a:schemeClr val="dk1"/>
                  </a:solidFill>
                  <a:latin typeface="+mn-lt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3" name="Google Shape;93;p16"/>
            <p:cNvSpPr/>
            <p:nvPr/>
          </p:nvSpPr>
          <p:spPr>
            <a:xfrm>
              <a:off x="1349045" y="2174804"/>
              <a:ext cx="2037309" cy="2194959"/>
            </a:xfrm>
            <a:custGeom>
              <a:avLst/>
              <a:gdLst/>
              <a:ahLst/>
              <a:cxnLst/>
              <a:rect l="l" t="t" r="r" b="b"/>
              <a:pathLst>
                <a:path w="2382817" h="2660556" extrusionOk="0">
                  <a:moveTo>
                    <a:pt x="0" y="0"/>
                  </a:moveTo>
                  <a:lnTo>
                    <a:pt x="2382816" y="0"/>
                  </a:lnTo>
                  <a:lnTo>
                    <a:pt x="2382816" y="2660556"/>
                  </a:lnTo>
                  <a:lnTo>
                    <a:pt x="0" y="26605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t="-5000"/>
              </a:stretch>
            </a:blipFill>
            <a:ln>
              <a:noFill/>
            </a:ln>
          </p:spPr>
          <p:txBody>
            <a:bodyPr/>
            <a:lstStyle/>
            <a:p>
              <a:endParaRPr lang="en-CA">
                <a:latin typeface="+mn-lt"/>
              </a:endParaRPr>
            </a:p>
          </p:txBody>
        </p:sp>
        <p:sp>
          <p:nvSpPr>
            <p:cNvPr id="94" name="Google Shape;94;p16"/>
            <p:cNvSpPr txBox="1"/>
            <p:nvPr/>
          </p:nvSpPr>
          <p:spPr>
            <a:xfrm>
              <a:off x="376451" y="220191"/>
              <a:ext cx="3982499" cy="19216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17" b="1" i="0" u="none" strike="noStrike" cap="none">
                  <a:solidFill>
                    <a:srgbClr val="000000"/>
                  </a:solidFill>
                  <a:latin typeface="+mn-lt"/>
                  <a:ea typeface="Arial"/>
                  <a:cs typeface="Arial"/>
                  <a:sym typeface="Arial"/>
                </a:rPr>
                <a:t>MEMS </a:t>
              </a:r>
              <a:endParaRPr sz="547">
                <a:latin typeface="+mn-lt"/>
              </a:endParaRPr>
            </a:p>
            <a:p>
              <a:pPr marL="0" marR="0" lvl="0" indent="0" algn="ctr" rtl="0">
                <a:lnSpc>
                  <a:spcPct val="12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17" b="1" i="0" u="none" strike="noStrike" cap="none">
                  <a:solidFill>
                    <a:srgbClr val="000000"/>
                  </a:solidFill>
                  <a:latin typeface="+mn-lt"/>
                  <a:ea typeface="Arial"/>
                  <a:cs typeface="Arial"/>
                  <a:sym typeface="Arial"/>
                </a:rPr>
                <a:t>Actuator [2]</a:t>
              </a:r>
              <a:endParaRPr sz="547">
                <a:latin typeface="+mn-lt"/>
              </a:endParaRPr>
            </a:p>
            <a:p>
              <a:pPr marL="0" marR="0" lvl="0" indent="0" algn="ctr" rtl="0">
                <a:lnSpc>
                  <a:spcPct val="12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17" b="1" i="0" u="none" strike="noStrike" cap="none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6"/>
            <p:cNvSpPr txBox="1"/>
            <p:nvPr/>
          </p:nvSpPr>
          <p:spPr>
            <a:xfrm>
              <a:off x="376451" y="1208942"/>
              <a:ext cx="4092601" cy="8870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4" b="0" i="0" u="none" strike="noStrike" cap="none">
                  <a:solidFill>
                    <a:srgbClr val="000000"/>
                  </a:solidFill>
                  <a:latin typeface="+mn-lt"/>
                  <a:ea typeface="Arial"/>
                  <a:cs typeface="Arial"/>
                  <a:sym typeface="Arial"/>
                </a:rPr>
                <a:t>Buzzer-Scanner (Wang et al. 2013)</a:t>
              </a:r>
              <a:endParaRPr sz="547">
                <a:latin typeface="+mn-lt"/>
              </a:endParaRPr>
            </a:p>
          </p:txBody>
        </p:sp>
      </p:grpSp>
      <p:grpSp>
        <p:nvGrpSpPr>
          <p:cNvPr id="96" name="Google Shape;96;p16"/>
          <p:cNvGrpSpPr/>
          <p:nvPr/>
        </p:nvGrpSpPr>
        <p:grpSpPr>
          <a:xfrm>
            <a:off x="3877627" y="1731437"/>
            <a:ext cx="1388750" cy="1388736"/>
            <a:chOff x="0" y="0"/>
            <a:chExt cx="812800" cy="812792"/>
          </a:xfrm>
        </p:grpSpPr>
        <p:sp>
          <p:nvSpPr>
            <p:cNvPr id="97" name="Google Shape;97;p16"/>
            <p:cNvSpPr/>
            <p:nvPr/>
          </p:nvSpPr>
          <p:spPr>
            <a:xfrm>
              <a:off x="0" y="0"/>
              <a:ext cx="812800" cy="812792"/>
            </a:xfrm>
            <a:custGeom>
              <a:avLst/>
              <a:gdLst/>
              <a:ahLst/>
              <a:cxnLst/>
              <a:rect l="l" t="t" r="r" b="b"/>
              <a:pathLst>
                <a:path w="812800" h="812792" extrusionOk="0">
                  <a:moveTo>
                    <a:pt x="406400" y="0"/>
                  </a:moveTo>
                  <a:cubicBezTo>
                    <a:pt x="181951" y="0"/>
                    <a:pt x="0" y="181950"/>
                    <a:pt x="0" y="406396"/>
                  </a:cubicBezTo>
                  <a:cubicBezTo>
                    <a:pt x="0" y="630842"/>
                    <a:pt x="181951" y="812792"/>
                    <a:pt x="406400" y="812792"/>
                  </a:cubicBezTo>
                  <a:cubicBezTo>
                    <a:pt x="630849" y="812792"/>
                    <a:pt x="812800" y="630842"/>
                    <a:pt x="812800" y="406396"/>
                  </a:cubicBezTo>
                  <a:cubicBezTo>
                    <a:pt x="812800" y="18195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49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35750" tIns="35750" rIns="35750" bIns="35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98" name="Google Shape;98;p16"/>
            <p:cNvSpPr txBox="1"/>
            <p:nvPr/>
          </p:nvSpPr>
          <p:spPr>
            <a:xfrm>
              <a:off x="76200" y="28574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800" tIns="16800" rIns="16800" bIns="16800" anchor="ctr" anchorCtr="0">
              <a:noAutofit/>
            </a:bodyPr>
            <a:lstStyle/>
            <a:p>
              <a:pPr marL="0" marR="0" lvl="0" indent="0" algn="ctr" rtl="0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04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16"/>
          <p:cNvSpPr/>
          <p:nvPr/>
        </p:nvSpPr>
        <p:spPr>
          <a:xfrm>
            <a:off x="4131005" y="2314516"/>
            <a:ext cx="880720" cy="645753"/>
          </a:xfrm>
          <a:custGeom>
            <a:avLst/>
            <a:gdLst/>
            <a:ahLst/>
            <a:cxnLst/>
            <a:rect l="l" t="t" r="r" b="b"/>
            <a:pathLst>
              <a:path w="2689221" h="1858282" extrusionOk="0">
                <a:moveTo>
                  <a:pt x="0" y="0"/>
                </a:moveTo>
                <a:lnTo>
                  <a:pt x="2689221" y="0"/>
                </a:lnTo>
                <a:lnTo>
                  <a:pt x="2689221" y="1858282"/>
                </a:lnTo>
                <a:lnTo>
                  <a:pt x="0" y="18582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CA">
              <a:latin typeface="+mn-lt"/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4040221" y="1907967"/>
            <a:ext cx="1062300" cy="195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9" b="1" i="0" u="none" strike="noStrike" cap="none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Photodetector</a:t>
            </a:r>
            <a:endParaRPr sz="570">
              <a:latin typeface="+mn-lt"/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3984388" y="2098550"/>
            <a:ext cx="1200300" cy="26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4" b="0" i="0" u="none" strike="noStrike" cap="none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Thorlabs FDSP625 Pigtailed Si Photodiode</a:t>
            </a:r>
            <a:endParaRPr sz="547">
              <a:latin typeface="+mn-lt"/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4040225" y="350425"/>
            <a:ext cx="4830000" cy="8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175" tIns="86175" rIns="86175" bIns="86175" anchor="t" anchorCtr="0">
            <a:noAutofit/>
          </a:bodyPr>
          <a:lstStyle/>
          <a:p>
            <a:pPr marL="323242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8" b="1" dirty="0">
                <a:solidFill>
                  <a:schemeClr val="dk1"/>
                </a:solidFill>
                <a:latin typeface="+mn-lt"/>
              </a:rPr>
              <a:t>  Intended use:</a:t>
            </a:r>
            <a:endParaRPr sz="1508" b="1" dirty="0">
              <a:solidFill>
                <a:schemeClr val="dk1"/>
              </a:solidFill>
              <a:latin typeface="+mn-lt"/>
            </a:endParaRPr>
          </a:p>
          <a:p>
            <a:pPr marL="43099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37"/>
              <a:buFont typeface="Arial"/>
              <a:buNone/>
            </a:pPr>
            <a:r>
              <a:rPr lang="en" sz="1508" dirty="0">
                <a:solidFill>
                  <a:schemeClr val="dk1"/>
                </a:solidFill>
                <a:latin typeface="+mn-lt"/>
              </a:rPr>
              <a:t>Deliver low-latency direction indicators and signal intensity data to drive motorized alignment hardware.</a:t>
            </a:r>
            <a:endParaRPr sz="1508" dirty="0"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/>
        </p:nvSpPr>
        <p:spPr>
          <a:xfrm>
            <a:off x="323750" y="466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+mn-lt"/>
              </a:rPr>
              <a:t>System Overview</a:t>
            </a:r>
            <a:endParaRPr b="1">
              <a:latin typeface="+mn-lt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323750" y="1228575"/>
            <a:ext cx="2340600" cy="36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  <a:highlight>
                  <a:schemeClr val="lt1"/>
                </a:highlight>
                <a:latin typeface="+mn-lt"/>
              </a:rPr>
              <a:t>State Control</a:t>
            </a:r>
            <a:br>
              <a:rPr lang="en" sz="1600" dirty="0">
                <a:solidFill>
                  <a:schemeClr val="dk1"/>
                </a:solidFill>
                <a:highlight>
                  <a:schemeClr val="lt1"/>
                </a:highlight>
                <a:latin typeface="+mn-lt"/>
              </a:rPr>
            </a:br>
            <a:r>
              <a:rPr lang="en" sz="1600" dirty="0">
                <a:solidFill>
                  <a:schemeClr val="dk1"/>
                </a:solidFill>
                <a:highlight>
                  <a:schemeClr val="lt1"/>
                </a:highlight>
                <a:latin typeface="+mn-lt"/>
              </a:rPr>
              <a:t>Mixed Signal System</a:t>
            </a:r>
            <a:br>
              <a:rPr lang="en" sz="1600" dirty="0">
                <a:solidFill>
                  <a:schemeClr val="dk1"/>
                </a:solidFill>
                <a:highlight>
                  <a:schemeClr val="lt1"/>
                </a:highlight>
                <a:latin typeface="+mn-lt"/>
              </a:rPr>
            </a:br>
            <a:br>
              <a:rPr lang="en" sz="1600" dirty="0">
                <a:solidFill>
                  <a:schemeClr val="dk1"/>
                </a:solidFill>
                <a:highlight>
                  <a:schemeClr val="lt1"/>
                </a:highlight>
                <a:latin typeface="+mn-lt"/>
              </a:rPr>
            </a:br>
            <a:r>
              <a:rPr lang="en" sz="1600" dirty="0">
                <a:solidFill>
                  <a:schemeClr val="dk1"/>
                </a:solidFill>
                <a:highlight>
                  <a:schemeClr val="lt1"/>
                </a:highlight>
                <a:latin typeface="+mn-lt"/>
              </a:rPr>
              <a:t>SPI Interface for</a:t>
            </a:r>
            <a:br>
              <a:rPr lang="en" sz="1600" dirty="0">
                <a:solidFill>
                  <a:schemeClr val="dk1"/>
                </a:solidFill>
                <a:highlight>
                  <a:schemeClr val="lt1"/>
                </a:highlight>
                <a:latin typeface="+mn-lt"/>
              </a:rPr>
            </a:br>
            <a:r>
              <a:rPr lang="en" sz="1600" dirty="0">
                <a:solidFill>
                  <a:schemeClr val="dk1"/>
                </a:solidFill>
                <a:highlight>
                  <a:schemeClr val="lt1"/>
                </a:highlight>
                <a:latin typeface="+mn-lt"/>
              </a:rPr>
              <a:t>Custom Config and Command for interupt</a:t>
            </a:r>
            <a:br>
              <a:rPr lang="en" sz="1600" dirty="0">
                <a:solidFill>
                  <a:schemeClr val="dk1"/>
                </a:solidFill>
                <a:highlight>
                  <a:schemeClr val="lt1"/>
                </a:highlight>
                <a:latin typeface="+mn-lt"/>
              </a:rPr>
            </a:br>
            <a:r>
              <a:rPr lang="en" sz="1600" dirty="0">
                <a:solidFill>
                  <a:schemeClr val="dk1"/>
                </a:solidFill>
                <a:highlight>
                  <a:schemeClr val="lt1"/>
                </a:highlight>
                <a:latin typeface="+mn-lt"/>
              </a:rPr>
              <a:t>Status Report</a:t>
            </a:r>
            <a:br>
              <a:rPr lang="en" sz="1600" dirty="0">
                <a:solidFill>
                  <a:schemeClr val="dk1"/>
                </a:solidFill>
                <a:highlight>
                  <a:schemeClr val="lt1"/>
                </a:highlight>
                <a:latin typeface="+mn-lt"/>
              </a:rPr>
            </a:br>
            <a:br>
              <a:rPr lang="en" sz="1600" dirty="0">
                <a:solidFill>
                  <a:schemeClr val="dk1"/>
                </a:solidFill>
                <a:highlight>
                  <a:schemeClr val="lt1"/>
                </a:highlight>
                <a:latin typeface="+mn-lt"/>
              </a:rPr>
            </a:br>
            <a:r>
              <a:rPr lang="en" sz="1600" dirty="0">
                <a:solidFill>
                  <a:schemeClr val="dk1"/>
                </a:solidFill>
                <a:highlight>
                  <a:schemeClr val="lt1"/>
                </a:highlight>
                <a:latin typeface="+mn-lt"/>
              </a:rPr>
              <a:t>Low latency motorized feedback pin</a:t>
            </a:r>
            <a:br>
              <a:rPr lang="en" sz="1600" dirty="0">
                <a:solidFill>
                  <a:schemeClr val="dk1"/>
                </a:solidFill>
                <a:highlight>
                  <a:schemeClr val="lt1"/>
                </a:highlight>
                <a:latin typeface="+mn-lt"/>
              </a:rPr>
            </a:br>
            <a:r>
              <a:rPr lang="en" sz="1600" dirty="0">
                <a:solidFill>
                  <a:schemeClr val="dk1"/>
                </a:solidFill>
                <a:highlight>
                  <a:schemeClr val="lt1"/>
                </a:highlight>
                <a:latin typeface="+mn-lt"/>
              </a:rPr>
              <a:t>move_en</a:t>
            </a:r>
            <a:br>
              <a:rPr lang="en" sz="1600" dirty="0">
                <a:solidFill>
                  <a:schemeClr val="dk1"/>
                </a:solidFill>
                <a:highlight>
                  <a:schemeClr val="lt1"/>
                </a:highlight>
                <a:latin typeface="+mn-lt"/>
              </a:rPr>
            </a:br>
            <a:r>
              <a:rPr lang="en" sz="1600" dirty="0">
                <a:solidFill>
                  <a:schemeClr val="dk1"/>
                </a:solidFill>
                <a:highlight>
                  <a:schemeClr val="lt1"/>
                </a:highlight>
                <a:latin typeface="+mn-lt"/>
              </a:rPr>
              <a:t>Dir</a:t>
            </a:r>
            <a:br>
              <a:rPr lang="en" sz="1600" dirty="0">
                <a:solidFill>
                  <a:schemeClr val="dk1"/>
                </a:solidFill>
                <a:highlight>
                  <a:schemeClr val="lt1"/>
                </a:highlight>
                <a:latin typeface="+mn-lt"/>
              </a:rPr>
            </a:br>
            <a:br>
              <a:rPr lang="en" sz="1600" dirty="0">
                <a:solidFill>
                  <a:schemeClr val="dk1"/>
                </a:solidFill>
                <a:highlight>
                  <a:schemeClr val="lt1"/>
                </a:highlight>
                <a:latin typeface="+mn-lt"/>
              </a:rPr>
            </a:br>
            <a:r>
              <a:rPr lang="en" sz="1600" dirty="0">
                <a:solidFill>
                  <a:schemeClr val="dk1"/>
                </a:solidFill>
                <a:highlight>
                  <a:schemeClr val="lt1"/>
                </a:highlight>
                <a:latin typeface="+mn-lt"/>
              </a:rPr>
              <a:t>Analog pin for readout</a:t>
            </a:r>
            <a:endParaRPr sz="1600" dirty="0">
              <a:latin typeface="+mn-lt"/>
            </a:endParaRPr>
          </a:p>
        </p:txBody>
      </p:sp>
      <p:pic>
        <p:nvPicPr>
          <p:cNvPr id="109" name="Google Shape;109;p17" title="Optical Probe Station Chip Architec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6400" y="286712"/>
            <a:ext cx="5619801" cy="4570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/>
        </p:nvSpPr>
        <p:spPr>
          <a:xfrm>
            <a:off x="323750" y="466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+mn-lt"/>
              </a:rPr>
              <a:t>System Overview - State Machine</a:t>
            </a:r>
            <a:endParaRPr b="1" dirty="0">
              <a:latin typeface="+mn-lt"/>
            </a:endParaRPr>
          </a:p>
        </p:txBody>
      </p:sp>
      <p:pic>
        <p:nvPicPr>
          <p:cNvPr id="115" name="Google Shape;115;p18" title="Optical Probe Station Chip Architec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750" y="1038750"/>
            <a:ext cx="4672804" cy="379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8" title="Optical Probe Station State Machin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0825" y="1739350"/>
            <a:ext cx="3914699" cy="264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/>
        </p:nvSpPr>
        <p:spPr>
          <a:xfrm>
            <a:off x="323750" y="466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+mn-lt"/>
              </a:rPr>
              <a:t>Signal Processor - Analog</a:t>
            </a:r>
            <a:endParaRPr b="1">
              <a:latin typeface="+mn-lt"/>
            </a:endParaRPr>
          </a:p>
        </p:txBody>
      </p:sp>
      <p:pic>
        <p:nvPicPr>
          <p:cNvPr id="122" name="Google Shape;122;p19" title="Optical Probe Station Signal Processo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9150" y="328450"/>
            <a:ext cx="3295425" cy="4503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9" title="Optical Probe Station Signal Processor.png"/>
          <p:cNvPicPr preferRelativeResize="0"/>
          <p:nvPr/>
        </p:nvPicPr>
        <p:blipFill rotWithShape="1">
          <a:blip r:embed="rId3">
            <a:alphaModFix/>
          </a:blip>
          <a:srcRect r="10794" b="50807"/>
          <a:stretch/>
        </p:blipFill>
        <p:spPr>
          <a:xfrm>
            <a:off x="0" y="1159175"/>
            <a:ext cx="4816525" cy="3793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0" title="Optical Probe Station Signal Processo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3200" y="350350"/>
            <a:ext cx="3208589" cy="4459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0" title="Optical Probe Station Signal Processor.png"/>
          <p:cNvPicPr preferRelativeResize="0"/>
          <p:nvPr/>
        </p:nvPicPr>
        <p:blipFill rotWithShape="1">
          <a:blip r:embed="rId3">
            <a:alphaModFix/>
          </a:blip>
          <a:srcRect t="40670"/>
          <a:stretch/>
        </p:blipFill>
        <p:spPr>
          <a:xfrm>
            <a:off x="374114" y="1038750"/>
            <a:ext cx="4450037" cy="3770677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 txBox="1"/>
          <p:nvPr/>
        </p:nvSpPr>
        <p:spPr>
          <a:xfrm>
            <a:off x="323750" y="466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+mn-lt"/>
              </a:rPr>
              <a:t>Signal Processor - Digital</a:t>
            </a:r>
            <a:endParaRPr b="1">
              <a:latin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+mn-lt"/>
              </a:rPr>
              <a:t>5T Operation Transconductance Amplifier</a:t>
            </a:r>
            <a:endParaRPr sz="2400" dirty="0">
              <a:latin typeface="+mn-lt"/>
            </a:endParaRPr>
          </a:p>
        </p:txBody>
      </p:sp>
      <p:pic>
        <p:nvPicPr>
          <p:cNvPr id="136" name="Google Shape;13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7025" y="1344713"/>
            <a:ext cx="5490800" cy="2882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225" y="1065500"/>
            <a:ext cx="3332876" cy="344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50" y="326937"/>
            <a:ext cx="5519300" cy="448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2"/>
          <p:cNvSpPr txBox="1"/>
          <p:nvPr/>
        </p:nvSpPr>
        <p:spPr>
          <a:xfrm>
            <a:off x="6318850" y="2202300"/>
            <a:ext cx="2621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 dirty="0">
                <a:solidFill>
                  <a:schemeClr val="dk2"/>
                </a:solidFill>
                <a:latin typeface="+mn-lt"/>
              </a:rPr>
              <a:t>OTA must be tuned more</a:t>
            </a:r>
            <a:endParaRPr sz="1800" dirty="0">
              <a:solidFill>
                <a:schemeClr val="dk2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+mn-lt"/>
              </a:rPr>
              <a:t>Integrator</a:t>
            </a:r>
            <a:endParaRPr sz="2400" dirty="0">
              <a:latin typeface="+mn-lt"/>
            </a:endParaRPr>
          </a:p>
        </p:txBody>
      </p:sp>
      <p:pic>
        <p:nvPicPr>
          <p:cNvPr id="149" name="Google Shape;14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150" y="1170125"/>
            <a:ext cx="4406500" cy="344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6450" y="1343300"/>
            <a:ext cx="4031850" cy="2580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4"/>
          <p:cNvPicPr preferRelativeResize="0"/>
          <p:nvPr/>
        </p:nvPicPr>
        <p:blipFill rotWithShape="1">
          <a:blip r:embed="rId3">
            <a:alphaModFix/>
          </a:blip>
          <a:srcRect l="50000" r="6792"/>
          <a:stretch/>
        </p:blipFill>
        <p:spPr>
          <a:xfrm>
            <a:off x="538125" y="2694650"/>
            <a:ext cx="2552100" cy="219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4"/>
          <p:cNvPicPr preferRelativeResize="0"/>
          <p:nvPr/>
        </p:nvPicPr>
        <p:blipFill rotWithShape="1">
          <a:blip r:embed="rId3">
            <a:alphaModFix/>
          </a:blip>
          <a:srcRect r="56792"/>
          <a:stretch/>
        </p:blipFill>
        <p:spPr>
          <a:xfrm>
            <a:off x="500250" y="345275"/>
            <a:ext cx="2627850" cy="226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4"/>
          <p:cNvPicPr preferRelativeResize="0"/>
          <p:nvPr/>
        </p:nvPicPr>
        <p:blipFill rotWithShape="1">
          <a:blip r:embed="rId4">
            <a:alphaModFix/>
          </a:blip>
          <a:srcRect l="-990" r="990"/>
          <a:stretch/>
        </p:blipFill>
        <p:spPr>
          <a:xfrm>
            <a:off x="3336800" y="433825"/>
            <a:ext cx="5473049" cy="405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4"/>
          <p:cNvPicPr preferRelativeResize="0"/>
          <p:nvPr/>
        </p:nvPicPr>
        <p:blipFill rotWithShape="1">
          <a:blip r:embed="rId4">
            <a:alphaModFix/>
          </a:blip>
          <a:srcRect l="4258" t="94739" r="81599" b="2513"/>
          <a:stretch/>
        </p:blipFill>
        <p:spPr>
          <a:xfrm>
            <a:off x="5592725" y="487500"/>
            <a:ext cx="774025" cy="11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4"/>
          <p:cNvSpPr txBox="1"/>
          <p:nvPr/>
        </p:nvSpPr>
        <p:spPr>
          <a:xfrm>
            <a:off x="5508525" y="345275"/>
            <a:ext cx="3606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88888"/>
                </a:solidFill>
                <a:latin typeface="+mn-lt"/>
                <a:ea typeface="Lato"/>
                <a:cs typeface="Lato"/>
                <a:sym typeface="Lato"/>
              </a:rPr>
              <a:t>rst</a:t>
            </a:r>
            <a:endParaRPr sz="1000">
              <a:solidFill>
                <a:srgbClr val="888888"/>
              </a:solidFill>
              <a:latin typeface="+mn-lt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>
            <a:spLocks noGrp="1"/>
          </p:cNvSpPr>
          <p:nvPr>
            <p:ph type="title"/>
          </p:nvPr>
        </p:nvSpPr>
        <p:spPr>
          <a:xfrm>
            <a:off x="311700" y="330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+mn-lt"/>
              </a:rPr>
              <a:t>VTC Schematic</a:t>
            </a:r>
            <a:endParaRPr sz="2400" dirty="0">
              <a:latin typeface="+mn-lt"/>
            </a:endParaRPr>
          </a:p>
        </p:txBody>
      </p:sp>
      <p:sp>
        <p:nvSpPr>
          <p:cNvPr id="165" name="Google Shape;165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lt"/>
            </a:endParaRPr>
          </a:p>
        </p:txBody>
      </p:sp>
      <p:pic>
        <p:nvPicPr>
          <p:cNvPr id="166" name="Google Shape;16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200" y="957662"/>
            <a:ext cx="8565601" cy="3563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+mn-lt"/>
              </a:rPr>
              <a:t>VTC Results</a:t>
            </a:r>
            <a:endParaRPr sz="2400">
              <a:latin typeface="+mn-lt"/>
            </a:endParaRPr>
          </a:p>
        </p:txBody>
      </p:sp>
      <p:sp>
        <p:nvSpPr>
          <p:cNvPr id="172" name="Google Shape;172;p26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4179300" cy="180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latin typeface="+mn-lt"/>
              </a:rPr>
              <a:t>Still need to fine tune delays</a:t>
            </a:r>
            <a:endParaRPr dirty="0">
              <a:latin typeface="+mn-l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latin typeface="+mn-lt"/>
              </a:rPr>
              <a:t>Make it more linear</a:t>
            </a:r>
            <a:endParaRPr dirty="0">
              <a:latin typeface="+mn-lt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>
                <a:latin typeface="+mn-lt"/>
              </a:rPr>
              <a:t>100ps to 30ps pulse widths</a:t>
            </a:r>
            <a:endParaRPr dirty="0">
              <a:latin typeface="+mn-l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latin typeface="+mn-lt"/>
              </a:rPr>
              <a:t>Need 256 delays for 8 bit conversion</a:t>
            </a:r>
            <a:endParaRPr dirty="0">
              <a:latin typeface="+mn-lt"/>
            </a:endParaRPr>
          </a:p>
        </p:txBody>
      </p:sp>
      <p:pic>
        <p:nvPicPr>
          <p:cNvPr id="173" name="Google Shape;17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3925" y="576975"/>
            <a:ext cx="3970150" cy="1994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8500" y="2788912"/>
            <a:ext cx="3970150" cy="1996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0400" y="2788901"/>
            <a:ext cx="3801902" cy="191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2" name="Google Shape;182;p27" title="Screenshot 2026-07-05 at 12.53.0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9623"/>
            <a:ext cx="9144003" cy="4603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8" title="Screenshot 2026-07-05 at 12.53.5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93974"/>
            <a:ext cx="9144003" cy="3670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9" title="Screenshot 2026-07-05 at 12.55.23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150" y="335537"/>
            <a:ext cx="7896177" cy="447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0"/>
          <p:cNvSpPr txBox="1"/>
          <p:nvPr/>
        </p:nvSpPr>
        <p:spPr>
          <a:xfrm>
            <a:off x="323750" y="466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+mn-lt"/>
              </a:rPr>
              <a:t>Simulation Result</a:t>
            </a:r>
            <a:endParaRPr b="1" dirty="0">
              <a:latin typeface="+mn-lt"/>
            </a:endParaRPr>
          </a:p>
        </p:txBody>
      </p:sp>
      <p:sp>
        <p:nvSpPr>
          <p:cNvPr id="198" name="Google Shape;198;p30"/>
          <p:cNvSpPr txBox="1"/>
          <p:nvPr/>
        </p:nvSpPr>
        <p:spPr>
          <a:xfrm>
            <a:off x="3311850" y="393275"/>
            <a:ext cx="5673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  <a:highlight>
                  <a:schemeClr val="lt1"/>
                </a:highlight>
              </a:rPr>
              <a:t>Improvement could be made by voting filter and adjusting amp ratio for better resolution</a:t>
            </a:r>
            <a:endParaRPr sz="1600" dirty="0"/>
          </a:p>
        </p:txBody>
      </p:sp>
      <p:pic>
        <p:nvPicPr>
          <p:cNvPr id="199" name="Google Shape;19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600" y="1108325"/>
            <a:ext cx="7243124" cy="379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 txBox="1"/>
          <p:nvPr/>
        </p:nvSpPr>
        <p:spPr>
          <a:xfrm>
            <a:off x="323750" y="466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+mn-lt"/>
              </a:rPr>
              <a:t>Simulation Result</a:t>
            </a:r>
            <a:endParaRPr b="1" dirty="0">
              <a:latin typeface="+mn-lt"/>
            </a:endParaRPr>
          </a:p>
        </p:txBody>
      </p:sp>
      <p:pic>
        <p:nvPicPr>
          <p:cNvPr id="205" name="Google Shape;205;p31" title="Optical Probe Station Monte Carlo Simulation 2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425" y="1038750"/>
            <a:ext cx="7896000" cy="3799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1"/>
          <p:cNvSpPr txBox="1"/>
          <p:nvPr/>
        </p:nvSpPr>
        <p:spPr>
          <a:xfrm>
            <a:off x="3311850" y="393275"/>
            <a:ext cx="5673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  <a:highlight>
                  <a:schemeClr val="lt1"/>
                </a:highlight>
                <a:latin typeface="+mn-lt"/>
              </a:rPr>
              <a:t>Improvement could be made by voting filter and adjusting amp ratio for better resolution</a:t>
            </a:r>
            <a:endParaRPr sz="1600" dirty="0">
              <a:latin typeface="+mn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/>
          <p:cNvSpPr txBox="1"/>
          <p:nvPr/>
        </p:nvSpPr>
        <p:spPr>
          <a:xfrm>
            <a:off x="323750" y="466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+mn-lt"/>
              </a:rPr>
              <a:t>Question</a:t>
            </a:r>
            <a:endParaRPr b="1">
              <a:latin typeface="+mn-lt"/>
            </a:endParaRPr>
          </a:p>
        </p:txBody>
      </p:sp>
      <p:sp>
        <p:nvSpPr>
          <p:cNvPr id="212" name="Google Shape;212;p32"/>
          <p:cNvSpPr txBox="1"/>
          <p:nvPr/>
        </p:nvSpPr>
        <p:spPr>
          <a:xfrm>
            <a:off x="311700" y="1038750"/>
            <a:ext cx="8520600" cy="17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highlight>
                  <a:srgbClr val="FFFFFF"/>
                </a:highlight>
                <a:latin typeface="+mn-lt"/>
              </a:rPr>
              <a:t>1. </a:t>
            </a:r>
            <a:r>
              <a:rPr lang="en" dirty="0">
                <a:highlight>
                  <a:srgbClr val="FFFFFF"/>
                </a:highlight>
                <a:latin typeface="+mn-lt"/>
              </a:rPr>
              <a:t>Should we bundle readout intensity with wave mixer error for synchronous digital reporting, or maintain isolated asynchronous paths in analog?</a:t>
            </a:r>
            <a:br>
              <a:rPr lang="en" dirty="0">
                <a:highlight>
                  <a:srgbClr val="FFFFFF"/>
                </a:highlight>
                <a:latin typeface="+mn-lt"/>
              </a:rPr>
            </a:br>
            <a:endParaRPr dirty="0">
              <a:solidFill>
                <a:schemeClr val="dk1"/>
              </a:solidFill>
              <a:highlight>
                <a:schemeClr val="lt1"/>
              </a:highlight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highlight>
                  <a:schemeClr val="lt1"/>
                </a:highlight>
                <a:latin typeface="+mn-lt"/>
              </a:rPr>
              <a:t>2. </a:t>
            </a:r>
            <a:r>
              <a:rPr lang="en" dirty="0">
                <a:solidFill>
                  <a:schemeClr val="dk1"/>
                </a:solidFill>
                <a:highlight>
                  <a:schemeClr val="lt1"/>
                </a:highlight>
                <a:latin typeface="+mn-lt"/>
              </a:rPr>
              <a:t>How should we change the amp ratio? Should we use a switch to disable the readout and then change the analog setting?</a:t>
            </a:r>
            <a:endParaRPr dirty="0">
              <a:solidFill>
                <a:schemeClr val="dk1"/>
              </a:solidFill>
              <a:highlight>
                <a:schemeClr val="lt1"/>
              </a:highlight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highlight>
                <a:schemeClr val="lt1"/>
              </a:highlight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highlight>
                  <a:schemeClr val="lt1"/>
                </a:highlight>
                <a:latin typeface="+mn-lt"/>
              </a:rPr>
              <a:t>3. </a:t>
            </a:r>
            <a:r>
              <a:rPr lang="en" dirty="0">
                <a:solidFill>
                  <a:schemeClr val="dk1"/>
                </a:solidFill>
                <a:highlight>
                  <a:schemeClr val="lt1"/>
                </a:highlight>
                <a:latin typeface="+mn-lt"/>
              </a:rPr>
              <a:t>Feedback on the chip architect and state machine?</a:t>
            </a:r>
            <a:endParaRPr sz="1100" dirty="0">
              <a:solidFill>
                <a:srgbClr val="000000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3"/>
          <p:cNvSpPr txBox="1"/>
          <p:nvPr/>
        </p:nvSpPr>
        <p:spPr>
          <a:xfrm>
            <a:off x="323750" y="466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+mn-lt"/>
              </a:rPr>
              <a:t>References</a:t>
            </a:r>
            <a:endParaRPr b="1">
              <a:latin typeface="+mn-lt"/>
            </a:endParaRPr>
          </a:p>
        </p:txBody>
      </p:sp>
      <p:sp>
        <p:nvSpPr>
          <p:cNvPr id="218" name="Google Shape;218;p33"/>
          <p:cNvSpPr txBox="1"/>
          <p:nvPr/>
        </p:nvSpPr>
        <p:spPr>
          <a:xfrm>
            <a:off x="311700" y="1038750"/>
            <a:ext cx="8520600" cy="3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highlight>
                  <a:srgbClr val="FFFFFF"/>
                </a:highlight>
                <a:latin typeface="+mn-lt"/>
              </a:rPr>
              <a:t>[1]</a:t>
            </a:r>
            <a:r>
              <a:rPr lang="en" dirty="0">
                <a:highlight>
                  <a:srgbClr val="FFFFFF"/>
                </a:highlight>
                <a:latin typeface="+mn-lt"/>
              </a:rPr>
              <a:t>. H.-S. Liao *et al.*, "Low-cost, open-source XYZ nanopositioner for high-precision analytical applications," *HardwareX*, vol. 11, p. e00317, 2022. doi: [10.1016/j.ohx.2022.e00317](https://doi.org/10.1016/j.ohx.2022.e00317)</a:t>
            </a:r>
            <a:endParaRPr dirty="0">
              <a:highlight>
                <a:srgbClr val="FFFFFF"/>
              </a:highlight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highlight>
                <a:srgbClr val="FFFFFF"/>
              </a:highlight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highlight>
                  <a:srgbClr val="FFFFFF"/>
                </a:highlight>
                <a:latin typeface="+mn-lt"/>
              </a:rPr>
              <a:t>[2]</a:t>
            </a:r>
            <a:r>
              <a:rPr lang="en" dirty="0">
                <a:highlight>
                  <a:srgbClr val="FFFFFF"/>
                </a:highlight>
                <a:latin typeface="+mn-lt"/>
              </a:rPr>
              <a:t>. W.-M. Wang *et al.*, "Low-voltage and high-performance buzzer-scanner based streamlined atomic force microscope system," *Nanotechnology*, vol. 24, no. 45, p. 455503, Nov. 2013. doi: [10.1088/0957-4484/24/45/455503](https://doi.org/10.1088/0957-4484/24/45/455503)</a:t>
            </a:r>
            <a:endParaRPr dirty="0">
              <a:highlight>
                <a:srgbClr val="FFFFFF"/>
              </a:highlight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highlight>
                <a:srgbClr val="FFFFFF"/>
              </a:highlight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highlight>
                  <a:srgbClr val="FFFFFF"/>
                </a:highlight>
                <a:latin typeface="+mn-lt"/>
              </a:rPr>
              <a:t>[3]</a:t>
            </a:r>
            <a:r>
              <a:rPr lang="en" dirty="0">
                <a:highlight>
                  <a:srgbClr val="FFFFFF"/>
                </a:highlight>
                <a:latin typeface="+mn-lt"/>
              </a:rPr>
              <a:t>. Rout, Shasanka Sekhar, et al. "Design of 2.4 GHz Improved Current Reuse Gilbert Mixer with Source Degeneration Technique." Wireless Personal Communications, vol. 122, 2022, pp. 3875–3887, https://doi.org/10.1007/s11277-021-09115-6.</a:t>
            </a:r>
            <a:endParaRPr dirty="0">
              <a:highlight>
                <a:srgbClr val="FFFFFF"/>
              </a:highlight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highlight>
                <a:srgbClr val="FFFFFF"/>
              </a:highlight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highlight>
                  <a:srgbClr val="FFFFFF"/>
                </a:highlight>
                <a:latin typeface="+mn-lt"/>
              </a:rPr>
              <a:t>[4]</a:t>
            </a:r>
            <a:r>
              <a:rPr lang="en" dirty="0">
                <a:highlight>
                  <a:srgbClr val="FFFFFF"/>
                </a:highlight>
                <a:latin typeface="+mn-lt"/>
              </a:rPr>
              <a:t>. Altuner, Emre, et al. "High-Linearity Gilbert-Cell Mixer Design for Cryogenic Applications." Analog Integrated Circuits and Signal Processing, vol. 113, 2022, pp. 249–256, https://doi.org/10.1007/s10470-022-02098-9.</a:t>
            </a:r>
            <a:endParaRPr dirty="0">
              <a:highlight>
                <a:srgbClr val="FFFFFF"/>
              </a:highlight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ent Slid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717</Words>
  <Application>Microsoft Office PowerPoint</Application>
  <PresentationFormat>On-screen Show (16:9)</PresentationFormat>
  <Paragraphs>109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Merriweather Sans</vt:lpstr>
      <vt:lpstr>Tahoma</vt:lpstr>
      <vt:lpstr>Arial</vt:lpstr>
      <vt:lpstr>Calibri</vt:lpstr>
      <vt:lpstr>Noto Sans Symbols</vt:lpstr>
      <vt:lpstr>Content Slides</vt:lpstr>
      <vt:lpstr>B18 Probton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5T Operation Transconductance Amplifier</vt:lpstr>
      <vt:lpstr>PowerPoint Presentation</vt:lpstr>
      <vt:lpstr>Integrator</vt:lpstr>
      <vt:lpstr>PowerPoint Presentation</vt:lpstr>
      <vt:lpstr>VTC Schematic</vt:lpstr>
      <vt:lpstr>VTC Results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Tim Lam</cp:lastModifiedBy>
  <cp:revision>2</cp:revision>
  <dcterms:modified xsi:type="dcterms:W3CDTF">2026-07-05T06:31:45Z</dcterms:modified>
</cp:coreProperties>
</file>