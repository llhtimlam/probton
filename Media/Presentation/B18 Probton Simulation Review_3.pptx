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39"/>
  </p:notesMasterIdLst>
  <p:sldIdLst>
    <p:sldId id="256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62" r:id="rId11"/>
    <p:sldId id="270" r:id="rId12"/>
    <p:sldId id="292" r:id="rId13"/>
    <p:sldId id="293" r:id="rId14"/>
    <p:sldId id="294" r:id="rId15"/>
    <p:sldId id="295" r:id="rId16"/>
    <p:sldId id="296" r:id="rId17"/>
    <p:sldId id="282" r:id="rId18"/>
    <p:sldId id="271" r:id="rId19"/>
    <p:sldId id="297" r:id="rId20"/>
    <p:sldId id="298" r:id="rId21"/>
    <p:sldId id="299" r:id="rId22"/>
    <p:sldId id="283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58" r:id="rId38"/>
  </p:sldIdLst>
  <p:sldSz cx="9144000" cy="5143500" type="screen16x9"/>
  <p:notesSz cx="6858000" cy="9144000"/>
  <p:embeddedFontLst>
    <p:embeddedFont>
      <p:font typeface="Microsoft JhengHei" panose="020B0604030504040204" pitchFamily="34" charset="-120"/>
      <p:regular r:id="rId40"/>
      <p:bold r:id="rId41"/>
    </p:embeddedFont>
    <p:embeddedFont>
      <p:font typeface="Merriweather Sans" pitchFamily="2" charset="0"/>
      <p:regular r:id="rId42"/>
      <p:bold r:id="rId43"/>
      <p:italic r:id="rId44"/>
      <p:boldItalic r:id="rId45"/>
    </p:embeddedFont>
    <p:embeddedFont>
      <p:font typeface="Tahoma" panose="020B0604030504040204" pitchFamily="3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1308E2-A4B4-4398-98B5-A0BB169FEA00}">
  <a:tblStyle styleId="{1F1308E2-A4B4-4398-98B5-A0BB169FEA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757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51b61f2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51b61f2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51b61f20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51b61f20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54362f0d0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f54362f0d0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54362f0d0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54362f0d0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51b61f20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51b61f20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51b61f20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f51b61f20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54362f0d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f54362f0d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54362f0d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54362f0d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c6274e50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6c6274e50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c6274e50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6c6274e50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51b61f20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f51b61f20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54362f0d0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54362f0d0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51b61f20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f51b61f20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53ea8a7d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f53ea8a7d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53ea8a7d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53ea8a7d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6c6274e50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6c6274e50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6c6274e50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6c6274e50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51b61f20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f51b61f205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3addccb70_6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f3addccb70_6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3addccb70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3addccb70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c6274e50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6c6274e50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526eead26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f526eead26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51b61f20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f51b61f20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6789ed2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f6789ed29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6789ed29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f6789ed29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57b69f1a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f57b69f1a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51b61f205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f51b61f205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535df15a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f535df15a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57b69f1ab_2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f57b69f1ab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57b69f1ab_2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3f57b69f1ab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51b61f205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f51b61f205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51b61f205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f51b61f205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54362f0d0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f54362f0d0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54362f0d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f54362f0d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f51b61f205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f51b61f205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eb8d46f5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3eb8d46f5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OneColumnBullets">
  <p:cSld name="Content Slide_OneColumnBullet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97611" y="424066"/>
            <a:ext cx="85311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600"/>
              <a:buFont typeface="Calibri"/>
              <a:buNone/>
              <a:defRPr sz="2600" b="1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297611" y="978764"/>
            <a:ext cx="8531100" cy="3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Autofit/>
          </a:bodyPr>
          <a:lstStyle>
            <a:lvl1pPr marL="457200" marR="0" lvl="0" indent="-2857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Merriweather Sans"/>
              <a:buChar char="▶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Ref">
  <p:cSld name="Title and Content with Ref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95416" y="4505492"/>
            <a:ext cx="6162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1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/>
          <p:nvPr/>
        </p:nvSpPr>
        <p:spPr>
          <a:xfrm>
            <a:off x="1371600" y="4800600"/>
            <a:ext cx="6400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25" y="4819600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5750" y="4395100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OneColumnBullets">
  <p:cSld name="Content Slide_OneColumnBulle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ctrTitle"/>
          </p:nvPr>
        </p:nvSpPr>
        <p:spPr>
          <a:xfrm>
            <a:off x="297611" y="424066"/>
            <a:ext cx="85311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38575" rIns="38575" bIns="385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0"/>
              <a:buFont typeface="Calibri"/>
              <a:buNone/>
              <a:defRPr sz="2600" b="1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1"/>
          </p:nvPr>
        </p:nvSpPr>
        <p:spPr>
          <a:xfrm>
            <a:off x="297611" y="978764"/>
            <a:ext cx="8531100" cy="3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38575" rIns="38575" bIns="38575" anchor="t" anchorCtr="0">
            <a:noAutofit/>
          </a:bodyPr>
          <a:lstStyle>
            <a:lvl1pPr marL="457200" marR="0" lvl="0" indent="-273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66A1"/>
              </a:buClr>
              <a:buSzPts val="700"/>
              <a:buFont typeface="Merriweather Sans"/>
              <a:buChar char="▶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800"/>
              <a:buFont typeface="Noto Sans Symbols"/>
              <a:buChar char="▪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4"/>
          <p:cNvSpPr txBox="1"/>
          <p:nvPr/>
        </p:nvSpPr>
        <p:spPr>
          <a:xfrm>
            <a:off x="1371600" y="4800600"/>
            <a:ext cx="6400800" cy="284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700" rIns="51425" bIns="2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1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1" name="Google Shape;11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825" y="4819601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5750" y="4395101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gi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84909" y="4628375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" y="4457701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84909" y="4628375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" y="4457702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www.thorlabs.com/thorproduct.cfm?partnumber=FDSP62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htimlam/Probton/tree/main/src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llhtimlam/Probton/tree/main/cocotb/sim_build" TargetMode="External"/><Relationship Id="rId4" Type="http://schemas.openxmlformats.org/officeDocument/2006/relationships/hyperlink" Target="https://github.com/llhtimlam/Probton/tree/main/cocotb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60.png"/><Relationship Id="rId7" Type="http://schemas.openxmlformats.org/officeDocument/2006/relationships/image" Target="../media/image6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jpg"/><Relationship Id="rId11" Type="http://schemas.openxmlformats.org/officeDocument/2006/relationships/image" Target="../media/image68.png"/><Relationship Id="rId5" Type="http://schemas.openxmlformats.org/officeDocument/2006/relationships/image" Target="../media/image62.jpg"/><Relationship Id="rId10" Type="http://schemas.openxmlformats.org/officeDocument/2006/relationships/image" Target="../media/image67.png"/><Relationship Id="rId4" Type="http://schemas.openxmlformats.org/officeDocument/2006/relationships/image" Target="../media/image61.jpg"/><Relationship Id="rId9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>
            <a:spLocks noGrp="1"/>
          </p:cNvSpPr>
          <p:nvPr>
            <p:ph type="ctrTitle"/>
          </p:nvPr>
        </p:nvSpPr>
        <p:spPr>
          <a:xfrm>
            <a:off x="311700" y="250987"/>
            <a:ext cx="8520600" cy="104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B18 Probton</a:t>
            </a:r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1"/>
          </p:nvPr>
        </p:nvSpPr>
        <p:spPr>
          <a:xfrm>
            <a:off x="311700" y="1099964"/>
            <a:ext cx="8520600" cy="5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ASIC Solution for Optical Probe Station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24" name="Google Shape;124;p28"/>
          <p:cNvGraphicFramePr/>
          <p:nvPr/>
        </p:nvGraphicFramePr>
        <p:xfrm>
          <a:off x="723750" y="1617524"/>
          <a:ext cx="7364500" cy="3215310"/>
        </p:xfrm>
        <a:graphic>
          <a:graphicData uri="http://schemas.openxmlformats.org/drawingml/2006/table">
            <a:tbl>
              <a:tblPr>
                <a:noFill/>
                <a:tableStyleId>{1F1308E2-A4B4-4398-98B5-A0BB169FEA00}</a:tableStyleId>
              </a:tblPr>
              <a:tblGrid>
                <a:gridCol w="184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Discord name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Affiliation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Experience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Role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timlam0531</a:t>
                      </a:r>
                      <a:endParaRPr sz="700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HKUST, Hong Kong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Hobbyist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Team lead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abraaaar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Toronto Metropolitan University, Toronto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belkacem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of Tlemcen, Algeria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PhD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nitin_i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University of California, Santa Barbara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AMS Design Engineer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rezasetiabekti8375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College Dublin, Ireland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Master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ashmita1509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University College Dublin, Ireland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Master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vik_lyn_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University of Waterloo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anna_b75_06065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Hobbyist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CadMiuM#9906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HKUST, Hong Kong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Undergraduate student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Looking for members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dirty="0">
                          <a:solidFill>
                            <a:schemeClr val="dk1"/>
                          </a:solidFill>
                        </a:rPr>
                        <a:t>Mixed Signal</a:t>
                      </a:r>
                      <a:endParaRPr sz="7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5" name="Google Shape;125;p28"/>
          <p:cNvSpPr txBox="1"/>
          <p:nvPr/>
        </p:nvSpPr>
        <p:spPr>
          <a:xfrm>
            <a:off x="0" y="250975"/>
            <a:ext cx="23088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Review Date: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July 4, 2024</a:t>
            </a:r>
            <a:br>
              <a:rPr lang="en" sz="1200" dirty="0">
                <a:solidFill>
                  <a:schemeClr val="dk2"/>
                </a:solidFill>
              </a:rPr>
            </a:br>
            <a:r>
              <a:rPr lang="en" sz="1200" dirty="0">
                <a:solidFill>
                  <a:schemeClr val="dk2"/>
                </a:solidFill>
              </a:rPr>
              <a:t>Review Version:</a:t>
            </a:r>
            <a:endParaRPr sz="1200" dirty="0">
              <a:solidFill>
                <a:schemeClr val="dk2"/>
              </a:solidFill>
            </a:endParaRPr>
          </a:p>
          <a:p>
            <a:pPr lvl="0"/>
            <a:r>
              <a:rPr lang="en" sz="1200" dirty="0">
                <a:solidFill>
                  <a:schemeClr val="dk2"/>
                </a:solidFill>
              </a:rPr>
              <a:t>Schematic Review</a:t>
            </a:r>
            <a:br>
              <a:rPr lang="en" sz="1200" dirty="0">
                <a:solidFill>
                  <a:schemeClr val="dk2"/>
                </a:solidFill>
              </a:rPr>
            </a:br>
            <a:r>
              <a:rPr lang="en-CA" sz="1200" dirty="0">
                <a:solidFill>
                  <a:schemeClr val="dk2"/>
                </a:solidFill>
              </a:rPr>
              <a:t>Video (not updated): </a:t>
            </a:r>
            <a:r>
              <a:rPr lang="en" sz="1200" dirty="0">
                <a:solidFill>
                  <a:schemeClr val="dk2"/>
                </a:solidFill>
              </a:rPr>
              <a:t> https://youtu.be/nWU8KJn_Hf8</a:t>
            </a:r>
            <a:endParaRPr sz="12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7"/>
          <p:cNvSpPr txBox="1"/>
          <p:nvPr/>
        </p:nvSpPr>
        <p:spPr>
          <a:xfrm>
            <a:off x="150851" y="284725"/>
            <a:ext cx="306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Design Objective:</a:t>
            </a:r>
            <a:endParaRPr sz="1100" b="1"/>
          </a:p>
        </p:txBody>
      </p:sp>
      <p:sp>
        <p:nvSpPr>
          <p:cNvPr id="381" name="Google Shape;381;p57"/>
          <p:cNvSpPr txBox="1"/>
          <p:nvPr/>
        </p:nvSpPr>
        <p:spPr>
          <a:xfrm>
            <a:off x="150850" y="674600"/>
            <a:ext cx="41409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Extract alignment direction using voting filter while automatically isolating and discarding corrupt signal data.</a:t>
            </a:r>
            <a:endParaRPr sz="1600"/>
          </a:p>
        </p:txBody>
      </p:sp>
      <p:sp>
        <p:nvSpPr>
          <p:cNvPr id="382" name="Google Shape;382;p57"/>
          <p:cNvSpPr txBox="1"/>
          <p:nvPr/>
        </p:nvSpPr>
        <p:spPr>
          <a:xfrm>
            <a:off x="682427" y="3186900"/>
            <a:ext cx="2391300" cy="1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</a:t>
            </a:r>
            <a:r>
              <a:rPr lang="en" sz="1100" b="0" i="0" u="sng" strike="noStrike" cap="non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https://doi.org/10.1016/j.ohx.2022.e00317</a:t>
            </a:r>
            <a:endParaRPr sz="700"/>
          </a:p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Specifications: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Sensitivity: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25.0 nm/V 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Resolution: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Backlash: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 – 195 nm </a:t>
            </a:r>
            <a:endParaRPr sz="700"/>
          </a:p>
          <a:p>
            <a:pPr marL="203200" marR="0" lvl="1" indent="-9525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error: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~ 7%</a:t>
            </a:r>
            <a:endParaRPr sz="700"/>
          </a:p>
        </p:txBody>
      </p:sp>
      <p:grpSp>
        <p:nvGrpSpPr>
          <p:cNvPr id="383" name="Google Shape;383;p57"/>
          <p:cNvGrpSpPr/>
          <p:nvPr/>
        </p:nvGrpSpPr>
        <p:grpSpPr>
          <a:xfrm>
            <a:off x="1070225" y="1731437"/>
            <a:ext cx="1388371" cy="1388358"/>
            <a:chOff x="0" y="0"/>
            <a:chExt cx="4595734" cy="4595689"/>
          </a:xfrm>
        </p:grpSpPr>
        <p:grpSp>
          <p:nvGrpSpPr>
            <p:cNvPr id="384" name="Google Shape;384;p57"/>
            <p:cNvGrpSpPr/>
            <p:nvPr/>
          </p:nvGrpSpPr>
          <p:grpSpPr>
            <a:xfrm>
              <a:off x="0" y="0"/>
              <a:ext cx="4595734" cy="4595689"/>
              <a:chOff x="0" y="0"/>
              <a:chExt cx="812800" cy="812792"/>
            </a:xfrm>
          </p:grpSpPr>
          <p:sp>
            <p:nvSpPr>
              <p:cNvPr id="385" name="Google Shape;385;p57"/>
              <p:cNvSpPr/>
              <p:nvPr/>
            </p:nvSpPr>
            <p:spPr>
              <a:xfrm>
                <a:off x="0" y="0"/>
                <a:ext cx="812800" cy="81279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792" extrusionOk="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36850" tIns="36850" rIns="36850" bIns="36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57"/>
              <p:cNvSpPr txBox="1"/>
              <p:nvPr/>
            </p:nvSpPr>
            <p:spPr>
              <a:xfrm>
                <a:off x="76200" y="38099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325" tIns="17325" rIns="17325" bIns="17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25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7" name="Google Shape;387;p57"/>
            <p:cNvSpPr/>
            <p:nvPr/>
          </p:nvSpPr>
          <p:spPr>
            <a:xfrm>
              <a:off x="468334" y="1393903"/>
              <a:ext cx="3662355" cy="2461079"/>
            </a:xfrm>
            <a:custGeom>
              <a:avLst/>
              <a:gdLst/>
              <a:ahLst/>
              <a:cxnLst/>
              <a:rect l="l" t="t" r="r" b="b"/>
              <a:pathLst>
                <a:path w="4283456" h="2878455" extrusionOk="0">
                  <a:moveTo>
                    <a:pt x="600895" y="0"/>
                  </a:moveTo>
                  <a:lnTo>
                    <a:pt x="3682560" y="0"/>
                  </a:lnTo>
                  <a:cubicBezTo>
                    <a:pt x="4014426" y="0"/>
                    <a:pt x="4283456" y="269030"/>
                    <a:pt x="4283456" y="600895"/>
                  </a:cubicBezTo>
                  <a:lnTo>
                    <a:pt x="4283456" y="2277559"/>
                  </a:lnTo>
                  <a:cubicBezTo>
                    <a:pt x="4283456" y="2436927"/>
                    <a:pt x="4220147" y="2589767"/>
                    <a:pt x="4107458" y="2702457"/>
                  </a:cubicBezTo>
                  <a:cubicBezTo>
                    <a:pt x="3994768" y="2815147"/>
                    <a:pt x="3841928" y="2878455"/>
                    <a:pt x="3682560" y="2878455"/>
                  </a:cubicBezTo>
                  <a:lnTo>
                    <a:pt x="600895" y="2878455"/>
                  </a:lnTo>
                  <a:cubicBezTo>
                    <a:pt x="269030" y="2878455"/>
                    <a:pt x="0" y="2609425"/>
                    <a:pt x="0" y="2277559"/>
                  </a:cubicBezTo>
                  <a:lnTo>
                    <a:pt x="0" y="600895"/>
                  </a:lnTo>
                  <a:cubicBezTo>
                    <a:pt x="0" y="269030"/>
                    <a:pt x="269030" y="0"/>
                    <a:pt x="600895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36850" tIns="36850" rIns="36850" bIns="36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7"/>
            <p:cNvSpPr txBox="1"/>
            <p:nvPr/>
          </p:nvSpPr>
          <p:spPr>
            <a:xfrm>
              <a:off x="1081486" y="725258"/>
              <a:ext cx="28014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4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XY-Stage [1]</a:t>
              </a:r>
              <a:endParaRPr sz="564"/>
            </a:p>
          </p:txBody>
        </p:sp>
      </p:grpSp>
      <p:sp>
        <p:nvSpPr>
          <p:cNvPr id="389" name="Google Shape;389;p57"/>
          <p:cNvSpPr txBox="1"/>
          <p:nvPr/>
        </p:nvSpPr>
        <p:spPr>
          <a:xfrm>
            <a:off x="4227124" y="2529707"/>
            <a:ext cx="9183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Photodetector</a:t>
            </a:r>
            <a:endParaRPr sz="493"/>
          </a:p>
        </p:txBody>
      </p:sp>
      <p:sp>
        <p:nvSpPr>
          <p:cNvPr id="390" name="Google Shape;390;p57"/>
          <p:cNvSpPr txBox="1"/>
          <p:nvPr/>
        </p:nvSpPr>
        <p:spPr>
          <a:xfrm>
            <a:off x="4084416" y="2650567"/>
            <a:ext cx="1146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Thorlabs FDSP625 Pigtailed Si Photodiode</a:t>
            </a:r>
            <a:endParaRPr sz="523"/>
          </a:p>
        </p:txBody>
      </p:sp>
      <p:sp>
        <p:nvSpPr>
          <p:cNvPr id="391" name="Google Shape;391;p57"/>
          <p:cNvSpPr txBox="1"/>
          <p:nvPr/>
        </p:nvSpPr>
        <p:spPr>
          <a:xfrm>
            <a:off x="3332050" y="3187275"/>
            <a:ext cx="24816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</a:t>
            </a:r>
            <a:r>
              <a:rPr lang="en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https://www.thorlabs.com/thorproduct.cfm?partnumber=FDSP625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Specifications: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Spectral Band: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320 nm to 1000 nm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 Speed: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700 ps rise/fall time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Noise: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0.01 nA dark current</a:t>
            </a:r>
            <a:endParaRPr sz="700"/>
          </a:p>
        </p:txBody>
      </p:sp>
      <p:sp>
        <p:nvSpPr>
          <p:cNvPr id="392" name="Google Shape;392;p57"/>
          <p:cNvSpPr txBox="1"/>
          <p:nvPr/>
        </p:nvSpPr>
        <p:spPr>
          <a:xfrm>
            <a:off x="6222700" y="3186901"/>
            <a:ext cx="24375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Link: 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sng" strike="noStrike" cap="non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https://doi.org/10.1088/0957-4484/24/45/455503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Specifications: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XY Range: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µm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Nonlinearity: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2.11% X / 2.73% Y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Noise / Resolution: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~0.06 nm </a:t>
            </a:r>
            <a:endParaRPr sz="700"/>
          </a:p>
          <a:p>
            <a:pPr marL="203200" marR="0" lvl="1" indent="-952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Resonance: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~360 Hz (X/Y)</a:t>
            </a:r>
            <a:endParaRPr sz="700"/>
          </a:p>
        </p:txBody>
      </p:sp>
      <p:grpSp>
        <p:nvGrpSpPr>
          <p:cNvPr id="393" name="Google Shape;393;p57"/>
          <p:cNvGrpSpPr/>
          <p:nvPr/>
        </p:nvGrpSpPr>
        <p:grpSpPr>
          <a:xfrm>
            <a:off x="6747003" y="1731411"/>
            <a:ext cx="1388885" cy="1388398"/>
            <a:chOff x="0" y="0"/>
            <a:chExt cx="4735373" cy="4735326"/>
          </a:xfrm>
        </p:grpSpPr>
        <p:grpSp>
          <p:nvGrpSpPr>
            <p:cNvPr id="394" name="Google Shape;394;p57"/>
            <p:cNvGrpSpPr/>
            <p:nvPr/>
          </p:nvGrpSpPr>
          <p:grpSpPr>
            <a:xfrm>
              <a:off x="0" y="0"/>
              <a:ext cx="4735373" cy="4735326"/>
              <a:chOff x="0" y="0"/>
              <a:chExt cx="812800" cy="812792"/>
            </a:xfrm>
          </p:grpSpPr>
          <p:sp>
            <p:nvSpPr>
              <p:cNvPr id="395" name="Google Shape;395;p57"/>
              <p:cNvSpPr/>
              <p:nvPr/>
            </p:nvSpPr>
            <p:spPr>
              <a:xfrm>
                <a:off x="0" y="0"/>
                <a:ext cx="812800" cy="81279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792" extrusionOk="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90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35750" tIns="35750" rIns="35750" bIns="35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57"/>
              <p:cNvSpPr txBox="1"/>
              <p:nvPr/>
            </p:nvSpPr>
            <p:spPr>
              <a:xfrm>
                <a:off x="76200" y="28574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800" tIns="16800" rIns="16800" bIns="1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4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4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7" name="Google Shape;397;p57"/>
            <p:cNvSpPr/>
            <p:nvPr/>
          </p:nvSpPr>
          <p:spPr>
            <a:xfrm>
              <a:off x="1349045" y="2174804"/>
              <a:ext cx="2037309" cy="2194959"/>
            </a:xfrm>
            <a:custGeom>
              <a:avLst/>
              <a:gdLst/>
              <a:ahLst/>
              <a:cxnLst/>
              <a:rect l="l" t="t" r="r" b="b"/>
              <a:pathLst>
                <a:path w="2382817" h="2660556" extrusionOk="0">
                  <a:moveTo>
                    <a:pt x="0" y="0"/>
                  </a:moveTo>
                  <a:lnTo>
                    <a:pt x="2382816" y="0"/>
                  </a:lnTo>
                  <a:lnTo>
                    <a:pt x="2382816" y="2660556"/>
                  </a:lnTo>
                  <a:lnTo>
                    <a:pt x="0" y="2660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t="-5000"/>
              </a:stretch>
            </a:blip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8" name="Google Shape;398;p57"/>
            <p:cNvSpPr txBox="1"/>
            <p:nvPr/>
          </p:nvSpPr>
          <p:spPr>
            <a:xfrm>
              <a:off x="376450" y="220192"/>
              <a:ext cx="3982500" cy="181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MEMS </a:t>
              </a:r>
              <a:endParaRPr sz="547"/>
            </a:p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Actuator [2]</a:t>
              </a:r>
              <a:endParaRPr sz="547"/>
            </a:p>
            <a:p>
              <a:pPr marL="0" marR="0" lvl="0" indent="0" algn="ctr" rtl="0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1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7"/>
            <p:cNvSpPr txBox="1"/>
            <p:nvPr/>
          </p:nvSpPr>
          <p:spPr>
            <a:xfrm>
              <a:off x="376450" y="1208942"/>
              <a:ext cx="40926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Buzzer-Scanner (Wang et al. 2013)</a:t>
              </a:r>
              <a:endParaRPr sz="547"/>
            </a:p>
          </p:txBody>
        </p:sp>
      </p:grpSp>
      <p:grpSp>
        <p:nvGrpSpPr>
          <p:cNvPr id="400" name="Google Shape;400;p57"/>
          <p:cNvGrpSpPr/>
          <p:nvPr/>
        </p:nvGrpSpPr>
        <p:grpSpPr>
          <a:xfrm>
            <a:off x="3877627" y="1731437"/>
            <a:ext cx="1388750" cy="1388736"/>
            <a:chOff x="0" y="0"/>
            <a:chExt cx="812800" cy="812792"/>
          </a:xfrm>
        </p:grpSpPr>
        <p:sp>
          <p:nvSpPr>
            <p:cNvPr id="401" name="Google Shape;401;p57"/>
            <p:cNvSpPr/>
            <p:nvPr/>
          </p:nvSpPr>
          <p:spPr>
            <a:xfrm>
              <a:off x="0" y="0"/>
              <a:ext cx="812800" cy="812792"/>
            </a:xfrm>
            <a:custGeom>
              <a:avLst/>
              <a:gdLst/>
              <a:ahLst/>
              <a:cxnLst/>
              <a:rect l="l" t="t" r="r" b="b"/>
              <a:pathLst>
                <a:path w="812800" h="812792" extrusionOk="0">
                  <a:moveTo>
                    <a:pt x="406400" y="0"/>
                  </a:moveTo>
                  <a:cubicBezTo>
                    <a:pt x="181951" y="0"/>
                    <a:pt x="0" y="181950"/>
                    <a:pt x="0" y="406396"/>
                  </a:cubicBezTo>
                  <a:cubicBezTo>
                    <a:pt x="0" y="630842"/>
                    <a:pt x="181951" y="812792"/>
                    <a:pt x="406400" y="812792"/>
                  </a:cubicBezTo>
                  <a:cubicBezTo>
                    <a:pt x="630849" y="812792"/>
                    <a:pt x="812800" y="630842"/>
                    <a:pt x="812800" y="406396"/>
                  </a:cubicBezTo>
                  <a:cubicBezTo>
                    <a:pt x="812800" y="18195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49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35750" tIns="35750" rIns="35750" bIns="3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7"/>
            <p:cNvSpPr txBox="1"/>
            <p:nvPr/>
          </p:nvSpPr>
          <p:spPr>
            <a:xfrm>
              <a:off x="76200" y="28574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00" tIns="16800" rIns="16800" bIns="16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3" name="Google Shape;403;p57"/>
          <p:cNvSpPr/>
          <p:nvPr/>
        </p:nvSpPr>
        <p:spPr>
          <a:xfrm>
            <a:off x="4131005" y="2314516"/>
            <a:ext cx="880720" cy="645753"/>
          </a:xfrm>
          <a:custGeom>
            <a:avLst/>
            <a:gdLst/>
            <a:ahLst/>
            <a:cxnLst/>
            <a:rect l="l" t="t" r="r" b="b"/>
            <a:pathLst>
              <a:path w="2689221" h="1858282" extrusionOk="0">
                <a:moveTo>
                  <a:pt x="0" y="0"/>
                </a:moveTo>
                <a:lnTo>
                  <a:pt x="2689221" y="0"/>
                </a:lnTo>
                <a:lnTo>
                  <a:pt x="2689221" y="1858282"/>
                </a:lnTo>
                <a:lnTo>
                  <a:pt x="0" y="185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04" name="Google Shape;404;p57"/>
          <p:cNvSpPr txBox="1"/>
          <p:nvPr/>
        </p:nvSpPr>
        <p:spPr>
          <a:xfrm>
            <a:off x="4040221" y="1907967"/>
            <a:ext cx="10623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Photodetector</a:t>
            </a:r>
            <a:endParaRPr sz="570"/>
          </a:p>
        </p:txBody>
      </p:sp>
      <p:sp>
        <p:nvSpPr>
          <p:cNvPr id="405" name="Google Shape;405;p57"/>
          <p:cNvSpPr txBox="1"/>
          <p:nvPr/>
        </p:nvSpPr>
        <p:spPr>
          <a:xfrm>
            <a:off x="3984388" y="2098550"/>
            <a:ext cx="12003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Thorlabs FDSP625 Pigtailed Si Photodiode</a:t>
            </a:r>
            <a:endParaRPr sz="547"/>
          </a:p>
        </p:txBody>
      </p:sp>
      <p:sp>
        <p:nvSpPr>
          <p:cNvPr id="406" name="Google Shape;406;p57"/>
          <p:cNvSpPr txBox="1"/>
          <p:nvPr/>
        </p:nvSpPr>
        <p:spPr>
          <a:xfrm>
            <a:off x="4040225" y="350425"/>
            <a:ext cx="4830000" cy="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323242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8" b="1">
                <a:solidFill>
                  <a:schemeClr val="dk1"/>
                </a:solidFill>
              </a:rPr>
              <a:t>  Intended use:</a:t>
            </a:r>
            <a:endParaRPr sz="1508" b="1">
              <a:solidFill>
                <a:schemeClr val="dk1"/>
              </a:solidFill>
            </a:endParaRPr>
          </a:p>
          <a:p>
            <a:pPr marL="43099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7"/>
              <a:buFont typeface="Arial"/>
              <a:buNone/>
            </a:pPr>
            <a:r>
              <a:rPr lang="en" sz="1508">
                <a:solidFill>
                  <a:schemeClr val="dk1"/>
                </a:solidFill>
              </a:rPr>
              <a:t>Deliver low-latency direction indicators and signal intensity data to drive motorized alignment hardware.</a:t>
            </a:r>
            <a:endParaRPr sz="150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8"/>
          <p:cNvSpPr txBox="1"/>
          <p:nvPr/>
        </p:nvSpPr>
        <p:spPr>
          <a:xfrm>
            <a:off x="311700" y="259000"/>
            <a:ext cx="85206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Design Specification</a:t>
            </a:r>
            <a:endParaRPr b="1"/>
          </a:p>
        </p:txBody>
      </p:sp>
      <p:sp>
        <p:nvSpPr>
          <p:cNvPr id="412" name="Google Shape;412;p58"/>
          <p:cNvSpPr txBox="1"/>
          <p:nvPr/>
        </p:nvSpPr>
        <p:spPr>
          <a:xfrm>
            <a:off x="311700" y="889600"/>
            <a:ext cx="8520600" cy="40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5MHz clock speed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Raw readout: 700ps rise fall time, 1 μA - 40 μA, 3.5pF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Allowed MEMS frequency : 2.38 Hz ~ 156.24761 kHz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16 bit Frequency Control Word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21 bit Phase Accumulator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Low Frequency Filter ~160 kHz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Mems_drv compatible to control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External MEMS DAC Driver (±10V Triangular Wave)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Wave mixer and comparator able to operate at 1.65V midrail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to isolate sign of dc_offset for directional identification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System is able to identify real signal from noise and jittering is minimize during idle and calibration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13" name="Google Shape;41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550" y="1681336"/>
            <a:ext cx="2798758" cy="6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6450" y="2823627"/>
            <a:ext cx="2374074" cy="145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Decision - Simplify and Reduce to core function</a:t>
            </a:r>
            <a:endParaRPr b="1" dirty="0"/>
          </a:p>
        </p:txBody>
      </p:sp>
      <p:sp>
        <p:nvSpPr>
          <p:cNvPr id="420" name="Google Shape;420;p59"/>
          <p:cNvSpPr txBox="1"/>
          <p:nvPr/>
        </p:nvSpPr>
        <p:spPr>
          <a:xfrm>
            <a:off x="323750" y="1038750"/>
            <a:ext cx="5834700" cy="3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Based on Proposal Review Feedback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Skip unnecessary signal processing component that enhance accuracy of prediction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Removed: Integrator, Voltage to Time Converter, Time to Digital Converter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Report Wave Mixer Error as raw analog output for user reading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Remove XY Motion Control Interface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Extract and report low latency direction information as compass to alignment center based on dither motion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Simplify Digital Signal Processing to simple voting filter to discard false signal and remove 3-point Gaussian Area Algorithm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21" name="Google Shape;421;p59" title="Optical Probe Station Analog Design Do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850" y="1038750"/>
            <a:ext cx="2680750" cy="1788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9" title="Optical Probe Station Digital Design Doma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4650" y="2906609"/>
            <a:ext cx="2833151" cy="1609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9" title="Area Algorith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475" y="4264150"/>
            <a:ext cx="497205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0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System Overview - Block Diagram and Pin count</a:t>
            </a:r>
            <a:endParaRPr sz="2800"/>
          </a:p>
        </p:txBody>
      </p:sp>
      <p:sp>
        <p:nvSpPr>
          <p:cNvPr id="429" name="Google Shape;429;p60"/>
          <p:cNvSpPr txBox="1"/>
          <p:nvPr/>
        </p:nvSpPr>
        <p:spPr>
          <a:xfrm>
            <a:off x="323750" y="1038750"/>
            <a:ext cx="3431700" cy="3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State Control Mixed Signal System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Pin count (14)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Analog pin for readout (4)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SPI (4)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Custom Config,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User Command,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Status Report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Low latency feedback (4)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move_en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dir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ΔΣ Modulated Digital Wave (2)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mems_drv</a:t>
            </a:r>
            <a:endParaRPr sz="1600"/>
          </a:p>
        </p:txBody>
      </p:sp>
      <p:pic>
        <p:nvPicPr>
          <p:cNvPr id="430" name="Google Shape;430;p60" title="Optical Probe Station Chip Archit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850" y="1191150"/>
            <a:ext cx="5083751" cy="307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Overview - State Machine</a:t>
            </a:r>
            <a:endParaRPr b="1"/>
          </a:p>
        </p:txBody>
      </p:sp>
      <p:sp>
        <p:nvSpPr>
          <p:cNvPr id="436" name="Google Shape;436;p61"/>
          <p:cNvSpPr txBox="1"/>
          <p:nvPr/>
        </p:nvSpPr>
        <p:spPr>
          <a:xfrm>
            <a:off x="323750" y="1213400"/>
            <a:ext cx="26403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Boot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Load Config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Calibration (Optional)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Fallout (Optional)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Readout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Change Amp Ratio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37" name="Google Shape;437;p61" title="Optical Probe Station State Mach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325" y="1038750"/>
            <a:ext cx="5102676" cy="34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61"/>
          <p:cNvSpPr txBox="1"/>
          <p:nvPr/>
        </p:nvSpPr>
        <p:spPr>
          <a:xfrm>
            <a:off x="323750" y="2884700"/>
            <a:ext cx="4180200" cy="1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After Load Config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Split to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1. Calibration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(missing phase_offset from SPI import)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Enter Fallout after calibration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Reboot system and load phase_offset data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2. Readout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2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Overview - RTL Traffic</a:t>
            </a:r>
            <a:endParaRPr b="1"/>
          </a:p>
        </p:txBody>
      </p:sp>
      <p:sp>
        <p:nvSpPr>
          <p:cNvPr id="444" name="Google Shape;444;p62"/>
          <p:cNvSpPr txBox="1"/>
          <p:nvPr/>
        </p:nvSpPr>
        <p:spPr>
          <a:xfrm>
            <a:off x="323750" y="1213400"/>
            <a:ext cx="3717600" cy="26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Readout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Dynamic Comparator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Wave controller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1. Wave generation (Driver/Reference Wave)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- Sigma Delta Modulated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2. Calibration (Optional)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3. Latch pulse (90°/270°)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Signal processor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Output move_en, dir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45" name="Google Shape;445;p62"/>
          <p:cNvSpPr txBox="1"/>
          <p:nvPr/>
        </p:nvSpPr>
        <p:spPr>
          <a:xfrm>
            <a:off x="323750" y="3810000"/>
            <a:ext cx="41802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Intermediate RTL for SPI and handshake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High: 3.3V Low: 0V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Minimize Digital-Analog Crossing to avoid  switching noise and complexity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46" name="Google Shape;446;p62" title="Optical Probe Station RTL Traff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904" y="1038750"/>
            <a:ext cx="3528444" cy="34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3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Overview - Signal Processor</a:t>
            </a:r>
            <a:endParaRPr b="1"/>
          </a:p>
        </p:txBody>
      </p:sp>
      <p:sp>
        <p:nvSpPr>
          <p:cNvPr id="452" name="Google Shape;452;p63"/>
          <p:cNvSpPr txBox="1"/>
          <p:nvPr/>
        </p:nvSpPr>
        <p:spPr>
          <a:xfrm>
            <a:off x="323750" y="1213400"/>
            <a:ext cx="58347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Comparator set to baseline 1.65V midrail as dc_offset = 0 from wave mixer error output.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Comparator goes through rs latch and inverter to store its value, ready for digital domain to retrieve.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Data is accessed and latch every 90°/270° calibrated phase delay.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Data is filtered through 16 sample voting to reject noise and jitter, latch for low latency output 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323750" y="3473950"/>
            <a:ext cx="50322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In-phase: High on 0° - 180°, Low on 180° - 360°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Out-of-phase: Low on 0° - 180°, High on 180° - 360°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90° and 270° are the most stable point for latching and parsing comparator output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54" name="Google Shape;454;p63" title="Optical Probe Station Signal Process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477" y="1038750"/>
            <a:ext cx="2685876" cy="351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3075"/>
            <a:ext cx="8839201" cy="288154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RTL Traffic - Analog Domain</a:t>
            </a:r>
            <a:endParaRPr b="1" dirty="0"/>
          </a:p>
        </p:txBody>
      </p:sp>
      <p:sp>
        <p:nvSpPr>
          <p:cNvPr id="201" name="Google Shape;201;p34"/>
          <p:cNvSpPr txBox="1"/>
          <p:nvPr/>
        </p:nvSpPr>
        <p:spPr>
          <a:xfrm>
            <a:off x="1236975" y="1130975"/>
            <a:ext cx="17874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1. Readout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(180μm x 100μm)</a:t>
            </a:r>
            <a:endParaRPr sz="1600"/>
          </a:p>
        </p:txBody>
      </p:sp>
      <p:sp>
        <p:nvSpPr>
          <p:cNvPr id="202" name="Google Shape;202;p34"/>
          <p:cNvSpPr txBox="1"/>
          <p:nvPr/>
        </p:nvSpPr>
        <p:spPr>
          <a:xfrm>
            <a:off x="3798375" y="1130975"/>
            <a:ext cx="21927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2. Wave Mixer (X/Y)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(39.30μm x 55.99μm)</a:t>
            </a:r>
            <a:endParaRPr sz="1600"/>
          </a:p>
        </p:txBody>
      </p:sp>
      <p:sp>
        <p:nvSpPr>
          <p:cNvPr id="203" name="Google Shape;203;p34"/>
          <p:cNvSpPr txBox="1"/>
          <p:nvPr/>
        </p:nvSpPr>
        <p:spPr>
          <a:xfrm>
            <a:off x="6189650" y="1130975"/>
            <a:ext cx="21927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3. Comparator (X/Y)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(67.39μm x 53.38μm)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174" y="1144850"/>
            <a:ext cx="4896824" cy="37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2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RTL Traffic</a:t>
            </a:r>
            <a:r>
              <a:rPr lang="en" sz="2800"/>
              <a:t> - Analog Front End</a:t>
            </a:r>
            <a:endParaRPr b="1"/>
          </a:p>
        </p:txBody>
      </p:sp>
      <p:sp>
        <p:nvSpPr>
          <p:cNvPr id="267" name="Google Shape;267;p42"/>
          <p:cNvSpPr txBox="1"/>
          <p:nvPr/>
        </p:nvSpPr>
        <p:spPr>
          <a:xfrm>
            <a:off x="323750" y="1213400"/>
            <a:ext cx="3778800" cy="3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Schematic Completed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Layout still WiP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Reserved Area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(180μm x 100μm)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Readout input (South Center)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Transimpedance Amplifier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Band Pass Filter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Readout output (South Center)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Split to Wave Mixer (X/Y)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In symmetry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Analog Front End - Transimpedance Amplifier</a:t>
            </a:r>
            <a:endParaRPr sz="2400" dirty="0"/>
          </a:p>
        </p:txBody>
      </p:sp>
      <p:pic>
        <p:nvPicPr>
          <p:cNvPr id="460" name="Google Shape;46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350" y="1201425"/>
            <a:ext cx="3172452" cy="34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64"/>
          <p:cNvSpPr txBox="1">
            <a:spLocks noGrp="1"/>
          </p:cNvSpPr>
          <p:nvPr>
            <p:ph type="body" idx="1"/>
          </p:nvPr>
        </p:nvSpPr>
        <p:spPr>
          <a:xfrm>
            <a:off x="4542100" y="1984950"/>
            <a:ext cx="3009900" cy="11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 Low Enable signal disables current mirror and rest of amplifier, to be controlled by digital signal until config is complete,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5"/>
          <p:cNvSpPr txBox="1">
            <a:spLocks noGrp="1"/>
          </p:cNvSpPr>
          <p:nvPr>
            <p:ph type="title"/>
          </p:nvPr>
        </p:nvSpPr>
        <p:spPr>
          <a:xfrm>
            <a:off x="311700" y="290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Transimpedance Amplifier</a:t>
            </a:r>
            <a:endParaRPr sz="2400"/>
          </a:p>
        </p:txBody>
      </p:sp>
      <p:sp>
        <p:nvSpPr>
          <p:cNvPr id="467" name="Google Shape;467;p65"/>
          <p:cNvSpPr txBox="1"/>
          <p:nvPr/>
        </p:nvSpPr>
        <p:spPr>
          <a:xfrm>
            <a:off x="5656475" y="2400347"/>
            <a:ext cx="18549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88200" rIns="88200" bIns="88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43">
                <a:solidFill>
                  <a:schemeClr val="dk1"/>
                </a:solidFill>
                <a:highlight>
                  <a:schemeClr val="lt1"/>
                </a:highlight>
              </a:rPr>
              <a:t>Gain</a:t>
            </a:r>
            <a:endParaRPr sz="1543"/>
          </a:p>
        </p:txBody>
      </p:sp>
      <p:pic>
        <p:nvPicPr>
          <p:cNvPr id="468" name="Google Shape;4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432" y="1070575"/>
            <a:ext cx="4247043" cy="30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474" y="1070566"/>
            <a:ext cx="2045276" cy="1745046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5"/>
          <p:cNvSpPr txBox="1"/>
          <p:nvPr/>
        </p:nvSpPr>
        <p:spPr>
          <a:xfrm>
            <a:off x="5826634" y="2225654"/>
            <a:ext cx="18549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88200" rIns="88200" bIns="88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72">
                <a:solidFill>
                  <a:schemeClr val="dk1"/>
                </a:solidFill>
                <a:highlight>
                  <a:schemeClr val="lt1"/>
                </a:highlight>
              </a:rPr>
              <a:t>DC photodetector  current sweep </a:t>
            </a:r>
            <a:endParaRPr sz="772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72">
                <a:solidFill>
                  <a:schemeClr val="dk1"/>
                </a:solidFill>
                <a:highlight>
                  <a:schemeClr val="lt1"/>
                </a:highlight>
              </a:rPr>
              <a:t>1uA-40uA  linear response</a:t>
            </a:r>
            <a:endParaRPr sz="772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71" name="Google Shape;471;p65"/>
          <p:cNvPicPr preferRelativeResize="0"/>
          <p:nvPr/>
        </p:nvPicPr>
        <p:blipFill rotWithShape="1">
          <a:blip r:embed="rId5">
            <a:alphaModFix/>
          </a:blip>
          <a:srcRect t="1205"/>
          <a:stretch/>
        </p:blipFill>
        <p:spPr>
          <a:xfrm>
            <a:off x="6575525" y="2815600"/>
            <a:ext cx="2120275" cy="17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5"/>
          <p:cNvSpPr txBox="1"/>
          <p:nvPr/>
        </p:nvSpPr>
        <p:spPr>
          <a:xfrm>
            <a:off x="6789447" y="3827333"/>
            <a:ext cx="2331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50" tIns="93650" rIns="93650" bIns="93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  <a:t>Open Loop</a:t>
            </a:r>
            <a:b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  <a:t>1 Hz ~ 10MHz</a:t>
            </a:r>
            <a:b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819">
                <a:solidFill>
                  <a:schemeClr val="dk1"/>
                </a:solidFill>
                <a:highlight>
                  <a:schemeClr val="lt1"/>
                </a:highlight>
              </a:rPr>
              <a:t>Well covering target specs</a:t>
            </a:r>
            <a:endParaRPr sz="819"/>
          </a:p>
        </p:txBody>
      </p:sp>
      <p:pic>
        <p:nvPicPr>
          <p:cNvPr id="473" name="Google Shape;473;p65"/>
          <p:cNvPicPr preferRelativeResize="0"/>
          <p:nvPr/>
        </p:nvPicPr>
        <p:blipFill rotWithShape="1">
          <a:blip r:embed="rId6">
            <a:alphaModFix/>
          </a:blip>
          <a:srcRect t="4434"/>
          <a:stretch/>
        </p:blipFill>
        <p:spPr>
          <a:xfrm>
            <a:off x="4455250" y="2815604"/>
            <a:ext cx="2120275" cy="176202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5"/>
          <p:cNvSpPr txBox="1"/>
          <p:nvPr/>
        </p:nvSpPr>
        <p:spPr>
          <a:xfrm>
            <a:off x="2751675" y="3869650"/>
            <a:ext cx="22203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Transient Simulation @156kHz</a:t>
            </a:r>
            <a:endParaRPr sz="979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en" sz="979" baseline="-25000">
                <a:solidFill>
                  <a:schemeClr val="dk1"/>
                </a:solidFill>
                <a:highlight>
                  <a:schemeClr val="lt1"/>
                </a:highlight>
              </a:rPr>
              <a:t>IN</a:t>
            </a: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: 40uA DC, 4uA amplitude</a:t>
            </a:r>
            <a:endParaRPr sz="979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V</a:t>
            </a:r>
            <a:r>
              <a:rPr lang="en" sz="979" baseline="-25000">
                <a:solidFill>
                  <a:schemeClr val="dk1"/>
                </a:solidFill>
                <a:highlight>
                  <a:schemeClr val="lt1"/>
                </a:highlight>
              </a:rPr>
              <a:t>OUT</a:t>
            </a:r>
            <a:r>
              <a:rPr lang="en" sz="979">
                <a:solidFill>
                  <a:schemeClr val="dk1"/>
                </a:solidFill>
                <a:highlight>
                  <a:schemeClr val="lt1"/>
                </a:highlight>
              </a:rPr>
              <a:t> = 1.47V DC, 0.11V Vpp</a:t>
            </a:r>
            <a:endParaRPr sz="979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Two Integrator Loop G</a:t>
            </a:r>
            <a:r>
              <a:rPr lang="en" sz="2400" baseline="-25000"/>
              <a:t>m</a:t>
            </a:r>
            <a:r>
              <a:rPr lang="en" sz="2400"/>
              <a:t>-C BP + LP Filter</a:t>
            </a:r>
            <a:endParaRPr sz="2400"/>
          </a:p>
        </p:txBody>
      </p:sp>
      <p:pic>
        <p:nvPicPr>
          <p:cNvPr id="480" name="Google Shape;480;p66"/>
          <p:cNvPicPr preferRelativeResize="0"/>
          <p:nvPr/>
        </p:nvPicPr>
        <p:blipFill rotWithShape="1">
          <a:blip r:embed="rId3">
            <a:alphaModFix/>
          </a:blip>
          <a:srcRect t="47540" r="49653"/>
          <a:stretch/>
        </p:blipFill>
        <p:spPr>
          <a:xfrm>
            <a:off x="341875" y="1246046"/>
            <a:ext cx="3936825" cy="255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6"/>
          <p:cNvPicPr preferRelativeResize="0"/>
          <p:nvPr/>
        </p:nvPicPr>
        <p:blipFill rotWithShape="1">
          <a:blip r:embed="rId3">
            <a:alphaModFix/>
          </a:blip>
          <a:srcRect l="59940" t="1439" r="6765" b="53722"/>
          <a:stretch/>
        </p:blipFill>
        <p:spPr>
          <a:xfrm>
            <a:off x="4404375" y="1210850"/>
            <a:ext cx="2267575" cy="190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6"/>
          <p:cNvPicPr preferRelativeResize="0"/>
          <p:nvPr/>
        </p:nvPicPr>
        <p:blipFill rotWithShape="1">
          <a:blip r:embed="rId3">
            <a:alphaModFix/>
          </a:blip>
          <a:srcRect l="59567" t="52055" r="6544" b="2235"/>
          <a:stretch/>
        </p:blipFill>
        <p:spPr>
          <a:xfrm>
            <a:off x="6671949" y="1210850"/>
            <a:ext cx="2267575" cy="190376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6"/>
          <p:cNvSpPr txBox="1"/>
          <p:nvPr/>
        </p:nvSpPr>
        <p:spPr>
          <a:xfrm>
            <a:off x="4426050" y="32180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Designed for 156 kHz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Tunable for each allowed MEMS frequency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2 Hz ~ 156kHz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Analog Front End - Testbench of TIA + Bandpass Filter</a:t>
            </a:r>
            <a:endParaRPr sz="2400" dirty="0"/>
          </a:p>
        </p:txBody>
      </p:sp>
      <p:pic>
        <p:nvPicPr>
          <p:cNvPr id="489" name="Google Shape;48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75" y="1114100"/>
            <a:ext cx="6251899" cy="36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Analog Front End - 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TIA + Bandpass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Testbench</a:t>
            </a:r>
            <a:endParaRPr sz="2400"/>
          </a:p>
        </p:txBody>
      </p:sp>
      <p:pic>
        <p:nvPicPr>
          <p:cNvPr id="495" name="Google Shape;49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800" y="516014"/>
            <a:ext cx="5014499" cy="196318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68"/>
          <p:cNvSpPr txBox="1"/>
          <p:nvPr/>
        </p:nvSpPr>
        <p:spPr>
          <a:xfrm>
            <a:off x="311700" y="18637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Photodetector Sample Input: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40uA DC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4u amplitude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156kHz frequency vs 1MHz shows filtering, though output swing could be improved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497" name="Google Shape;49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7800" y="2372475"/>
            <a:ext cx="5014495" cy="20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2800" dirty="0"/>
              <a:t>Analog Front End - Full Simulation</a:t>
            </a:r>
            <a:endParaRPr b="1" dirty="0"/>
          </a:p>
        </p:txBody>
      </p:sp>
      <p:pic>
        <p:nvPicPr>
          <p:cNvPr id="351" name="Google Shape;35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697" y="1011600"/>
            <a:ext cx="1400301" cy="126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3700" y="2274625"/>
            <a:ext cx="1575524" cy="1326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3697" y="3601375"/>
            <a:ext cx="1509553" cy="126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011600"/>
            <a:ext cx="6212261" cy="41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3816750"/>
            <a:ext cx="3152412" cy="132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95575" y="3277175"/>
            <a:ext cx="1993549" cy="186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4"/>
          <p:cNvSpPr txBox="1"/>
          <p:nvPr/>
        </p:nvSpPr>
        <p:spPr>
          <a:xfrm>
            <a:off x="6212250" y="2661875"/>
            <a:ext cx="13485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Band Pass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Filter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58" name="Google Shape;358;p54"/>
          <p:cNvSpPr txBox="1"/>
          <p:nvPr/>
        </p:nvSpPr>
        <p:spPr>
          <a:xfrm>
            <a:off x="7796025" y="294900"/>
            <a:ext cx="12417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X: 300Hz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Y: 400Hz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59" name="Google Shape;359;p54"/>
          <p:cNvSpPr txBox="1"/>
          <p:nvPr/>
        </p:nvSpPr>
        <p:spPr>
          <a:xfrm>
            <a:off x="6582225" y="294900"/>
            <a:ext cx="11616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Readout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Oscillation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60" name="Google Shape;360;p54"/>
          <p:cNvSpPr txBox="1"/>
          <p:nvPr/>
        </p:nvSpPr>
        <p:spPr>
          <a:xfrm>
            <a:off x="1361350" y="1080979"/>
            <a:ext cx="1713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Band Pass Filter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61" name="Google Shape;361;p54"/>
          <p:cNvSpPr txBox="1"/>
          <p:nvPr/>
        </p:nvSpPr>
        <p:spPr>
          <a:xfrm>
            <a:off x="413275" y="1080979"/>
            <a:ext cx="579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TIA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RTL Traffic</a:t>
            </a:r>
            <a:r>
              <a:rPr lang="en" sz="2800"/>
              <a:t> - Wave Mixer &amp; Comparator</a:t>
            </a:r>
            <a:endParaRPr b="1"/>
          </a:p>
        </p:txBody>
      </p:sp>
      <p:sp>
        <p:nvSpPr>
          <p:cNvPr id="273" name="Google Shape;273;p43"/>
          <p:cNvSpPr txBox="1"/>
          <p:nvPr/>
        </p:nvSpPr>
        <p:spPr>
          <a:xfrm>
            <a:off x="304800" y="1176225"/>
            <a:ext cx="88392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Gilbert Cell → 2x 5T OTA → RC Filter → StrongArm Comparator → Inverter x2 → RS Latch → 2x Inverter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74" name="Google Shape;2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9613"/>
            <a:ext cx="8839201" cy="2955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" name="Google Shape;504;p69" title="Screenshot 2026-07-05 at 12.53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623"/>
            <a:ext cx="9144003" cy="4603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Mixer Schematic</a:t>
            </a:r>
            <a:endParaRPr/>
          </a:p>
        </p:txBody>
      </p:sp>
      <p:sp>
        <p:nvSpPr>
          <p:cNvPr id="510" name="Google Shape;510;p70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Standard gilbert cell mixer to the left and 5t ota to the bottom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5t ota buffer is needed to convert to single ended and add some gain</a:t>
            </a:r>
            <a:endParaRPr/>
          </a:p>
        </p:txBody>
      </p:sp>
      <p:pic>
        <p:nvPicPr>
          <p:cNvPr id="511" name="Google Shape;51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250" y="1017725"/>
            <a:ext cx="3740632" cy="39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325" y="2234044"/>
            <a:ext cx="3993576" cy="2774707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70"/>
          <p:cNvSpPr txBox="1"/>
          <p:nvPr/>
        </p:nvSpPr>
        <p:spPr>
          <a:xfrm>
            <a:off x="7141200" y="4177450"/>
            <a:ext cx="1691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5t OTA, current mirror attached to i_bias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Mixer Testbench</a:t>
            </a:r>
            <a:endParaRPr dirty="0"/>
          </a:p>
        </p:txBody>
      </p:sp>
      <p:sp>
        <p:nvSpPr>
          <p:cNvPr id="519" name="Google Shape;519;p71"/>
          <p:cNvSpPr txBox="1">
            <a:spLocks noGrp="1"/>
          </p:cNvSpPr>
          <p:nvPr>
            <p:ph type="body" idx="1"/>
          </p:nvPr>
        </p:nvSpPr>
        <p:spPr>
          <a:xfrm>
            <a:off x="6946150" y="1080450"/>
            <a:ext cx="1946400" cy="8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Resulting DC Output to Comparator for algorithm</a:t>
            </a:r>
            <a:endParaRPr/>
          </a:p>
        </p:txBody>
      </p:sp>
      <p:pic>
        <p:nvPicPr>
          <p:cNvPr id="520" name="Google Shape;52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13"/>
            <a:ext cx="6412400" cy="376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2200" y="2846600"/>
            <a:ext cx="3270350" cy="2063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" name="Google Shape;522;p71"/>
          <p:cNvCxnSpPr/>
          <p:nvPr/>
        </p:nvCxnSpPr>
        <p:spPr>
          <a:xfrm flipH="1">
            <a:off x="7773400" y="2791300"/>
            <a:ext cx="291900" cy="81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3" name="Google Shape;523;p71"/>
          <p:cNvSpPr txBox="1"/>
          <p:nvPr/>
        </p:nvSpPr>
        <p:spPr>
          <a:xfrm>
            <a:off x="7955850" y="2453375"/>
            <a:ext cx="8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312kHz</a:t>
            </a:r>
            <a:endParaRPr/>
          </a:p>
        </p:txBody>
      </p:sp>
      <p:cxnSp>
        <p:nvCxnSpPr>
          <p:cNvPr id="524" name="Google Shape;524;p71"/>
          <p:cNvCxnSpPr/>
          <p:nvPr/>
        </p:nvCxnSpPr>
        <p:spPr>
          <a:xfrm flipH="1">
            <a:off x="7018650" y="2411550"/>
            <a:ext cx="291900" cy="814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5" name="Google Shape;525;p71"/>
          <p:cNvSpPr txBox="1"/>
          <p:nvPr/>
        </p:nvSpPr>
        <p:spPr>
          <a:xfrm>
            <a:off x="7261900" y="2224725"/>
            <a:ext cx="8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156kHz</a:t>
            </a:r>
            <a:endParaRPr/>
          </a:p>
        </p:txBody>
      </p:sp>
      <p:cxnSp>
        <p:nvCxnSpPr>
          <p:cNvPr id="526" name="Google Shape;526;p71"/>
          <p:cNvCxnSpPr/>
          <p:nvPr/>
        </p:nvCxnSpPr>
        <p:spPr>
          <a:xfrm flipH="1">
            <a:off x="6453750" y="2292875"/>
            <a:ext cx="432000" cy="721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71"/>
          <p:cNvSpPr txBox="1"/>
          <p:nvPr/>
        </p:nvSpPr>
        <p:spPr>
          <a:xfrm>
            <a:off x="6734875" y="19579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5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2800" dirty="0">
                <a:solidFill>
                  <a:schemeClr val="dk1"/>
                </a:solidFill>
              </a:rPr>
              <a:t>Mixer Testbench with low pass filter </a:t>
            </a:r>
            <a:r>
              <a:rPr lang="en" dirty="0">
                <a:solidFill>
                  <a:schemeClr val="dk1"/>
                </a:solidFill>
              </a:rPr>
              <a:t>(fc = 302.80kHz)</a:t>
            </a:r>
            <a:endParaRPr b="1" dirty="0"/>
          </a:p>
        </p:txBody>
      </p:sp>
      <p:pic>
        <p:nvPicPr>
          <p:cNvPr id="367" name="Google Shape;36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50" y="1038750"/>
            <a:ext cx="8100896" cy="379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Comparator Schematic</a:t>
            </a:r>
            <a:endParaRPr/>
          </a:p>
        </p:txBody>
      </p:sp>
      <p:sp>
        <p:nvSpPr>
          <p:cNvPr id="533" name="Google Shape;533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4" name="Google Shape;53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0" y="1761650"/>
            <a:ext cx="5406675" cy="287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7800" y="1862301"/>
            <a:ext cx="3504549" cy="26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72"/>
          <p:cNvSpPr txBox="1"/>
          <p:nvPr/>
        </p:nvSpPr>
        <p:spPr>
          <a:xfrm>
            <a:off x="691288" y="1188950"/>
            <a:ext cx="414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Simple Strong Arm Latch Comparator</a:t>
            </a:r>
            <a:endParaRPr sz="1600"/>
          </a:p>
        </p:txBody>
      </p:sp>
      <p:sp>
        <p:nvSpPr>
          <p:cNvPr id="537" name="Google Shape;537;p72"/>
          <p:cNvSpPr txBox="1"/>
          <p:nvPr/>
        </p:nvSpPr>
        <p:spPr>
          <a:xfrm>
            <a:off x="5692122" y="1188950"/>
            <a:ext cx="325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Simple RS Latch for memory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Comparator Testbench</a:t>
            </a:r>
            <a:endParaRPr sz="2400"/>
          </a:p>
        </p:txBody>
      </p:sp>
      <p:pic>
        <p:nvPicPr>
          <p:cNvPr id="544" name="Google Shape;54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88" y="1085100"/>
            <a:ext cx="8087826" cy="355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491" y="1085100"/>
            <a:ext cx="3526434" cy="17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73"/>
          <p:cNvSpPr txBox="1"/>
          <p:nvPr/>
        </p:nvSpPr>
        <p:spPr>
          <a:xfrm>
            <a:off x="5887100" y="256175"/>
            <a:ext cx="26187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In_p: wave mixer output</a:t>
            </a:r>
            <a:b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In_n: dc offset (V mid rail)</a:t>
            </a:r>
            <a:b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</a:rPr>
              <a:t>Comp_out: digital interface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15200" cy="6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ignore density rules for all metals and poly and active layers for DRC</a:t>
            </a:r>
            <a:endParaRPr/>
          </a:p>
        </p:txBody>
      </p:sp>
      <p:sp>
        <p:nvSpPr>
          <p:cNvPr id="552" name="Google Shape;552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Comparator Layout DRC</a:t>
            </a:r>
            <a:endParaRPr sz="2400"/>
          </a:p>
        </p:txBody>
      </p:sp>
      <p:pic>
        <p:nvPicPr>
          <p:cNvPr id="553" name="Google Shape;55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423" y="1017726"/>
            <a:ext cx="5126200" cy="390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63" y="1868575"/>
            <a:ext cx="3625675" cy="29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15200" cy="6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ignore density rules for all metals and poly and active layers for DRC</a:t>
            </a:r>
            <a:endParaRPr/>
          </a:p>
        </p:txBody>
      </p:sp>
      <p:sp>
        <p:nvSpPr>
          <p:cNvPr id="560" name="Google Shape;560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Mixer Layout DRC</a:t>
            </a:r>
            <a:endParaRPr sz="2400"/>
          </a:p>
        </p:txBody>
      </p:sp>
      <p:pic>
        <p:nvPicPr>
          <p:cNvPr id="561" name="Google Shape;56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75" y="1873448"/>
            <a:ext cx="3613391" cy="29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9525" y="883825"/>
            <a:ext cx="5152500" cy="3988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Digital - Summary</a:t>
            </a:r>
            <a:endParaRPr sz="2400"/>
          </a:p>
        </p:txBody>
      </p:sp>
      <p:sp>
        <p:nvSpPr>
          <p:cNvPr id="568" name="Google Shape;568;p76"/>
          <p:cNvSpPr txBox="1"/>
          <p:nvPr/>
        </p:nvSpPr>
        <p:spPr>
          <a:xfrm>
            <a:off x="323750" y="1038750"/>
            <a:ext cx="4248300" cy="3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>
                <a:solidFill>
                  <a:schemeClr val="dk1"/>
                </a:solidFill>
              </a:rPr>
              <a:t>System Verlog Completed: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SPI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State Machine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Wave Controller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Signal Processor (100%)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>
                <a:solidFill>
                  <a:schemeClr val="dk1"/>
                </a:solidFill>
              </a:rPr>
              <a:t>Cocotb Tested: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SPI (90%)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State Machine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Wave Controller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Signal Processor (100%)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>
                <a:solidFill>
                  <a:schemeClr val="dk1"/>
                </a:solidFill>
              </a:rPr>
              <a:t>Gtkwave Timing Visualization: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SPI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State Machine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Wave Controller (100%)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Signal Processor (100%)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Underdevelopment: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Amp Ratio Adjuster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9" name="Google Shape;569;p76"/>
          <p:cNvSpPr txBox="1"/>
          <p:nvPr/>
        </p:nvSpPr>
        <p:spPr>
          <a:xfrm>
            <a:off x="5843125" y="1038750"/>
            <a:ext cx="3138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Links: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1. System Verilog HDL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Probton\src</a:t>
            </a:r>
            <a:br>
              <a:rPr lang="en">
                <a:solidFill>
                  <a:schemeClr val="dk1"/>
                </a:solidFill>
              </a:rPr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https://github.com/llhtimlam/Probton/tree/main/src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2. Cocotb Simulation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Probton\cocotb</a:t>
            </a:r>
            <a:br>
              <a:rPr lang="en">
                <a:solidFill>
                  <a:schemeClr val="dk1"/>
                </a:solidFill>
              </a:rPr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https://github.com/llhtimlam/Probton/tree/main/cocotb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3. Gtkwave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Probton\cocotb\sim_build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https://github.com/llhtimlam/Probton/tree/main/cocotb/sim_build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7"/>
          <p:cNvSpPr txBox="1">
            <a:spLocks noGrp="1"/>
          </p:cNvSpPr>
          <p:nvPr>
            <p:ph type="body" idx="1"/>
          </p:nvPr>
        </p:nvSpPr>
        <p:spPr>
          <a:xfrm>
            <a:off x="311700" y="3907600"/>
            <a:ext cx="8520600" cy="94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Boot -&gt; Load Config -&gt; Calibration -&gt; Fallout (cal_done or cal_timeout)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Boot -&gt; Load Config -&gt; Readout -&gt; Change Amp Ratio -&gt; Readout</a:t>
            </a:r>
            <a:b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Passed test on all transition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Digital - State Machine Simulation</a:t>
            </a:r>
            <a:endParaRPr sz="2400"/>
          </a:p>
        </p:txBody>
      </p:sp>
      <p:pic>
        <p:nvPicPr>
          <p:cNvPr id="576" name="Google Shape;57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7425"/>
            <a:ext cx="7606656" cy="258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8"/>
          <p:cNvSpPr txBox="1">
            <a:spLocks noGrp="1"/>
          </p:cNvSpPr>
          <p:nvPr>
            <p:ph type="body" idx="1"/>
          </p:nvPr>
        </p:nvSpPr>
        <p:spPr>
          <a:xfrm>
            <a:off x="311700" y="3616800"/>
            <a:ext cx="8520600" cy="9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 wave is generated for memes driver (expecting triangular wave but use sin wave due to third odd harmonic)</a:t>
            </a:r>
            <a:br>
              <a:rPr lang="en"/>
            </a:br>
            <a:r>
              <a:rPr lang="en"/>
              <a:t>Square wave is generated for wave mixer reference wave</a:t>
            </a:r>
            <a:br>
              <a:rPr lang="en"/>
            </a:br>
            <a:r>
              <a:rPr lang="en"/>
              <a:t>Utilized Sigma Delta Modulator for pwm wave generation</a:t>
            </a:r>
            <a:endParaRPr/>
          </a:p>
        </p:txBody>
      </p:sp>
      <p:sp>
        <p:nvSpPr>
          <p:cNvPr id="582" name="Google Shape;582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Digital - Wave Controller</a:t>
            </a:r>
            <a:endParaRPr sz="2400"/>
          </a:p>
        </p:txBody>
      </p:sp>
      <p:pic>
        <p:nvPicPr>
          <p:cNvPr id="583" name="Google Shape;58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150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9"/>
          <p:cNvSpPr txBox="1"/>
          <p:nvPr/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Calibration: Phase-Lag Capture with Jitter Rejection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79"/>
          <p:cNvSpPr txBox="1"/>
          <p:nvPr/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Jitter guard active</a:t>
            </a:r>
            <a:endParaRPr sz="1100"/>
          </a:p>
        </p:txBody>
      </p:sp>
      <p:sp>
        <p:nvSpPr>
          <p:cNvPr id="590" name="Google Shape;590;p79"/>
          <p:cNvSpPr txBox="1"/>
          <p:nvPr/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Early/invalid edges rejected (wave_is_valid=0)</a:t>
            </a:r>
            <a:endParaRPr sz="1100"/>
          </a:p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 re-arms, no offset committed</a:t>
            </a:r>
            <a:endParaRPr sz="1100"/>
          </a:p>
        </p:txBody>
      </p:sp>
      <p:sp>
        <p:nvSpPr>
          <p:cNvPr id="591" name="Google Shape;591;p79"/>
          <p:cNvSpPr txBox="1"/>
          <p:nvPr/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 Calibration</a:t>
            </a:r>
            <a:endParaRPr sz="1100"/>
          </a:p>
        </p:txBody>
      </p:sp>
      <p:sp>
        <p:nvSpPr>
          <p:cNvPr id="592" name="Google Shape;592;p79"/>
          <p:cNvSpPr txBox="1"/>
          <p:nvPr/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three edges captured (wave_is_valid=1)</a:t>
            </a:r>
            <a:endParaRPr sz="1100"/>
          </a:p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90°/270° offsets computed: ~523k / ~1573k in phase-accumulator units</a:t>
            </a:r>
            <a:endParaRPr sz="1100"/>
          </a:p>
        </p:txBody>
      </p:sp>
      <p:pic>
        <p:nvPicPr>
          <p:cNvPr id="593" name="Google Shape;593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2269" y="3128441"/>
            <a:ext cx="3221154" cy="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816" y="3128441"/>
            <a:ext cx="3582389" cy="754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0"/>
          <p:cNvSpPr txBox="1"/>
          <p:nvPr/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Readout: Phase-Sampling Strobes with Ack Handshake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80"/>
          <p:cNvSpPr txBox="1"/>
          <p:nvPr/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90° strobe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0"/>
          <p:cNvSpPr txBox="1"/>
          <p:nvPr/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Fires at phase_acc = 524288 (2²¹/4), held until ack, then cleared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80"/>
          <p:cNvSpPr txBox="1"/>
          <p:nvPr/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270° strobe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80"/>
          <p:cNvSpPr txBox="1"/>
          <p:nvPr/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Fires at phase_acc = 1572864 (3·2²¹/4), held until ack, then cleared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4" name="Google Shape;604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940" y="3042707"/>
            <a:ext cx="3628091" cy="92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3788" y="2981887"/>
            <a:ext cx="3941976" cy="986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1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Simulation Result</a:t>
            </a:r>
            <a:endParaRPr b="1"/>
          </a:p>
        </p:txBody>
      </p:sp>
      <p:sp>
        <p:nvSpPr>
          <p:cNvPr id="611" name="Google Shape;611;p81"/>
          <p:cNvSpPr txBox="1"/>
          <p:nvPr/>
        </p:nvSpPr>
        <p:spPr>
          <a:xfrm>
            <a:off x="3311850" y="393275"/>
            <a:ext cx="567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Improvement could be made by voting filter and adjusting amp ratio for better resolution</a:t>
            </a:r>
            <a:endParaRPr sz="1600"/>
          </a:p>
        </p:txBody>
      </p:sp>
      <p:pic>
        <p:nvPicPr>
          <p:cNvPr id="612" name="Google Shape;61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00" y="1108325"/>
            <a:ext cx="7243124" cy="37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81"/>
          <p:cNvSpPr txBox="1"/>
          <p:nvPr/>
        </p:nvSpPr>
        <p:spPr>
          <a:xfrm>
            <a:off x="7546725" y="1575300"/>
            <a:ext cx="1597200" cy="2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Just using the direction bit retrieved from the wave mixer, it is able to locate the center but converge too early.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2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Simulation Result</a:t>
            </a:r>
            <a:endParaRPr b="1"/>
          </a:p>
        </p:txBody>
      </p:sp>
      <p:pic>
        <p:nvPicPr>
          <p:cNvPr id="619" name="Google Shape;619;p82" title="Optical Probe Station Monte Carlo Simulation 2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25" y="1038750"/>
            <a:ext cx="7896000" cy="37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82"/>
          <p:cNvSpPr txBox="1"/>
          <p:nvPr/>
        </p:nvSpPr>
        <p:spPr>
          <a:xfrm>
            <a:off x="3311850" y="393275"/>
            <a:ext cx="567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Improvement could be made by voting filter and adjusting amp ratio for better resolution</a:t>
            </a:r>
            <a:endParaRPr sz="1600"/>
          </a:p>
        </p:txBody>
      </p:sp>
      <p:sp>
        <p:nvSpPr>
          <p:cNvPr id="621" name="Google Shape;621;p82"/>
          <p:cNvSpPr txBox="1"/>
          <p:nvPr/>
        </p:nvSpPr>
        <p:spPr>
          <a:xfrm>
            <a:off x="2051550" y="1980450"/>
            <a:ext cx="39198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Shows concentrated convergence result due to early converges and not able to identify the direction near peak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3"/>
          <p:cNvSpPr txBox="1"/>
          <p:nvPr/>
        </p:nvSpPr>
        <p:spPr>
          <a:xfrm>
            <a:off x="311700" y="364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Project Planning and Tracker</a:t>
            </a:r>
            <a:endParaRPr b="1"/>
          </a:p>
        </p:txBody>
      </p:sp>
      <p:pic>
        <p:nvPicPr>
          <p:cNvPr id="627" name="Google Shape;62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6975"/>
            <a:ext cx="8839204" cy="3793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4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Question</a:t>
            </a:r>
            <a:endParaRPr b="1"/>
          </a:p>
        </p:txBody>
      </p:sp>
      <p:sp>
        <p:nvSpPr>
          <p:cNvPr id="633" name="Google Shape;633;p84"/>
          <p:cNvSpPr txBox="1"/>
          <p:nvPr/>
        </p:nvSpPr>
        <p:spPr>
          <a:xfrm>
            <a:off x="311700" y="1038750"/>
            <a:ext cx="85206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highlight>
                  <a:srgbClr val="FFFFFF"/>
                </a:highlight>
              </a:rPr>
              <a:t>1. </a:t>
            </a:r>
            <a:r>
              <a:rPr lang="en">
                <a:highlight>
                  <a:srgbClr val="FFFFFF"/>
                </a:highlight>
              </a:rPr>
              <a:t>Should we bundle readout intensity with wave mixer error for synchronous digital reporting, or maintain isolated asynchronous paths in analog?</a:t>
            </a:r>
            <a:br>
              <a:rPr lang="en">
                <a:highlight>
                  <a:srgbClr val="FFFFFF"/>
                </a:highlight>
              </a:rPr>
            </a:b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2.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How should we change the amp ratio? Should we use a switch to disable the readout and then change the analog setting?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3.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Feedback on the chip architect and whole system?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634" name="Google Shape;634;p84"/>
          <p:cNvSpPr txBox="1"/>
          <p:nvPr/>
        </p:nvSpPr>
        <p:spPr>
          <a:xfrm>
            <a:off x="311700" y="26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Risk (Looking for advice)</a:t>
            </a:r>
            <a:endParaRPr b="1"/>
          </a:p>
        </p:txBody>
      </p:sp>
      <p:sp>
        <p:nvSpPr>
          <p:cNvPr id="635" name="Google Shape;635;p84"/>
          <p:cNvSpPr txBox="1"/>
          <p:nvPr/>
        </p:nvSpPr>
        <p:spPr>
          <a:xfrm>
            <a:off x="317725" y="3235125"/>
            <a:ext cx="85206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1.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Since we decided to skip PLL and use sigma delta modulated for digital wave generation using 8-bit sin LUT, there will be some issue with harmonic. Design solution with eternal RC or alternative wave mixer component that compatible with digital reference wave are considering.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2.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Amp Ratio Adjuster might be tricky as it need a lot of wires from digital side for switching resistor feedback.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chemeClr val="lt1"/>
                </a:highlight>
              </a:rPr>
              <a:t>2.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Since we only consider 1 comparator park at 1.65V midrail, it might suffer jittering during idle at 0 offset, which might skew the result from calibration. Hystereis design might be required.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5"/>
          <p:cNvSpPr txBox="1"/>
          <p:nvPr/>
        </p:nvSpPr>
        <p:spPr>
          <a:xfrm>
            <a:off x="323750" y="46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References</a:t>
            </a:r>
            <a:endParaRPr b="1"/>
          </a:p>
        </p:txBody>
      </p:sp>
      <p:sp>
        <p:nvSpPr>
          <p:cNvPr id="641" name="Google Shape;641;p85"/>
          <p:cNvSpPr txBox="1"/>
          <p:nvPr/>
        </p:nvSpPr>
        <p:spPr>
          <a:xfrm>
            <a:off x="311700" y="1038750"/>
            <a:ext cx="8520600" cy="3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highlight>
                  <a:srgbClr val="FFFFFF"/>
                </a:highlight>
              </a:rPr>
              <a:t>[1]</a:t>
            </a:r>
            <a:r>
              <a:rPr lang="en">
                <a:highlight>
                  <a:srgbClr val="FFFFFF"/>
                </a:highlight>
              </a:rPr>
              <a:t>. H.-S. Liao *et al.*, "Low-cost, open-source XYZ nanopositioner for high-precision analytical applications," *HardwareX*, vol. 11, p. e00317, 2022. doi: [10.1016/j.ohx.2022.e00317](https://doi.org/10.1016/j.ohx.2022.e00317)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highlight>
                  <a:srgbClr val="FFFFFF"/>
                </a:highlight>
              </a:rPr>
              <a:t>[2]</a:t>
            </a:r>
            <a:r>
              <a:rPr lang="en">
                <a:highlight>
                  <a:srgbClr val="FFFFFF"/>
                </a:highlight>
              </a:rPr>
              <a:t>. W.-M. Wang *et al.*, "Low-voltage and high-performance buzzer-scanner based streamlined atomic force microscope system," *Nanotechnology*, vol. 24, no. 45, p. 455503, Nov. 2013. doi: [10.1088/0957-4484/24/45/455503](https://doi.org/10.1088/0957-4484/24/45/455503)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highlight>
                  <a:srgbClr val="FFFFFF"/>
                </a:highlight>
              </a:rPr>
              <a:t>[3]</a:t>
            </a:r>
            <a:r>
              <a:rPr lang="en">
                <a:highlight>
                  <a:srgbClr val="FFFFFF"/>
                </a:highlight>
              </a:rPr>
              <a:t>. Rout, Shasanka Sekhar, et al. "Design of 2.4 GHz Improved Current Reuse Gilbert Mixer with Source Degeneration Technique." Wireless Personal Communications, vol. 122, 2022, pp. 3875–3887, https://doi.org/10.1007/s11277-021-09115-6.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highlight>
                  <a:srgbClr val="FFFFFF"/>
                </a:highlight>
              </a:rPr>
              <a:t>[4]</a:t>
            </a:r>
            <a:r>
              <a:rPr lang="en">
                <a:highlight>
                  <a:srgbClr val="FFFFFF"/>
                </a:highlight>
              </a:rPr>
              <a:t>. Altuner, Emre, et al. "High-Linearity Gilbert-Cell Mixer Design for Cryogenic Applications." Analog Integrated Circuits and Signal Processing, vol. 113, 2022, pp. 249–256, https://doi.org/10.1007/s10470-022-02098-9.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/>
          </a:p>
        </p:txBody>
      </p:sp>
      <p:pic>
        <p:nvPicPr>
          <p:cNvPr id="1156" name="Google Shape;1156;p130" title="Tim PF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925" y="75"/>
            <a:ext cx="1135426" cy="113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130"/>
          <p:cNvSpPr txBox="1"/>
          <p:nvPr/>
        </p:nvSpPr>
        <p:spPr>
          <a:xfrm>
            <a:off x="3725387" y="1270250"/>
            <a:ext cx="1546500" cy="10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Tim (Team Lead)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HKUST Chem (UG)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UW HackerFab UWASIC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58" name="Google Shape;1158;p130" title="Abraa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8425" y="75"/>
            <a:ext cx="992315" cy="113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130"/>
          <p:cNvSpPr txBox="1"/>
          <p:nvPr/>
        </p:nvSpPr>
        <p:spPr>
          <a:xfrm>
            <a:off x="5208425" y="1270250"/>
            <a:ext cx="11817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Abraar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TMU CE (UG)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LCRAIN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60" name="Google Shape;1160;p130"/>
          <p:cNvSpPr txBox="1"/>
          <p:nvPr/>
        </p:nvSpPr>
        <p:spPr>
          <a:xfrm>
            <a:off x="2987938" y="3983600"/>
            <a:ext cx="9924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Reza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UCD ECE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(PG)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61" name="Google Shape;1161;p130" title="headshot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3500" y="2683913"/>
            <a:ext cx="851525" cy="10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130"/>
          <p:cNvSpPr txBox="1"/>
          <p:nvPr/>
        </p:nvSpPr>
        <p:spPr>
          <a:xfrm>
            <a:off x="5401500" y="3934625"/>
            <a:ext cx="1135500" cy="10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Victoria</a:t>
            </a:r>
            <a:br>
              <a:rPr lang="en" sz="1200" dirty="0">
                <a:solidFill>
                  <a:schemeClr val="dk2"/>
                </a:solidFill>
              </a:rPr>
            </a:br>
            <a:r>
              <a:rPr lang="en" sz="1200" dirty="0">
                <a:solidFill>
                  <a:schemeClr val="dk2"/>
                </a:solidFill>
              </a:rPr>
              <a:t>UW NE (UG)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UWASIC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IQC UG RA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163" name="Google Shape;1163;p130" title="Ash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1425" y="2649188"/>
            <a:ext cx="910299" cy="116611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130"/>
          <p:cNvSpPr txBox="1"/>
          <p:nvPr/>
        </p:nvSpPr>
        <p:spPr>
          <a:xfrm>
            <a:off x="4360363" y="4056350"/>
            <a:ext cx="9924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Ashmita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UCD ECE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(PG)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65" name="Google Shape;1165;p130" title="P_20251227_113925.jpg"/>
          <p:cNvPicPr preferRelativeResize="0"/>
          <p:nvPr/>
        </p:nvPicPr>
        <p:blipFill rotWithShape="1">
          <a:blip r:embed="rId7">
            <a:alphaModFix/>
          </a:blip>
          <a:srcRect t="27039"/>
          <a:stretch/>
        </p:blipFill>
        <p:spPr>
          <a:xfrm>
            <a:off x="2987950" y="2657415"/>
            <a:ext cx="1181699" cy="114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130" title="14633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2825" y="0"/>
            <a:ext cx="1135500" cy="11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130"/>
          <p:cNvSpPr txBox="1"/>
          <p:nvPr/>
        </p:nvSpPr>
        <p:spPr>
          <a:xfrm>
            <a:off x="6390113" y="1270175"/>
            <a:ext cx="11355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Belkacem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UT EE (PhD)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Automation Lab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68" name="Google Shape;1168;p130" title="unnamed.jpg"/>
          <p:cNvPicPr preferRelativeResize="0"/>
          <p:nvPr/>
        </p:nvPicPr>
        <p:blipFill rotWithShape="1">
          <a:blip r:embed="rId9">
            <a:alphaModFix/>
          </a:blip>
          <a:srcRect l="34604" t="18100" r="33570" b="52126"/>
          <a:stretch/>
        </p:blipFill>
        <p:spPr>
          <a:xfrm>
            <a:off x="7710100" y="74"/>
            <a:ext cx="910291" cy="1135427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130"/>
          <p:cNvSpPr txBox="1"/>
          <p:nvPr/>
        </p:nvSpPr>
        <p:spPr>
          <a:xfrm>
            <a:off x="7597500" y="1343000"/>
            <a:ext cx="15465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Nitin</a:t>
            </a:r>
            <a:br>
              <a:rPr lang="en" sz="1200" dirty="0">
                <a:solidFill>
                  <a:schemeClr val="dk2"/>
                </a:solidFill>
              </a:rPr>
            </a:br>
            <a:r>
              <a:rPr lang="en" sz="1200" dirty="0">
                <a:solidFill>
                  <a:schemeClr val="dk2"/>
                </a:solidFill>
              </a:rPr>
              <a:t>UCSB EE (PG)</a:t>
            </a:r>
            <a:br>
              <a:rPr lang="en" sz="1200" dirty="0">
                <a:solidFill>
                  <a:schemeClr val="dk2"/>
                </a:solidFill>
              </a:rPr>
            </a:br>
            <a:r>
              <a:rPr lang="en" sz="1200" dirty="0">
                <a:solidFill>
                  <a:schemeClr val="dk2"/>
                </a:solidFill>
              </a:rPr>
              <a:t>Mediatek</a:t>
            </a:r>
            <a:br>
              <a:rPr lang="en" sz="1200" dirty="0">
                <a:solidFill>
                  <a:schemeClr val="dk2"/>
                </a:solidFill>
              </a:rPr>
            </a:br>
            <a:r>
              <a:rPr lang="en" sz="1200" dirty="0">
                <a:solidFill>
                  <a:schemeClr val="dk2"/>
                </a:solidFill>
              </a:rPr>
              <a:t>AMS Design engineer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170" name="Google Shape;1170;p130"/>
          <p:cNvPicPr preferRelativeResize="0"/>
          <p:nvPr/>
        </p:nvPicPr>
        <p:blipFill rotWithShape="1">
          <a:blip r:embed="rId10">
            <a:alphaModFix/>
          </a:blip>
          <a:srcRect t="11888" r="12450" b="-9"/>
          <a:stretch/>
        </p:blipFill>
        <p:spPr>
          <a:xfrm>
            <a:off x="6626800" y="2647979"/>
            <a:ext cx="851525" cy="109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30"/>
          <p:cNvSpPr txBox="1"/>
          <p:nvPr/>
        </p:nvSpPr>
        <p:spPr>
          <a:xfrm>
            <a:off x="6672313" y="3934625"/>
            <a:ext cx="9924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Annika</a:t>
            </a:r>
            <a:br>
              <a:rPr lang="en" sz="1200" dirty="0">
                <a:solidFill>
                  <a:schemeClr val="dk2"/>
                </a:solidFill>
              </a:rPr>
            </a:br>
            <a:br>
              <a:rPr lang="en" sz="1200" dirty="0">
                <a:solidFill>
                  <a:schemeClr val="dk2"/>
                </a:solidFill>
              </a:rPr>
            </a:b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145800-5FE5-6474-2E30-9C6E7E20D8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9952" y="2683913"/>
            <a:ext cx="1053449" cy="1047693"/>
          </a:xfrm>
          <a:prstGeom prst="rect">
            <a:avLst/>
          </a:prstGeom>
        </p:spPr>
      </p:pic>
      <p:sp>
        <p:nvSpPr>
          <p:cNvPr id="5" name="Google Shape;1169;p130">
            <a:extLst>
              <a:ext uri="{FF2B5EF4-FFF2-40B4-BE49-F238E27FC236}">
                <a16:creationId xmlns:a16="http://schemas.microsoft.com/office/drawing/2014/main" id="{9B2AC3EF-0585-ABB5-2B47-643E8E652CE7}"/>
              </a:ext>
            </a:extLst>
          </p:cNvPr>
          <p:cNvSpPr txBox="1"/>
          <p:nvPr/>
        </p:nvSpPr>
        <p:spPr>
          <a:xfrm>
            <a:off x="7710100" y="3885725"/>
            <a:ext cx="15465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200" dirty="0">
                <a:solidFill>
                  <a:schemeClr val="dk2"/>
                </a:solidFill>
              </a:rPr>
              <a:t>Kalam</a:t>
            </a:r>
            <a:br>
              <a:rPr lang="en" sz="1200" dirty="0">
                <a:solidFill>
                  <a:schemeClr val="dk2"/>
                </a:solidFill>
              </a:rPr>
            </a:br>
            <a:r>
              <a:rPr lang="en" sz="1200" dirty="0">
                <a:solidFill>
                  <a:schemeClr val="dk2"/>
                </a:solidFill>
              </a:rPr>
              <a:t>HKUST EE (PG)</a:t>
            </a:r>
            <a:endParaRPr sz="12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2177</Words>
  <Application>Microsoft Office PowerPoint</Application>
  <PresentationFormat>On-screen Show (16:9)</PresentationFormat>
  <Paragraphs>248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Tahoma</vt:lpstr>
      <vt:lpstr>Merriweather Sans</vt:lpstr>
      <vt:lpstr>Noto Sans Symbols</vt:lpstr>
      <vt:lpstr>Calibri</vt:lpstr>
      <vt:lpstr>Microsoft JhengHei</vt:lpstr>
      <vt:lpstr>Arial</vt:lpstr>
      <vt:lpstr>Content Slides</vt:lpstr>
      <vt:lpstr>Content Slides</vt:lpstr>
      <vt:lpstr>B18 Probton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Analog Front End - Transimpedance Amplifier</vt:lpstr>
      <vt:lpstr>Analog Front End - Transimpedance Amplifier</vt:lpstr>
      <vt:lpstr>Analog Front End - Two Integrator Loop Gm-C BP + LP Filter</vt:lpstr>
      <vt:lpstr>Analog Front End - Testbench of TIA + Bandpass Filter</vt:lpstr>
      <vt:lpstr>Analog Front End -  TIA + Bandpass Testbench</vt:lpstr>
      <vt:lpstr>PowerPoint Presentation</vt:lpstr>
      <vt:lpstr>PowerPoint Presentation</vt:lpstr>
      <vt:lpstr>PowerPoint Presentation</vt:lpstr>
      <vt:lpstr>Mixer Schematic</vt:lpstr>
      <vt:lpstr>Mixer Testbench</vt:lpstr>
      <vt:lpstr>PowerPoint Presentation</vt:lpstr>
      <vt:lpstr>Comparator Schematic</vt:lpstr>
      <vt:lpstr>Comparator Testbench</vt:lpstr>
      <vt:lpstr>Comparator Layout DRC</vt:lpstr>
      <vt:lpstr>Mixer Layout DRC</vt:lpstr>
      <vt:lpstr>Digital - Summary</vt:lpstr>
      <vt:lpstr>Digital - State Machine Simulation</vt:lpstr>
      <vt:lpstr>Digital - Wave Controller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Tim Lam</cp:lastModifiedBy>
  <cp:revision>3</cp:revision>
  <dcterms:modified xsi:type="dcterms:W3CDTF">2026-08-11T22:47:44Z</dcterms:modified>
</cp:coreProperties>
</file>