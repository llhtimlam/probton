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  <p:sldMasterId id="2147483674" r:id="rId2"/>
  </p:sldMasterIdLst>
  <p:notesMasterIdLst>
    <p:notesMasterId r:id="rId3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</p:sldIdLst>
  <p:sldSz cx="9144000" cy="5143500" type="screen16x9"/>
  <p:notesSz cx="6858000" cy="9144000"/>
  <p:embeddedFontLst>
    <p:embeddedFont>
      <p:font typeface="Merriweather Sans" pitchFamily="2" charset="0"/>
      <p:bold r:id="rId32"/>
    </p:embeddedFont>
    <p:embeddedFont>
      <p:font typeface="Tahoma" panose="020B0604030504040204" pitchFamily="34" charset="0"/>
      <p:regular r:id="rId33"/>
      <p:bold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87218AE-52CD-4B09-BFF2-DEA5649784BC}">
  <a:tblStyle styleId="{F87218AE-52CD-4B09-BFF2-DEA5649784B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884" y="2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font" Target="fonts/font3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2.fntdata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1.fntdata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51b61f20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f51b61f20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51b61f205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f51b61f205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54362f0d0_0_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f54362f0d0_0_2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54362f0d0_0_3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f54362f0d0_0_3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51b61f205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f51b61f205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51b61f205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f51b61f205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54362f0d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f54362f0d0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54362f0d0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f54362f0d0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f51b61f205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f51b61f205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f54362f0d0_0_4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f54362f0d0_0_4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51b61f205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f51b61f205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f53ea8a7da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f53ea8a7da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53ea8a7da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f53ea8a7da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f51b61f205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f51b61f205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f3addccb70_6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f3addccb70_6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f3addccb70_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f3addccb70_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f526eead26_2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f526eead26_2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f51b61f205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f51b61f205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f54362f0d0_0_4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f54362f0d0_0_4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f51b61f205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f51b61f205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f535df15a1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f535df15a1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f57b69f1ab_2_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g3f57b69f1ab_2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f57b69f1ab_2_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3f57b69f1ab_2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f51b61f205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f51b61f205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f51b61f205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f51b61f205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f54362f0d0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f54362f0d0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f54362f0d0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f54362f0d0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f51b61f205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f51b61f205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_OneColumnBullets">
  <p:cSld name="Content Slide_OneColumnBullets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297611" y="424066"/>
            <a:ext cx="8531100" cy="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6A1"/>
              </a:buClr>
              <a:buSzPts val="2600"/>
              <a:buFont typeface="Calibri"/>
              <a:buNone/>
              <a:defRPr sz="2600" b="1" i="0" u="none" strike="noStrike" cap="none">
                <a:solidFill>
                  <a:srgbClr val="0066A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body" idx="1"/>
          </p:nvPr>
        </p:nvSpPr>
        <p:spPr>
          <a:xfrm>
            <a:off x="297611" y="978764"/>
            <a:ext cx="8531100" cy="34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Autofit/>
          </a:bodyPr>
          <a:lstStyle>
            <a:lvl1pPr marL="457200" marR="0" lvl="0" indent="-2857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66A1"/>
              </a:buClr>
              <a:buSzPts val="900"/>
              <a:buFont typeface="Merriweather Sans"/>
              <a:buChar char="▶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66A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66A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66A1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66A1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and Content">
  <p:cSld name="5_Title and Conten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695417" y="137357"/>
            <a:ext cx="79611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3008" y="4811714"/>
            <a:ext cx="8460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695324" y="775331"/>
            <a:ext cx="7961400" cy="3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695417" y="137357"/>
            <a:ext cx="79611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3008" y="4811714"/>
            <a:ext cx="8460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695324" y="775331"/>
            <a:ext cx="7961400" cy="3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Ref">
  <p:cSld name="Title and Content with Ref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body" idx="1"/>
          </p:nvPr>
        </p:nvSpPr>
        <p:spPr>
          <a:xfrm>
            <a:off x="695416" y="4505492"/>
            <a:ext cx="6162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1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695417" y="137357"/>
            <a:ext cx="79611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3008" y="4811714"/>
            <a:ext cx="8460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2"/>
          </p:nvPr>
        </p:nvSpPr>
        <p:spPr>
          <a:xfrm>
            <a:off x="695324" y="775331"/>
            <a:ext cx="7961400" cy="3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695417" y="137357"/>
            <a:ext cx="79611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3008" y="4811714"/>
            <a:ext cx="8460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695324" y="775331"/>
            <a:ext cx="7961400" cy="3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695417" y="137357"/>
            <a:ext cx="79611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3008" y="4811714"/>
            <a:ext cx="8460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body" idx="1"/>
          </p:nvPr>
        </p:nvSpPr>
        <p:spPr>
          <a:xfrm>
            <a:off x="695324" y="775331"/>
            <a:ext cx="7961400" cy="3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Content">
  <p:cSld name="4_Title and Conte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95417" y="137357"/>
            <a:ext cx="79611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3008" y="4811714"/>
            <a:ext cx="8460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1"/>
          </p:nvPr>
        </p:nvSpPr>
        <p:spPr>
          <a:xfrm>
            <a:off x="695324" y="775331"/>
            <a:ext cx="7961400" cy="3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Google Shape;44;p10"/>
          <p:cNvSpPr txBox="1"/>
          <p:nvPr/>
        </p:nvSpPr>
        <p:spPr>
          <a:xfrm>
            <a:off x="1371600" y="4800600"/>
            <a:ext cx="64008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Symposia on VLSI Technology and Circuits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3008" y="4811714"/>
            <a:ext cx="8460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/>
          </p:nvPr>
        </p:nvSpPr>
        <p:spPr>
          <a:xfrm>
            <a:off x="695417" y="137357"/>
            <a:ext cx="79611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3008" y="4811714"/>
            <a:ext cx="8460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1"/>
          </p:nvPr>
        </p:nvSpPr>
        <p:spPr>
          <a:xfrm>
            <a:off x="695324" y="775331"/>
            <a:ext cx="7961400" cy="3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title"/>
          </p:nvPr>
        </p:nvSpPr>
        <p:spPr>
          <a:xfrm>
            <a:off x="457200" y="57150"/>
            <a:ext cx="82296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body" idx="1"/>
          </p:nvPr>
        </p:nvSpPr>
        <p:spPr>
          <a:xfrm>
            <a:off x="457200" y="800101"/>
            <a:ext cx="8229600" cy="41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53" name="Google Shape;53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825" y="4819600"/>
            <a:ext cx="2067676" cy="26522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5" name="Google Shape;55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85750" y="4395100"/>
            <a:ext cx="1617024" cy="68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_OneColumnBullets">
  <p:cSld name="Content Slide_OneColumnBullets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"/>
          <p:cNvSpPr txBox="1">
            <a:spLocks noGrp="1"/>
          </p:cNvSpPr>
          <p:nvPr>
            <p:ph type="ctrTitle"/>
          </p:nvPr>
        </p:nvSpPr>
        <p:spPr>
          <a:xfrm>
            <a:off x="297611" y="424066"/>
            <a:ext cx="8531100" cy="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575" tIns="38575" rIns="38575" bIns="385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6A1"/>
              </a:buClr>
              <a:buSzPts val="2000"/>
              <a:buFont typeface="Calibri"/>
              <a:buNone/>
              <a:defRPr sz="2600" b="1" i="0" u="none" strike="noStrike" cap="none">
                <a:solidFill>
                  <a:srgbClr val="0066A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body" idx="1"/>
          </p:nvPr>
        </p:nvSpPr>
        <p:spPr>
          <a:xfrm>
            <a:off x="297611" y="978764"/>
            <a:ext cx="8531100" cy="34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575" tIns="38575" rIns="38575" bIns="38575" anchor="t" anchorCtr="0">
            <a:noAutofit/>
          </a:bodyPr>
          <a:lstStyle>
            <a:lvl1pPr marL="457200" marR="0" lvl="0" indent="-2730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66A1"/>
              </a:buClr>
              <a:buSzPts val="700"/>
              <a:buFont typeface="Merriweather Sans"/>
              <a:buChar char="▶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66A1"/>
              </a:buClr>
              <a:buSzPts val="11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66A1"/>
              </a:buClr>
              <a:buSzPts val="9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66A1"/>
              </a:buClr>
              <a:buSzPts val="8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794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66A1"/>
              </a:buClr>
              <a:buSzPts val="8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8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8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8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8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and Content">
  <p:cSld name="5_Title and Conten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>
            <a:spLocks noGrp="1"/>
          </p:cNvSpPr>
          <p:nvPr>
            <p:ph type="title"/>
          </p:nvPr>
        </p:nvSpPr>
        <p:spPr>
          <a:xfrm>
            <a:off x="695417" y="137357"/>
            <a:ext cx="79611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700" rIns="51425" bIns="2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sldNum" idx="12"/>
          </p:nvPr>
        </p:nvSpPr>
        <p:spPr>
          <a:xfrm>
            <a:off x="3008" y="4811714"/>
            <a:ext cx="8460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body" idx="1"/>
          </p:nvPr>
        </p:nvSpPr>
        <p:spPr>
          <a:xfrm>
            <a:off x="695324" y="775331"/>
            <a:ext cx="7961400" cy="3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>
            <a:spLocks noGrp="1"/>
          </p:cNvSpPr>
          <p:nvPr>
            <p:ph type="title"/>
          </p:nvPr>
        </p:nvSpPr>
        <p:spPr>
          <a:xfrm>
            <a:off x="695417" y="137357"/>
            <a:ext cx="79611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700" rIns="51425" bIns="2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p20"/>
          <p:cNvSpPr txBox="1">
            <a:spLocks noGrp="1"/>
          </p:cNvSpPr>
          <p:nvPr>
            <p:ph type="sldNum" idx="12"/>
          </p:nvPr>
        </p:nvSpPr>
        <p:spPr>
          <a:xfrm>
            <a:off x="3008" y="4811714"/>
            <a:ext cx="8460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20"/>
          <p:cNvSpPr txBox="1">
            <a:spLocks noGrp="1"/>
          </p:cNvSpPr>
          <p:nvPr>
            <p:ph type="body" idx="1"/>
          </p:nvPr>
        </p:nvSpPr>
        <p:spPr>
          <a:xfrm>
            <a:off x="695324" y="775331"/>
            <a:ext cx="7961400" cy="3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1"/>
          <p:cNvSpPr txBox="1">
            <a:spLocks noGrp="1"/>
          </p:cNvSpPr>
          <p:nvPr>
            <p:ph type="title"/>
          </p:nvPr>
        </p:nvSpPr>
        <p:spPr>
          <a:xfrm>
            <a:off x="695417" y="137357"/>
            <a:ext cx="79611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700" rIns="51425" bIns="2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" name="Google Shape;90;p21"/>
          <p:cNvSpPr txBox="1">
            <a:spLocks noGrp="1"/>
          </p:cNvSpPr>
          <p:nvPr>
            <p:ph type="sldNum" idx="12"/>
          </p:nvPr>
        </p:nvSpPr>
        <p:spPr>
          <a:xfrm>
            <a:off x="3008" y="4811714"/>
            <a:ext cx="8460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21"/>
          <p:cNvSpPr txBox="1">
            <a:spLocks noGrp="1"/>
          </p:cNvSpPr>
          <p:nvPr>
            <p:ph type="body" idx="1"/>
          </p:nvPr>
        </p:nvSpPr>
        <p:spPr>
          <a:xfrm>
            <a:off x="695324" y="775331"/>
            <a:ext cx="7961400" cy="3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2"/>
          <p:cNvSpPr txBox="1">
            <a:spLocks noGrp="1"/>
          </p:cNvSpPr>
          <p:nvPr>
            <p:ph type="title"/>
          </p:nvPr>
        </p:nvSpPr>
        <p:spPr>
          <a:xfrm>
            <a:off x="695417" y="137357"/>
            <a:ext cx="79611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700" rIns="51425" bIns="2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" name="Google Shape;94;p22"/>
          <p:cNvSpPr txBox="1">
            <a:spLocks noGrp="1"/>
          </p:cNvSpPr>
          <p:nvPr>
            <p:ph type="sldNum" idx="12"/>
          </p:nvPr>
        </p:nvSpPr>
        <p:spPr>
          <a:xfrm>
            <a:off x="3008" y="4811714"/>
            <a:ext cx="8460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p22"/>
          <p:cNvSpPr txBox="1">
            <a:spLocks noGrp="1"/>
          </p:cNvSpPr>
          <p:nvPr>
            <p:ph type="body" idx="1"/>
          </p:nvPr>
        </p:nvSpPr>
        <p:spPr>
          <a:xfrm>
            <a:off x="695324" y="775331"/>
            <a:ext cx="7961400" cy="3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Content">
  <p:cSld name="4_Title and Conten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695417" y="137357"/>
            <a:ext cx="79611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700" rIns="51425" bIns="2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" name="Google Shape;98;p23"/>
          <p:cNvSpPr txBox="1">
            <a:spLocks noGrp="1"/>
          </p:cNvSpPr>
          <p:nvPr>
            <p:ph type="sldNum" idx="12"/>
          </p:nvPr>
        </p:nvSpPr>
        <p:spPr>
          <a:xfrm>
            <a:off x="3008" y="4811714"/>
            <a:ext cx="8460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23"/>
          <p:cNvSpPr txBox="1">
            <a:spLocks noGrp="1"/>
          </p:cNvSpPr>
          <p:nvPr>
            <p:ph type="body" idx="1"/>
          </p:nvPr>
        </p:nvSpPr>
        <p:spPr>
          <a:xfrm>
            <a:off x="695324" y="775331"/>
            <a:ext cx="7961400" cy="3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4"/>
          <p:cNvSpPr txBox="1">
            <a:spLocks noGrp="1"/>
          </p:cNvSpPr>
          <p:nvPr>
            <p:ph type="title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" name="Google Shape;102;p24"/>
          <p:cNvSpPr txBox="1"/>
          <p:nvPr/>
        </p:nvSpPr>
        <p:spPr>
          <a:xfrm>
            <a:off x="1371600" y="4800600"/>
            <a:ext cx="6400800" cy="284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Symposia on VLSI Technology and Circuits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4"/>
          <p:cNvSpPr txBox="1">
            <a:spLocks noGrp="1"/>
          </p:cNvSpPr>
          <p:nvPr>
            <p:ph type="sldNum" idx="12"/>
          </p:nvPr>
        </p:nvSpPr>
        <p:spPr>
          <a:xfrm>
            <a:off x="3008" y="4811714"/>
            <a:ext cx="8460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5"/>
          <p:cNvSpPr txBox="1">
            <a:spLocks noGrp="1"/>
          </p:cNvSpPr>
          <p:nvPr>
            <p:ph type="title"/>
          </p:nvPr>
        </p:nvSpPr>
        <p:spPr>
          <a:xfrm>
            <a:off x="695417" y="137357"/>
            <a:ext cx="79611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700" rIns="51425" bIns="2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6" name="Google Shape;106;p25"/>
          <p:cNvSpPr txBox="1">
            <a:spLocks noGrp="1"/>
          </p:cNvSpPr>
          <p:nvPr>
            <p:ph type="sldNum" idx="12"/>
          </p:nvPr>
        </p:nvSpPr>
        <p:spPr>
          <a:xfrm>
            <a:off x="3008" y="4811714"/>
            <a:ext cx="8460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25"/>
          <p:cNvSpPr txBox="1">
            <a:spLocks noGrp="1"/>
          </p:cNvSpPr>
          <p:nvPr>
            <p:ph type="body" idx="1"/>
          </p:nvPr>
        </p:nvSpPr>
        <p:spPr>
          <a:xfrm>
            <a:off x="695324" y="775331"/>
            <a:ext cx="7961400" cy="3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 type="obj">
  <p:cSld name="OBJEC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>
            <a:spLocks noGrp="1"/>
          </p:cNvSpPr>
          <p:nvPr>
            <p:ph type="title"/>
          </p:nvPr>
        </p:nvSpPr>
        <p:spPr>
          <a:xfrm>
            <a:off x="457200" y="57150"/>
            <a:ext cx="82296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" name="Google Shape;110;p26"/>
          <p:cNvSpPr txBox="1">
            <a:spLocks noGrp="1"/>
          </p:cNvSpPr>
          <p:nvPr>
            <p:ph type="body" idx="1"/>
          </p:nvPr>
        </p:nvSpPr>
        <p:spPr>
          <a:xfrm>
            <a:off x="457200" y="800101"/>
            <a:ext cx="8229600" cy="41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11" name="Google Shape;111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825" y="4819601"/>
            <a:ext cx="2067676" cy="265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3" name="Google Shape;113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85750" y="4395101"/>
            <a:ext cx="1617024" cy="68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Char char="●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Char char="○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Char char="■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Char char="●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Char char="○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Char char="■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Char char="●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Char char="○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Char char="■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6" name="Google Shape;116;p2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7" name="Google Shape;117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gi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gi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gi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gif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gif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/>
        </p:nvSpPr>
        <p:spPr>
          <a:xfrm>
            <a:off x="284909" y="4628375"/>
            <a:ext cx="1543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A1"/>
              </a:buClr>
              <a:buSzPts val="200"/>
              <a:buFont typeface="Calibri"/>
              <a:buNone/>
            </a:pPr>
            <a:fld id="{00000000-1234-1234-1234-123412341234}" type="slidenum">
              <a:rPr lang="en" sz="900" b="0" i="0" u="none" strike="noStrike" cap="none">
                <a:solidFill>
                  <a:srgbClr val="0066A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 b="0" i="0" u="none" strike="noStrike" cap="none">
              <a:solidFill>
                <a:srgbClr val="0066A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7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153349" y="4553785"/>
            <a:ext cx="859278" cy="266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;p1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3665" y="1"/>
            <a:ext cx="9140333" cy="68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1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" y="4457701"/>
            <a:ext cx="9140333" cy="68552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/>
        </p:nvSpPr>
        <p:spPr>
          <a:xfrm>
            <a:off x="284909" y="4628375"/>
            <a:ext cx="1543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A1"/>
              </a:buClr>
              <a:buSzPts val="200"/>
              <a:buFont typeface="Calibri"/>
              <a:buNone/>
            </a:pPr>
            <a:fld id="{00000000-1234-1234-1234-123412341234}" type="slidenum">
              <a:rPr lang="en" sz="900" b="0" i="0" u="none" strike="noStrike" cap="none">
                <a:solidFill>
                  <a:srgbClr val="0066A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 b="0" i="0" u="none" strike="noStrike" cap="none">
              <a:solidFill>
                <a:srgbClr val="0066A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" name="Google Shape;66;p15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153349" y="4553785"/>
            <a:ext cx="859278" cy="266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5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3665" y="1"/>
            <a:ext cx="9140333" cy="68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" y="4457702"/>
            <a:ext cx="9140333" cy="68552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hyperlink" Target="https://www.thorlabs.com/thorproduct.cfm?partnumber=FDSP625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lhtimlam/Probton/tree/main/src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github.com/llhtimlam/Probton/tree/main/cocotb/sim_build" TargetMode="External"/><Relationship Id="rId4" Type="http://schemas.openxmlformats.org/officeDocument/2006/relationships/hyperlink" Target="https://github.com/llhtimlam/Probton/tree/main/cocotb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8"/>
          <p:cNvSpPr txBox="1">
            <a:spLocks noGrp="1"/>
          </p:cNvSpPr>
          <p:nvPr>
            <p:ph type="ctrTitle"/>
          </p:nvPr>
        </p:nvSpPr>
        <p:spPr>
          <a:xfrm>
            <a:off x="311700" y="250987"/>
            <a:ext cx="8520600" cy="104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B18 Probton</a:t>
            </a:r>
            <a:endParaRPr/>
          </a:p>
        </p:txBody>
      </p:sp>
      <p:sp>
        <p:nvSpPr>
          <p:cNvPr id="123" name="Google Shape;123;p28"/>
          <p:cNvSpPr txBox="1">
            <a:spLocks noGrp="1"/>
          </p:cNvSpPr>
          <p:nvPr>
            <p:ph type="subTitle" idx="1"/>
          </p:nvPr>
        </p:nvSpPr>
        <p:spPr>
          <a:xfrm>
            <a:off x="311700" y="1099964"/>
            <a:ext cx="8520600" cy="51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ASIC Solution for Optical Probe Station</a:t>
            </a:r>
            <a:endParaRPr sz="1800">
              <a:solidFill>
                <a:schemeClr val="dk1"/>
              </a:solidFill>
            </a:endParaRPr>
          </a:p>
        </p:txBody>
      </p:sp>
      <p:graphicFrame>
        <p:nvGraphicFramePr>
          <p:cNvPr id="124" name="Google Shape;124;p28"/>
          <p:cNvGraphicFramePr/>
          <p:nvPr/>
        </p:nvGraphicFramePr>
        <p:xfrm>
          <a:off x="723750" y="1617524"/>
          <a:ext cx="7364500" cy="3215310"/>
        </p:xfrm>
        <a:graphic>
          <a:graphicData uri="http://schemas.openxmlformats.org/drawingml/2006/table">
            <a:tbl>
              <a:tblPr>
                <a:noFill/>
                <a:tableStyleId>{F87218AE-52CD-4B09-BFF2-DEA5649784BC}</a:tableStyleId>
              </a:tblPr>
              <a:tblGrid>
                <a:gridCol w="1841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1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1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4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Discord name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Affiliation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Experience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Role</a:t>
                      </a:r>
                      <a:endParaRPr sz="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timlam0531</a:t>
                      </a:r>
                      <a:endParaRPr sz="700"/>
                    </a:p>
                  </a:txBody>
                  <a:tcPr marL="91425" marR="91425" marT="91425" marB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HKUST, Hong Kong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Hobbyist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Team lead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abraaaar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Toronto Metropolitan University, Toronto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Undergraduate student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Team member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belkacem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University of Tlemcen, Algeria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PhD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Team member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nitin_i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University of California, Santa Barbara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AMS Design Engineer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Team member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rezasetiabekti8375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University College Dublin, Ireland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Master student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Team member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ashmita1509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University College Dublin, Ireland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Master student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Team member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vik_lyn_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University of Waterloo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Undergraduate student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Team member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anna_b75_06065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None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Hobbyist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Team member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CadMiuM#9906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HKUST, Hong Kong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Undergraduate student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Team member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Looking for members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Mixed Signal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25" name="Google Shape;125;p28"/>
          <p:cNvSpPr txBox="1"/>
          <p:nvPr/>
        </p:nvSpPr>
        <p:spPr>
          <a:xfrm>
            <a:off x="0" y="250975"/>
            <a:ext cx="2308800" cy="12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Review Date:</a:t>
            </a:r>
            <a:endParaRPr sz="12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July 4, 2024</a:t>
            </a:r>
            <a:br>
              <a:rPr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Review Version:</a:t>
            </a:r>
            <a:endParaRPr sz="12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Schematic Review</a:t>
            </a:r>
            <a:br>
              <a:rPr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Video: https://youtu.be/nWU8KJn_Hf8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9"/>
          <p:cNvSpPr txBox="1"/>
          <p:nvPr/>
        </p:nvSpPr>
        <p:spPr>
          <a:xfrm>
            <a:off x="150851" y="284725"/>
            <a:ext cx="3068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Design Objective:</a:t>
            </a:r>
            <a:endParaRPr sz="1100" b="1"/>
          </a:p>
        </p:txBody>
      </p:sp>
      <p:sp>
        <p:nvSpPr>
          <p:cNvPr id="131" name="Google Shape;131;p29"/>
          <p:cNvSpPr txBox="1"/>
          <p:nvPr/>
        </p:nvSpPr>
        <p:spPr>
          <a:xfrm>
            <a:off x="150850" y="674600"/>
            <a:ext cx="4140900" cy="5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Extract alignment direction using voting filter while automatically isolating and discarding corrupt signal data.</a:t>
            </a:r>
            <a:endParaRPr sz="1600"/>
          </a:p>
        </p:txBody>
      </p:sp>
      <p:sp>
        <p:nvSpPr>
          <p:cNvPr id="132" name="Google Shape;132;p29"/>
          <p:cNvSpPr txBox="1"/>
          <p:nvPr/>
        </p:nvSpPr>
        <p:spPr>
          <a:xfrm>
            <a:off x="682427" y="3186900"/>
            <a:ext cx="2391300" cy="15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Link: </a:t>
            </a:r>
            <a:r>
              <a:rPr lang="en" sz="1100" b="0" i="0" u="sng" strike="noStrike" cap="none">
                <a:solidFill>
                  <a:srgbClr val="0563C1"/>
                </a:solidFill>
                <a:latin typeface="Arial"/>
                <a:ea typeface="Arial"/>
                <a:cs typeface="Arial"/>
                <a:sym typeface="Arial"/>
              </a:rPr>
              <a:t>https://doi.org/10.1016/j.ohx.2022.e00317</a:t>
            </a:r>
            <a:endParaRPr sz="700"/>
          </a:p>
          <a:p>
            <a:pPr marL="0" marR="0" lvl="0" indent="0" algn="l" rtl="0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Specifications:</a:t>
            </a:r>
            <a:endParaRPr sz="700"/>
          </a:p>
          <a:p>
            <a:pPr marL="203200" marR="0" lvl="1" indent="-95250" algn="l" rtl="0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Sensitivity: </a:t>
            </a: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25.0 nm/V </a:t>
            </a:r>
            <a:endParaRPr sz="700"/>
          </a:p>
          <a:p>
            <a:pPr marL="203200" marR="0" lvl="1" indent="-95250" algn="l" rtl="0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Resolution:</a:t>
            </a:r>
            <a:endParaRPr sz="700"/>
          </a:p>
          <a:p>
            <a:pPr marL="203200" marR="0" lvl="1" indent="-95250" algn="l" rtl="0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Backlash: </a:t>
            </a: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160 – 195 nm </a:t>
            </a:r>
            <a:endParaRPr sz="700"/>
          </a:p>
          <a:p>
            <a:pPr marL="203200" marR="0" lvl="1" indent="-95250" algn="l" rtl="0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error:</a:t>
            </a: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~ 7%</a:t>
            </a:r>
            <a:endParaRPr sz="700"/>
          </a:p>
        </p:txBody>
      </p:sp>
      <p:grpSp>
        <p:nvGrpSpPr>
          <p:cNvPr id="133" name="Google Shape;133;p29"/>
          <p:cNvGrpSpPr/>
          <p:nvPr/>
        </p:nvGrpSpPr>
        <p:grpSpPr>
          <a:xfrm>
            <a:off x="1070225" y="1731437"/>
            <a:ext cx="1388371" cy="1388358"/>
            <a:chOff x="0" y="0"/>
            <a:chExt cx="4595734" cy="4595689"/>
          </a:xfrm>
        </p:grpSpPr>
        <p:grpSp>
          <p:nvGrpSpPr>
            <p:cNvPr id="134" name="Google Shape;134;p29"/>
            <p:cNvGrpSpPr/>
            <p:nvPr/>
          </p:nvGrpSpPr>
          <p:grpSpPr>
            <a:xfrm>
              <a:off x="0" y="0"/>
              <a:ext cx="4595734" cy="4595689"/>
              <a:chOff x="0" y="0"/>
              <a:chExt cx="812800" cy="812792"/>
            </a:xfrm>
          </p:grpSpPr>
          <p:sp>
            <p:nvSpPr>
              <p:cNvPr id="135" name="Google Shape;135;p29"/>
              <p:cNvSpPr/>
              <p:nvPr/>
            </p:nvSpPr>
            <p:spPr>
              <a:xfrm>
                <a:off x="0" y="0"/>
                <a:ext cx="812800" cy="81279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792" extrusionOk="0">
                    <a:moveTo>
                      <a:pt x="406400" y="0"/>
                    </a:moveTo>
                    <a:cubicBezTo>
                      <a:pt x="181951" y="0"/>
                      <a:pt x="0" y="181950"/>
                      <a:pt x="0" y="406396"/>
                    </a:cubicBezTo>
                    <a:cubicBezTo>
                      <a:pt x="0" y="630842"/>
                      <a:pt x="181951" y="812792"/>
                      <a:pt x="406400" y="812792"/>
                    </a:cubicBezTo>
                    <a:cubicBezTo>
                      <a:pt x="630849" y="812792"/>
                      <a:pt x="812800" y="630842"/>
                      <a:pt x="812800" y="406396"/>
                    </a:cubicBezTo>
                    <a:cubicBezTo>
                      <a:pt x="812800" y="181950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350" cap="sq" cmpd="sng">
                <a:solidFill>
                  <a:srgbClr val="00000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36850" tIns="36850" rIns="36850" bIns="368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29"/>
              <p:cNvSpPr txBox="1"/>
              <p:nvPr/>
            </p:nvSpPr>
            <p:spPr>
              <a:xfrm>
                <a:off x="76200" y="38099"/>
                <a:ext cx="660300" cy="6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7325" tIns="17325" rIns="17325" bIns="173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244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725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7" name="Google Shape;137;p29"/>
            <p:cNvSpPr/>
            <p:nvPr/>
          </p:nvSpPr>
          <p:spPr>
            <a:xfrm>
              <a:off x="468334" y="1393903"/>
              <a:ext cx="3662355" cy="2461079"/>
            </a:xfrm>
            <a:custGeom>
              <a:avLst/>
              <a:gdLst/>
              <a:ahLst/>
              <a:cxnLst/>
              <a:rect l="l" t="t" r="r" b="b"/>
              <a:pathLst>
                <a:path w="4283456" h="2878455" extrusionOk="0">
                  <a:moveTo>
                    <a:pt x="600895" y="0"/>
                  </a:moveTo>
                  <a:lnTo>
                    <a:pt x="3682560" y="0"/>
                  </a:lnTo>
                  <a:cubicBezTo>
                    <a:pt x="4014426" y="0"/>
                    <a:pt x="4283456" y="269030"/>
                    <a:pt x="4283456" y="600895"/>
                  </a:cubicBezTo>
                  <a:lnTo>
                    <a:pt x="4283456" y="2277559"/>
                  </a:lnTo>
                  <a:cubicBezTo>
                    <a:pt x="4283456" y="2436927"/>
                    <a:pt x="4220147" y="2589767"/>
                    <a:pt x="4107458" y="2702457"/>
                  </a:cubicBezTo>
                  <a:cubicBezTo>
                    <a:pt x="3994768" y="2815147"/>
                    <a:pt x="3841928" y="2878455"/>
                    <a:pt x="3682560" y="2878455"/>
                  </a:cubicBezTo>
                  <a:lnTo>
                    <a:pt x="600895" y="2878455"/>
                  </a:lnTo>
                  <a:cubicBezTo>
                    <a:pt x="269030" y="2878455"/>
                    <a:pt x="0" y="2609425"/>
                    <a:pt x="0" y="2277559"/>
                  </a:cubicBezTo>
                  <a:lnTo>
                    <a:pt x="0" y="600895"/>
                  </a:lnTo>
                  <a:cubicBezTo>
                    <a:pt x="0" y="269030"/>
                    <a:pt x="269030" y="0"/>
                    <a:pt x="600895" y="0"/>
                  </a:cubicBez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36850" tIns="36850" rIns="36850" bIns="36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9"/>
            <p:cNvSpPr txBox="1"/>
            <p:nvPr/>
          </p:nvSpPr>
          <p:spPr>
            <a:xfrm>
              <a:off x="1081486" y="725258"/>
              <a:ext cx="28014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47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XY-Stage [1]</a:t>
              </a:r>
              <a:endParaRPr sz="564"/>
            </a:p>
          </p:txBody>
        </p:sp>
      </p:grpSp>
      <p:sp>
        <p:nvSpPr>
          <p:cNvPr id="139" name="Google Shape;139;p29"/>
          <p:cNvSpPr txBox="1"/>
          <p:nvPr/>
        </p:nvSpPr>
        <p:spPr>
          <a:xfrm>
            <a:off x="4227124" y="2529707"/>
            <a:ext cx="918300" cy="1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16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Photodetector</a:t>
            </a:r>
            <a:endParaRPr sz="493"/>
          </a:p>
        </p:txBody>
      </p:sp>
      <p:sp>
        <p:nvSpPr>
          <p:cNvPr id="140" name="Google Shape;140;p29"/>
          <p:cNvSpPr txBox="1"/>
          <p:nvPr/>
        </p:nvSpPr>
        <p:spPr>
          <a:xfrm>
            <a:off x="4084416" y="2650567"/>
            <a:ext cx="11466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7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Thorlabs FDSP625 Pigtailed Si Photodiode</a:t>
            </a:r>
            <a:endParaRPr sz="523"/>
          </a:p>
        </p:txBody>
      </p:sp>
      <p:sp>
        <p:nvSpPr>
          <p:cNvPr id="141" name="Google Shape;141;p29"/>
          <p:cNvSpPr txBox="1"/>
          <p:nvPr/>
        </p:nvSpPr>
        <p:spPr>
          <a:xfrm>
            <a:off x="3332050" y="3187275"/>
            <a:ext cx="2481600" cy="15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Link: </a:t>
            </a:r>
            <a:r>
              <a:rPr lang="en" sz="11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https://www.thorlabs.com/thorproduct.cfm?partnumber=FDSP625</a:t>
            </a: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700"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Specifications:</a:t>
            </a:r>
            <a:endParaRPr sz="700"/>
          </a:p>
          <a:p>
            <a:pPr marL="203200" marR="0" lvl="1" indent="-952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Spectral Band:</a:t>
            </a: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320 nm to 1000 nm </a:t>
            </a:r>
            <a:endParaRPr sz="700"/>
          </a:p>
          <a:p>
            <a:pPr marL="203200" marR="0" lvl="1" indent="-952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Response Speed: </a:t>
            </a: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700 ps rise/fall time </a:t>
            </a:r>
            <a:endParaRPr sz="700"/>
          </a:p>
          <a:p>
            <a:pPr marL="203200" marR="0" lvl="1" indent="-952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Noise:</a:t>
            </a: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0.01 nA dark current</a:t>
            </a:r>
            <a:endParaRPr sz="700"/>
          </a:p>
        </p:txBody>
      </p:sp>
      <p:sp>
        <p:nvSpPr>
          <p:cNvPr id="142" name="Google Shape;142;p29"/>
          <p:cNvSpPr txBox="1"/>
          <p:nvPr/>
        </p:nvSpPr>
        <p:spPr>
          <a:xfrm>
            <a:off x="6222700" y="3186901"/>
            <a:ext cx="2437500" cy="15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Link: </a:t>
            </a:r>
            <a:endParaRPr sz="700"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sng" strike="noStrike" cap="none">
                <a:solidFill>
                  <a:srgbClr val="0563C1"/>
                </a:solidFill>
                <a:latin typeface="Arial"/>
                <a:ea typeface="Arial"/>
                <a:cs typeface="Arial"/>
                <a:sym typeface="Arial"/>
              </a:rPr>
              <a:t>https://doi.org/10.1088/0957-4484/24/45/455503</a:t>
            </a:r>
            <a:endParaRPr sz="700"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Specifications:</a:t>
            </a:r>
            <a:endParaRPr sz="700"/>
          </a:p>
          <a:p>
            <a:pPr marL="203200" marR="0" lvl="1" indent="-952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XY Range: </a:t>
            </a: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 µm</a:t>
            </a:r>
            <a:endParaRPr sz="700"/>
          </a:p>
          <a:p>
            <a:pPr marL="203200" marR="0" lvl="1" indent="-952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Nonlinearity: </a:t>
            </a: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2.11% X / 2.73% Y </a:t>
            </a:r>
            <a:endParaRPr sz="700"/>
          </a:p>
          <a:p>
            <a:pPr marL="203200" marR="0" lvl="1" indent="-952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Noise / Resolution: </a:t>
            </a: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~0.06 nm </a:t>
            </a:r>
            <a:endParaRPr sz="700"/>
          </a:p>
          <a:p>
            <a:pPr marL="203200" marR="0" lvl="1" indent="-952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Resonance: </a:t>
            </a: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~360 Hz (X/Y)</a:t>
            </a:r>
            <a:endParaRPr sz="700"/>
          </a:p>
        </p:txBody>
      </p:sp>
      <p:grpSp>
        <p:nvGrpSpPr>
          <p:cNvPr id="143" name="Google Shape;143;p29"/>
          <p:cNvGrpSpPr/>
          <p:nvPr/>
        </p:nvGrpSpPr>
        <p:grpSpPr>
          <a:xfrm>
            <a:off x="6747003" y="1731411"/>
            <a:ext cx="1388885" cy="1388398"/>
            <a:chOff x="0" y="0"/>
            <a:chExt cx="4735373" cy="4735326"/>
          </a:xfrm>
        </p:grpSpPr>
        <p:grpSp>
          <p:nvGrpSpPr>
            <p:cNvPr id="144" name="Google Shape;144;p29"/>
            <p:cNvGrpSpPr/>
            <p:nvPr/>
          </p:nvGrpSpPr>
          <p:grpSpPr>
            <a:xfrm>
              <a:off x="0" y="0"/>
              <a:ext cx="4735373" cy="4735326"/>
              <a:chOff x="0" y="0"/>
              <a:chExt cx="812800" cy="812792"/>
            </a:xfrm>
          </p:grpSpPr>
          <p:sp>
            <p:nvSpPr>
              <p:cNvPr id="145" name="Google Shape;145;p29"/>
              <p:cNvSpPr/>
              <p:nvPr/>
            </p:nvSpPr>
            <p:spPr>
              <a:xfrm>
                <a:off x="0" y="0"/>
                <a:ext cx="812800" cy="81279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792" extrusionOk="0">
                    <a:moveTo>
                      <a:pt x="406400" y="0"/>
                    </a:moveTo>
                    <a:cubicBezTo>
                      <a:pt x="181951" y="0"/>
                      <a:pt x="0" y="181950"/>
                      <a:pt x="0" y="406396"/>
                    </a:cubicBezTo>
                    <a:cubicBezTo>
                      <a:pt x="0" y="630842"/>
                      <a:pt x="181951" y="812792"/>
                      <a:pt x="406400" y="812792"/>
                    </a:cubicBezTo>
                    <a:cubicBezTo>
                      <a:pt x="630849" y="812792"/>
                      <a:pt x="812800" y="630842"/>
                      <a:pt x="812800" y="406396"/>
                    </a:cubicBezTo>
                    <a:cubicBezTo>
                      <a:pt x="812800" y="181950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900" cap="sq" cmpd="sng">
                <a:solidFill>
                  <a:srgbClr val="00000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35750" tIns="35750" rIns="35750" bIns="35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29"/>
              <p:cNvSpPr txBox="1"/>
              <p:nvPr/>
            </p:nvSpPr>
            <p:spPr>
              <a:xfrm>
                <a:off x="76200" y="28574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6800" tIns="16800" rIns="16800" bIns="16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243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704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7" name="Google Shape;147;p29"/>
            <p:cNvSpPr/>
            <p:nvPr/>
          </p:nvSpPr>
          <p:spPr>
            <a:xfrm>
              <a:off x="1349045" y="2174804"/>
              <a:ext cx="2037309" cy="2194959"/>
            </a:xfrm>
            <a:custGeom>
              <a:avLst/>
              <a:gdLst/>
              <a:ahLst/>
              <a:cxnLst/>
              <a:rect l="l" t="t" r="r" b="b"/>
              <a:pathLst>
                <a:path w="2382817" h="2660556" extrusionOk="0">
                  <a:moveTo>
                    <a:pt x="0" y="0"/>
                  </a:moveTo>
                  <a:lnTo>
                    <a:pt x="2382816" y="0"/>
                  </a:lnTo>
                  <a:lnTo>
                    <a:pt x="2382816" y="2660556"/>
                  </a:lnTo>
                  <a:lnTo>
                    <a:pt x="0" y="26605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t="-5000"/>
              </a:stretch>
            </a:blip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8" name="Google Shape;148;p29"/>
            <p:cNvSpPr txBox="1"/>
            <p:nvPr/>
          </p:nvSpPr>
          <p:spPr>
            <a:xfrm>
              <a:off x="376450" y="220192"/>
              <a:ext cx="3982500" cy="181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2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17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MEMS </a:t>
              </a:r>
              <a:endParaRPr sz="547"/>
            </a:p>
            <a:p>
              <a:pPr marL="0" marR="0" lvl="0" indent="0" algn="ctr" rtl="0">
                <a:lnSpc>
                  <a:spcPct val="12002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17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Actuator [2]</a:t>
              </a:r>
              <a:endParaRPr sz="547"/>
            </a:p>
            <a:p>
              <a:pPr marL="0" marR="0" lvl="0" indent="0" algn="ctr" rtl="0">
                <a:lnSpc>
                  <a:spcPct val="12002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17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29"/>
            <p:cNvSpPr txBox="1"/>
            <p:nvPr/>
          </p:nvSpPr>
          <p:spPr>
            <a:xfrm>
              <a:off x="376450" y="1208942"/>
              <a:ext cx="4092600" cy="81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4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Buzzer-Scanner (Wang et al. 2013)</a:t>
              </a:r>
              <a:endParaRPr sz="547"/>
            </a:p>
          </p:txBody>
        </p:sp>
      </p:grpSp>
      <p:grpSp>
        <p:nvGrpSpPr>
          <p:cNvPr id="150" name="Google Shape;150;p29"/>
          <p:cNvGrpSpPr/>
          <p:nvPr/>
        </p:nvGrpSpPr>
        <p:grpSpPr>
          <a:xfrm>
            <a:off x="3877627" y="1731437"/>
            <a:ext cx="1388750" cy="1388736"/>
            <a:chOff x="0" y="0"/>
            <a:chExt cx="812800" cy="812792"/>
          </a:xfrm>
        </p:grpSpPr>
        <p:sp>
          <p:nvSpPr>
            <p:cNvPr id="151" name="Google Shape;151;p29"/>
            <p:cNvSpPr/>
            <p:nvPr/>
          </p:nvSpPr>
          <p:spPr>
            <a:xfrm>
              <a:off x="0" y="0"/>
              <a:ext cx="812800" cy="812792"/>
            </a:xfrm>
            <a:custGeom>
              <a:avLst/>
              <a:gdLst/>
              <a:ahLst/>
              <a:cxnLst/>
              <a:rect l="l" t="t" r="r" b="b"/>
              <a:pathLst>
                <a:path w="812800" h="812792" extrusionOk="0">
                  <a:moveTo>
                    <a:pt x="406400" y="0"/>
                  </a:moveTo>
                  <a:cubicBezTo>
                    <a:pt x="181951" y="0"/>
                    <a:pt x="0" y="181950"/>
                    <a:pt x="0" y="406396"/>
                  </a:cubicBezTo>
                  <a:cubicBezTo>
                    <a:pt x="0" y="630842"/>
                    <a:pt x="181951" y="812792"/>
                    <a:pt x="406400" y="812792"/>
                  </a:cubicBezTo>
                  <a:cubicBezTo>
                    <a:pt x="630849" y="812792"/>
                    <a:pt x="812800" y="630842"/>
                    <a:pt x="812800" y="406396"/>
                  </a:cubicBezTo>
                  <a:cubicBezTo>
                    <a:pt x="812800" y="18195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490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35750" tIns="35750" rIns="35750" bIns="35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9"/>
            <p:cNvSpPr txBox="1"/>
            <p:nvPr/>
          </p:nvSpPr>
          <p:spPr>
            <a:xfrm>
              <a:off x="76200" y="28574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6800" tIns="16800" rIns="16800" bIns="16800" anchor="ctr" anchorCtr="0">
              <a:noAutofit/>
            </a:bodyPr>
            <a:lstStyle/>
            <a:p>
              <a:pPr marL="0" marR="0" lvl="0" indent="0" algn="ctr" rtl="0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3" name="Google Shape;153;p29"/>
          <p:cNvSpPr/>
          <p:nvPr/>
        </p:nvSpPr>
        <p:spPr>
          <a:xfrm>
            <a:off x="4131005" y="2314516"/>
            <a:ext cx="880720" cy="645753"/>
          </a:xfrm>
          <a:custGeom>
            <a:avLst/>
            <a:gdLst/>
            <a:ahLst/>
            <a:cxnLst/>
            <a:rect l="l" t="t" r="r" b="b"/>
            <a:pathLst>
              <a:path w="2689221" h="1858282" extrusionOk="0">
                <a:moveTo>
                  <a:pt x="0" y="0"/>
                </a:moveTo>
                <a:lnTo>
                  <a:pt x="2689221" y="0"/>
                </a:lnTo>
                <a:lnTo>
                  <a:pt x="2689221" y="1858282"/>
                </a:lnTo>
                <a:lnTo>
                  <a:pt x="0" y="18582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154" name="Google Shape;154;p29"/>
          <p:cNvSpPr txBox="1"/>
          <p:nvPr/>
        </p:nvSpPr>
        <p:spPr>
          <a:xfrm>
            <a:off x="4040221" y="1907967"/>
            <a:ext cx="1062300" cy="1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9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Photodetector</a:t>
            </a:r>
            <a:endParaRPr sz="570"/>
          </a:p>
        </p:txBody>
      </p:sp>
      <p:sp>
        <p:nvSpPr>
          <p:cNvPr id="155" name="Google Shape;155;p29"/>
          <p:cNvSpPr txBox="1"/>
          <p:nvPr/>
        </p:nvSpPr>
        <p:spPr>
          <a:xfrm>
            <a:off x="3984388" y="2098550"/>
            <a:ext cx="1200300" cy="2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Thorlabs FDSP625 Pigtailed Si Photodiode</a:t>
            </a:r>
            <a:endParaRPr sz="547"/>
          </a:p>
        </p:txBody>
      </p:sp>
      <p:sp>
        <p:nvSpPr>
          <p:cNvPr id="156" name="Google Shape;156;p29"/>
          <p:cNvSpPr txBox="1"/>
          <p:nvPr/>
        </p:nvSpPr>
        <p:spPr>
          <a:xfrm>
            <a:off x="4040225" y="350425"/>
            <a:ext cx="4830000" cy="8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175" tIns="86175" rIns="86175" bIns="86175" anchor="t" anchorCtr="0">
            <a:noAutofit/>
          </a:bodyPr>
          <a:lstStyle/>
          <a:p>
            <a:pPr marL="323242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8" b="1">
                <a:solidFill>
                  <a:schemeClr val="dk1"/>
                </a:solidFill>
              </a:rPr>
              <a:t>  Intended use:</a:t>
            </a:r>
            <a:endParaRPr sz="1508" b="1">
              <a:solidFill>
                <a:schemeClr val="dk1"/>
              </a:solidFill>
            </a:endParaRPr>
          </a:p>
          <a:p>
            <a:pPr marL="43099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37"/>
              <a:buFont typeface="Arial"/>
              <a:buNone/>
            </a:pPr>
            <a:r>
              <a:rPr lang="en" sz="1508">
                <a:solidFill>
                  <a:schemeClr val="dk1"/>
                </a:solidFill>
              </a:rPr>
              <a:t>Deliver low-latency direction indicators and signal intensity data to drive motorized alignment hardware.</a:t>
            </a:r>
            <a:endParaRPr sz="1508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"/>
          <p:cNvSpPr txBox="1"/>
          <p:nvPr/>
        </p:nvSpPr>
        <p:spPr>
          <a:xfrm>
            <a:off x="311700" y="259000"/>
            <a:ext cx="8520600" cy="6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Design Specification</a:t>
            </a:r>
            <a:endParaRPr b="1"/>
          </a:p>
        </p:txBody>
      </p:sp>
      <p:sp>
        <p:nvSpPr>
          <p:cNvPr id="162" name="Google Shape;162;p30"/>
          <p:cNvSpPr txBox="1"/>
          <p:nvPr/>
        </p:nvSpPr>
        <p:spPr>
          <a:xfrm>
            <a:off x="311700" y="889600"/>
            <a:ext cx="8520600" cy="40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5MHz clock speed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Raw readout: 700ps rise fall time, 1 μA - 40 μA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Allowed MEMS frequency : 2.38 Hz ~ 156.24761 kHz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16 bit Frequency Control Word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21 bit Phase Accumulator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Low Frequency Filter ~160 kHz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Mems_drv compatible to control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External MEMS DAC Driver (±10V Triangular Wave)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Wave mixer and comparator able to operate at 1.65V midrail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to isolate sign of dc_offset for directional identification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System is able to identify real signal from noise and jittering is minimize during idle and calibration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163" name="Google Shape;16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3550" y="1681336"/>
            <a:ext cx="2798758" cy="67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46450" y="2823627"/>
            <a:ext cx="2374074" cy="1455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/>
          <p:nvPr/>
        </p:nvSpPr>
        <p:spPr>
          <a:xfrm>
            <a:off x="323750" y="466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Decision - Simplify and Reduce to core function</a:t>
            </a:r>
            <a:endParaRPr b="1"/>
          </a:p>
        </p:txBody>
      </p:sp>
      <p:sp>
        <p:nvSpPr>
          <p:cNvPr id="170" name="Google Shape;170;p31"/>
          <p:cNvSpPr txBox="1"/>
          <p:nvPr/>
        </p:nvSpPr>
        <p:spPr>
          <a:xfrm>
            <a:off x="323750" y="1038750"/>
            <a:ext cx="5834700" cy="33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Based on Proposal Review Feedback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Skip unnecessary signal processing component that enhance accuracy of prediction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Removed: Integrator, Voltage to Time Converter, Time to Digital Converter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Report Wave Mixer Error as raw analog output for user reading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Remove XY Motion Control Interface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Extract and report low latency direction information as compass to alignment center based on dither motion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Simplify Digital Signal Processing to simple voting filter to discard false signal and remove 3-point Gaussian Area Algorithm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171" name="Google Shape;171;p31" title="Optical Probe Station Analog Design Domai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0850" y="1038750"/>
            <a:ext cx="2680750" cy="17881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31" title="Optical Probe Station Digital Design Domai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34650" y="2906609"/>
            <a:ext cx="2833151" cy="1609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31" title="Area Algorith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1475" y="4264150"/>
            <a:ext cx="4972050" cy="67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2"/>
          <p:cNvSpPr txBox="1"/>
          <p:nvPr/>
        </p:nvSpPr>
        <p:spPr>
          <a:xfrm>
            <a:off x="323750" y="466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System Overview - Block Diagram and Pin count</a:t>
            </a:r>
            <a:endParaRPr sz="2800"/>
          </a:p>
        </p:txBody>
      </p:sp>
      <p:sp>
        <p:nvSpPr>
          <p:cNvPr id="179" name="Google Shape;179;p32"/>
          <p:cNvSpPr txBox="1"/>
          <p:nvPr/>
        </p:nvSpPr>
        <p:spPr>
          <a:xfrm>
            <a:off x="323750" y="1038750"/>
            <a:ext cx="3431700" cy="3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State Control Mixed Signal System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Pin count (14)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Analog pin for readout (4)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SPI (4)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Custom Config,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User Command,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Status Report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Low latency feedback (4)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move_en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dir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ΔΣ Modulated Digital Wave (2)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mems_drv</a:t>
            </a:r>
            <a:endParaRPr sz="1600"/>
          </a:p>
        </p:txBody>
      </p:sp>
      <p:pic>
        <p:nvPicPr>
          <p:cNvPr id="180" name="Google Shape;180;p32" title="Optical Probe Station Chip Architec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7850" y="1191150"/>
            <a:ext cx="5083751" cy="3072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3"/>
          <p:cNvSpPr txBox="1"/>
          <p:nvPr/>
        </p:nvSpPr>
        <p:spPr>
          <a:xfrm>
            <a:off x="323750" y="466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System Overview - State Machine</a:t>
            </a:r>
            <a:endParaRPr b="1"/>
          </a:p>
        </p:txBody>
      </p:sp>
      <p:sp>
        <p:nvSpPr>
          <p:cNvPr id="186" name="Google Shape;186;p33"/>
          <p:cNvSpPr txBox="1"/>
          <p:nvPr/>
        </p:nvSpPr>
        <p:spPr>
          <a:xfrm>
            <a:off x="323750" y="1213400"/>
            <a:ext cx="2640300" cy="16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Boot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Load Config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Calibration (Optional)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Fallout (Optional)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Readout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Change Amp Ratio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187" name="Google Shape;187;p33" title="Optical Probe Station State Machin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1325" y="1038750"/>
            <a:ext cx="5102676" cy="345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3"/>
          <p:cNvSpPr txBox="1"/>
          <p:nvPr/>
        </p:nvSpPr>
        <p:spPr>
          <a:xfrm>
            <a:off x="323750" y="2884700"/>
            <a:ext cx="4180200" cy="1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After Load Config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Split to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1. Calibration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(missing phase_offset from SPI import)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Enter Fallout after calibration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Reboot system and load phase_offset data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2. Readout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4"/>
          <p:cNvSpPr txBox="1"/>
          <p:nvPr/>
        </p:nvSpPr>
        <p:spPr>
          <a:xfrm>
            <a:off x="323750" y="466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System Overview - RTL Traffic</a:t>
            </a:r>
            <a:endParaRPr b="1"/>
          </a:p>
        </p:txBody>
      </p:sp>
      <p:sp>
        <p:nvSpPr>
          <p:cNvPr id="194" name="Google Shape;194;p34"/>
          <p:cNvSpPr txBox="1"/>
          <p:nvPr/>
        </p:nvSpPr>
        <p:spPr>
          <a:xfrm>
            <a:off x="323750" y="1213400"/>
            <a:ext cx="3717600" cy="26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Readout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Dynamic Comparator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Wave controller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1. Wave generation (Driver/Reference Wave)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- Sigma Delta Modulated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2. Calibration (Optional)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3. Latch pulse (90°/270°)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Signal processor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Output move_en, dir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195" name="Google Shape;195;p34"/>
          <p:cNvSpPr txBox="1"/>
          <p:nvPr/>
        </p:nvSpPr>
        <p:spPr>
          <a:xfrm>
            <a:off x="323750" y="3810000"/>
            <a:ext cx="4180200" cy="11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Intermediate RTL for SPI and handshake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High: 3.3V Low: 0V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Minimize Digital-Analog Crossing to avoid  switching noise and complexity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196" name="Google Shape;196;p34" title="Optical Probe Station RTL Traffi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5904" y="1038750"/>
            <a:ext cx="3528444" cy="343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5"/>
          <p:cNvSpPr txBox="1"/>
          <p:nvPr/>
        </p:nvSpPr>
        <p:spPr>
          <a:xfrm>
            <a:off x="323750" y="466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System Overview - Signal Processor</a:t>
            </a:r>
            <a:endParaRPr b="1"/>
          </a:p>
        </p:txBody>
      </p:sp>
      <p:sp>
        <p:nvSpPr>
          <p:cNvPr id="202" name="Google Shape;202;p35"/>
          <p:cNvSpPr txBox="1"/>
          <p:nvPr/>
        </p:nvSpPr>
        <p:spPr>
          <a:xfrm>
            <a:off x="323750" y="1213400"/>
            <a:ext cx="5834700" cy="20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Comparator set to baseline 1.65V midrail as dc_offset = 0 from wave mixer error output.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Comparator goes through rs latch and inverter to store its value, ready for digital domain to retrieve.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Data is accessed and latch every 90°/270° calibrated phase delay.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Data is filtered through 16 sample voting to reject noise and jitter, latch for low latency output 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203" name="Google Shape;203;p35"/>
          <p:cNvSpPr txBox="1"/>
          <p:nvPr/>
        </p:nvSpPr>
        <p:spPr>
          <a:xfrm>
            <a:off x="323750" y="3473950"/>
            <a:ext cx="5032200" cy="11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In-phase: High on 0° - 180°, Low on 180° - 360°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Out-of-phase: Low on 0° - 180°, High on 180° - 360°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90° and 270° are the most stable point for latching and parsing comparator output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204" name="Google Shape;204;p35" title="Optical Probe Station Signal Processo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8477" y="1038750"/>
            <a:ext cx="2685876" cy="3510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Analog Front End - Transimpedance Amplifier</a:t>
            </a:r>
            <a:endParaRPr sz="2400"/>
          </a:p>
        </p:txBody>
      </p:sp>
      <p:pic>
        <p:nvPicPr>
          <p:cNvPr id="210" name="Google Shape;21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4350" y="1201425"/>
            <a:ext cx="3172452" cy="3454876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36"/>
          <p:cNvSpPr txBox="1">
            <a:spLocks noGrp="1"/>
          </p:cNvSpPr>
          <p:nvPr>
            <p:ph type="body" idx="1"/>
          </p:nvPr>
        </p:nvSpPr>
        <p:spPr>
          <a:xfrm>
            <a:off x="4542100" y="1984950"/>
            <a:ext cx="3009900" cy="11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Active Low Enable signal disables current mirror and rest of amplifier, to be controlled by digital signal until config is complete,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7"/>
          <p:cNvSpPr txBox="1">
            <a:spLocks noGrp="1"/>
          </p:cNvSpPr>
          <p:nvPr>
            <p:ph type="title"/>
          </p:nvPr>
        </p:nvSpPr>
        <p:spPr>
          <a:xfrm>
            <a:off x="311700" y="2909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Analog Front End - Transimpedance Amplifier</a:t>
            </a:r>
            <a:endParaRPr sz="2400"/>
          </a:p>
        </p:txBody>
      </p:sp>
      <p:sp>
        <p:nvSpPr>
          <p:cNvPr id="217" name="Google Shape;217;p37"/>
          <p:cNvSpPr txBox="1"/>
          <p:nvPr/>
        </p:nvSpPr>
        <p:spPr>
          <a:xfrm>
            <a:off x="5656475" y="2400347"/>
            <a:ext cx="1854900" cy="4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200" tIns="88200" rIns="88200" bIns="882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43">
                <a:solidFill>
                  <a:schemeClr val="dk1"/>
                </a:solidFill>
                <a:highlight>
                  <a:schemeClr val="lt1"/>
                </a:highlight>
              </a:rPr>
              <a:t>Gain</a:t>
            </a:r>
            <a:endParaRPr sz="1543"/>
          </a:p>
        </p:txBody>
      </p:sp>
      <p:pic>
        <p:nvPicPr>
          <p:cNvPr id="218" name="Google Shape;21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9432" y="1070575"/>
            <a:ext cx="4247043" cy="306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6474" y="1070566"/>
            <a:ext cx="2045276" cy="1745046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7"/>
          <p:cNvSpPr txBox="1"/>
          <p:nvPr/>
        </p:nvSpPr>
        <p:spPr>
          <a:xfrm>
            <a:off x="5826634" y="2225654"/>
            <a:ext cx="1854900" cy="5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200" tIns="88200" rIns="88200" bIns="882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72">
                <a:solidFill>
                  <a:schemeClr val="dk1"/>
                </a:solidFill>
                <a:highlight>
                  <a:schemeClr val="lt1"/>
                </a:highlight>
              </a:rPr>
              <a:t>DC photodetector  current sweep </a:t>
            </a:r>
            <a:endParaRPr sz="772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72">
                <a:solidFill>
                  <a:schemeClr val="dk1"/>
                </a:solidFill>
                <a:highlight>
                  <a:schemeClr val="lt1"/>
                </a:highlight>
              </a:rPr>
              <a:t>1uA-40uA  linear response</a:t>
            </a:r>
            <a:endParaRPr sz="772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221" name="Google Shape;221;p37"/>
          <p:cNvPicPr preferRelativeResize="0"/>
          <p:nvPr/>
        </p:nvPicPr>
        <p:blipFill rotWithShape="1">
          <a:blip r:embed="rId5">
            <a:alphaModFix/>
          </a:blip>
          <a:srcRect t="1205"/>
          <a:stretch/>
        </p:blipFill>
        <p:spPr>
          <a:xfrm>
            <a:off x="6575525" y="2815600"/>
            <a:ext cx="2120275" cy="176202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7"/>
          <p:cNvSpPr txBox="1"/>
          <p:nvPr/>
        </p:nvSpPr>
        <p:spPr>
          <a:xfrm>
            <a:off x="6789447" y="3827333"/>
            <a:ext cx="23310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650" tIns="93650" rIns="93650" bIns="93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19">
                <a:solidFill>
                  <a:schemeClr val="dk1"/>
                </a:solidFill>
                <a:highlight>
                  <a:schemeClr val="lt1"/>
                </a:highlight>
              </a:rPr>
              <a:t>Open Loop</a:t>
            </a:r>
            <a:br>
              <a:rPr lang="en" sz="819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819">
                <a:solidFill>
                  <a:schemeClr val="dk1"/>
                </a:solidFill>
                <a:highlight>
                  <a:schemeClr val="lt1"/>
                </a:highlight>
              </a:rPr>
              <a:t>1 Hz ~ 10MHz</a:t>
            </a:r>
            <a:br>
              <a:rPr lang="en" sz="819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819">
                <a:solidFill>
                  <a:schemeClr val="dk1"/>
                </a:solidFill>
                <a:highlight>
                  <a:schemeClr val="lt1"/>
                </a:highlight>
              </a:rPr>
              <a:t>Well covering target specs</a:t>
            </a:r>
            <a:endParaRPr sz="819"/>
          </a:p>
        </p:txBody>
      </p:sp>
      <p:pic>
        <p:nvPicPr>
          <p:cNvPr id="223" name="Google Shape;223;p37"/>
          <p:cNvPicPr preferRelativeResize="0"/>
          <p:nvPr/>
        </p:nvPicPr>
        <p:blipFill rotWithShape="1">
          <a:blip r:embed="rId6">
            <a:alphaModFix/>
          </a:blip>
          <a:srcRect t="4434"/>
          <a:stretch/>
        </p:blipFill>
        <p:spPr>
          <a:xfrm>
            <a:off x="4455250" y="2815604"/>
            <a:ext cx="2120275" cy="1762021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7"/>
          <p:cNvSpPr txBox="1"/>
          <p:nvPr/>
        </p:nvSpPr>
        <p:spPr>
          <a:xfrm>
            <a:off x="2751675" y="3869650"/>
            <a:ext cx="2220300" cy="6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79">
                <a:solidFill>
                  <a:schemeClr val="dk1"/>
                </a:solidFill>
                <a:highlight>
                  <a:schemeClr val="lt1"/>
                </a:highlight>
              </a:rPr>
              <a:t>Transient Simulation @156kHz</a:t>
            </a:r>
            <a:endParaRPr sz="979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79">
                <a:solidFill>
                  <a:schemeClr val="dk1"/>
                </a:solidFill>
                <a:highlight>
                  <a:schemeClr val="lt1"/>
                </a:highlight>
              </a:rPr>
              <a:t>I</a:t>
            </a:r>
            <a:r>
              <a:rPr lang="en" sz="979" baseline="-25000">
                <a:solidFill>
                  <a:schemeClr val="dk1"/>
                </a:solidFill>
                <a:highlight>
                  <a:schemeClr val="lt1"/>
                </a:highlight>
              </a:rPr>
              <a:t>IN</a:t>
            </a:r>
            <a:r>
              <a:rPr lang="en" sz="979">
                <a:solidFill>
                  <a:schemeClr val="dk1"/>
                </a:solidFill>
                <a:highlight>
                  <a:schemeClr val="lt1"/>
                </a:highlight>
              </a:rPr>
              <a:t>: 40uA DC, 4uA amplitude</a:t>
            </a:r>
            <a:endParaRPr sz="979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79">
                <a:solidFill>
                  <a:schemeClr val="dk1"/>
                </a:solidFill>
                <a:highlight>
                  <a:schemeClr val="lt1"/>
                </a:highlight>
              </a:rPr>
              <a:t>V</a:t>
            </a:r>
            <a:r>
              <a:rPr lang="en" sz="979" baseline="-25000">
                <a:solidFill>
                  <a:schemeClr val="dk1"/>
                </a:solidFill>
                <a:highlight>
                  <a:schemeClr val="lt1"/>
                </a:highlight>
              </a:rPr>
              <a:t>OUT</a:t>
            </a:r>
            <a:r>
              <a:rPr lang="en" sz="979">
                <a:solidFill>
                  <a:schemeClr val="dk1"/>
                </a:solidFill>
                <a:highlight>
                  <a:schemeClr val="lt1"/>
                </a:highlight>
              </a:rPr>
              <a:t> = 1.47V DC, 0.11V Vpp</a:t>
            </a:r>
            <a:endParaRPr sz="979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Analog Front End - Two Integrator Loop G</a:t>
            </a:r>
            <a:r>
              <a:rPr lang="en" sz="2400" baseline="-25000"/>
              <a:t>m</a:t>
            </a:r>
            <a:r>
              <a:rPr lang="en" sz="2400"/>
              <a:t>-C BP + LP Filter</a:t>
            </a:r>
            <a:endParaRPr sz="2400"/>
          </a:p>
        </p:txBody>
      </p:sp>
      <p:pic>
        <p:nvPicPr>
          <p:cNvPr id="230" name="Google Shape;230;p38"/>
          <p:cNvPicPr preferRelativeResize="0"/>
          <p:nvPr/>
        </p:nvPicPr>
        <p:blipFill rotWithShape="1">
          <a:blip r:embed="rId3">
            <a:alphaModFix/>
          </a:blip>
          <a:srcRect t="47540" r="49653"/>
          <a:stretch/>
        </p:blipFill>
        <p:spPr>
          <a:xfrm>
            <a:off x="341875" y="1246046"/>
            <a:ext cx="3936825" cy="25534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8"/>
          <p:cNvPicPr preferRelativeResize="0"/>
          <p:nvPr/>
        </p:nvPicPr>
        <p:blipFill rotWithShape="1">
          <a:blip r:embed="rId3">
            <a:alphaModFix/>
          </a:blip>
          <a:srcRect l="59940" t="1439" r="6765" b="53722"/>
          <a:stretch/>
        </p:blipFill>
        <p:spPr>
          <a:xfrm>
            <a:off x="4404375" y="1210850"/>
            <a:ext cx="2267575" cy="190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38"/>
          <p:cNvPicPr preferRelativeResize="0"/>
          <p:nvPr/>
        </p:nvPicPr>
        <p:blipFill rotWithShape="1">
          <a:blip r:embed="rId3">
            <a:alphaModFix/>
          </a:blip>
          <a:srcRect l="59567" t="52055" r="6544" b="2235"/>
          <a:stretch/>
        </p:blipFill>
        <p:spPr>
          <a:xfrm>
            <a:off x="6671949" y="1210850"/>
            <a:ext cx="2267575" cy="1903764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8"/>
          <p:cNvSpPr txBox="1"/>
          <p:nvPr/>
        </p:nvSpPr>
        <p:spPr>
          <a:xfrm>
            <a:off x="4426050" y="3218000"/>
            <a:ext cx="30000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Designed for 156 kHz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Tunable for each allowed MEMS frequency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2 Hz ~ 156kHz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Analog Front End - Testbench of TIA + Bandpass Filter</a:t>
            </a:r>
            <a:endParaRPr sz="2400"/>
          </a:p>
        </p:txBody>
      </p:sp>
      <p:pic>
        <p:nvPicPr>
          <p:cNvPr id="239" name="Google Shape;23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9975" y="1114100"/>
            <a:ext cx="6251899" cy="3671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17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Analog Front End - 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TIA + Bandpass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Testbench</a:t>
            </a:r>
            <a:endParaRPr sz="2400"/>
          </a:p>
        </p:txBody>
      </p:sp>
      <p:pic>
        <p:nvPicPr>
          <p:cNvPr id="245" name="Google Shape;24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7800" y="516014"/>
            <a:ext cx="5014499" cy="196318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40"/>
          <p:cNvSpPr txBox="1"/>
          <p:nvPr/>
        </p:nvSpPr>
        <p:spPr>
          <a:xfrm>
            <a:off x="311700" y="1863750"/>
            <a:ext cx="3000000" cy="19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Photodetector Sample Input: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40uA DC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4u amplitude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156kHz frequency vs 1MHz shows filtering, though output swing could be improved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247" name="Google Shape;247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7800" y="2372475"/>
            <a:ext cx="5014495" cy="209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4" name="Google Shape;254;p41" title="Screenshot 2026-07-05 at 12.53.07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9623"/>
            <a:ext cx="9144003" cy="4603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Mixer Schematic</a:t>
            </a:r>
            <a:endParaRPr/>
          </a:p>
        </p:txBody>
      </p:sp>
      <p:sp>
        <p:nvSpPr>
          <p:cNvPr id="260" name="Google Shape;260;p42"/>
          <p:cNvSpPr txBox="1">
            <a:spLocks noGrp="1"/>
          </p:cNvSpPr>
          <p:nvPr>
            <p:ph type="body" idx="1"/>
          </p:nvPr>
        </p:nvSpPr>
        <p:spPr>
          <a:xfrm>
            <a:off x="4572000" y="1152475"/>
            <a:ext cx="42603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Standard gilbert cell mixer to the left and 5t ota to the bottom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5t ota buffer is needed to convert to single ended and add some gain</a:t>
            </a:r>
            <a:endParaRPr/>
          </a:p>
        </p:txBody>
      </p:sp>
      <p:pic>
        <p:nvPicPr>
          <p:cNvPr id="261" name="Google Shape;26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250" y="1017725"/>
            <a:ext cx="3740632" cy="399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6325" y="2234044"/>
            <a:ext cx="3993576" cy="2774707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42"/>
          <p:cNvSpPr txBox="1"/>
          <p:nvPr/>
        </p:nvSpPr>
        <p:spPr>
          <a:xfrm>
            <a:off x="7141200" y="4177450"/>
            <a:ext cx="16911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5t OTA, current mirror attached to i_bias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Mixer Testbench</a:t>
            </a:r>
            <a:endParaRPr/>
          </a:p>
        </p:txBody>
      </p:sp>
      <p:sp>
        <p:nvSpPr>
          <p:cNvPr id="269" name="Google Shape;269;p43"/>
          <p:cNvSpPr txBox="1">
            <a:spLocks noGrp="1"/>
          </p:cNvSpPr>
          <p:nvPr>
            <p:ph type="body" idx="1"/>
          </p:nvPr>
        </p:nvSpPr>
        <p:spPr>
          <a:xfrm>
            <a:off x="6946150" y="1080450"/>
            <a:ext cx="1946400" cy="8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Resulting DC Output to Comparator for algorithm</a:t>
            </a:r>
            <a:endParaRPr/>
          </a:p>
        </p:txBody>
      </p:sp>
      <p:pic>
        <p:nvPicPr>
          <p:cNvPr id="270" name="Google Shape;27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13"/>
            <a:ext cx="6412400" cy="3769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2200" y="2846600"/>
            <a:ext cx="3270350" cy="2063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2" name="Google Shape;272;p43"/>
          <p:cNvCxnSpPr/>
          <p:nvPr/>
        </p:nvCxnSpPr>
        <p:spPr>
          <a:xfrm flipH="1">
            <a:off x="7773400" y="2791300"/>
            <a:ext cx="291900" cy="81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3" name="Google Shape;273;p43"/>
          <p:cNvSpPr txBox="1"/>
          <p:nvPr/>
        </p:nvSpPr>
        <p:spPr>
          <a:xfrm>
            <a:off x="7955850" y="2453375"/>
            <a:ext cx="803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312kHz</a:t>
            </a:r>
            <a:endParaRPr/>
          </a:p>
        </p:txBody>
      </p:sp>
      <p:cxnSp>
        <p:nvCxnSpPr>
          <p:cNvPr id="274" name="Google Shape;274;p43"/>
          <p:cNvCxnSpPr/>
          <p:nvPr/>
        </p:nvCxnSpPr>
        <p:spPr>
          <a:xfrm flipH="1">
            <a:off x="7018650" y="2411550"/>
            <a:ext cx="291900" cy="81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5" name="Google Shape;275;p43"/>
          <p:cNvSpPr txBox="1"/>
          <p:nvPr/>
        </p:nvSpPr>
        <p:spPr>
          <a:xfrm>
            <a:off x="7261900" y="2224725"/>
            <a:ext cx="803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156kHz</a:t>
            </a:r>
            <a:endParaRPr/>
          </a:p>
        </p:txBody>
      </p:sp>
      <p:cxnSp>
        <p:nvCxnSpPr>
          <p:cNvPr id="276" name="Google Shape;276;p43"/>
          <p:cNvCxnSpPr/>
          <p:nvPr/>
        </p:nvCxnSpPr>
        <p:spPr>
          <a:xfrm flipH="1">
            <a:off x="6453750" y="2292875"/>
            <a:ext cx="432000" cy="721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7" name="Google Shape;277;p43"/>
          <p:cNvSpPr txBox="1"/>
          <p:nvPr/>
        </p:nvSpPr>
        <p:spPr>
          <a:xfrm>
            <a:off x="6734875" y="1957975"/>
            <a:ext cx="564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DC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Comparator Schematic</a:t>
            </a:r>
            <a:endParaRPr/>
          </a:p>
        </p:txBody>
      </p:sp>
      <p:sp>
        <p:nvSpPr>
          <p:cNvPr id="283" name="Google Shape;283;p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4" name="Google Shape;28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00" y="1761650"/>
            <a:ext cx="5406675" cy="2873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7800" y="1862301"/>
            <a:ext cx="3504549" cy="26723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44"/>
          <p:cNvSpPr txBox="1"/>
          <p:nvPr/>
        </p:nvSpPr>
        <p:spPr>
          <a:xfrm>
            <a:off x="691288" y="1188950"/>
            <a:ext cx="4149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Simple Strong Arm Latch Comparator</a:t>
            </a:r>
            <a:endParaRPr sz="1600"/>
          </a:p>
        </p:txBody>
      </p:sp>
      <p:sp>
        <p:nvSpPr>
          <p:cNvPr id="287" name="Google Shape;287;p44"/>
          <p:cNvSpPr txBox="1"/>
          <p:nvPr/>
        </p:nvSpPr>
        <p:spPr>
          <a:xfrm>
            <a:off x="5692122" y="1188950"/>
            <a:ext cx="3255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Simple RS Latch for memory</a:t>
            </a:r>
            <a:endParaRPr sz="1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Comparator Testbench</a:t>
            </a:r>
            <a:endParaRPr sz="2400"/>
          </a:p>
        </p:txBody>
      </p:sp>
      <p:pic>
        <p:nvPicPr>
          <p:cNvPr id="294" name="Google Shape;29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088" y="1085100"/>
            <a:ext cx="8087826" cy="3551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9491" y="1085100"/>
            <a:ext cx="3526434" cy="1791026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45"/>
          <p:cNvSpPr txBox="1"/>
          <p:nvPr/>
        </p:nvSpPr>
        <p:spPr>
          <a:xfrm>
            <a:off x="5887100" y="256175"/>
            <a:ext cx="2618700" cy="9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highlight>
                  <a:srgbClr val="FFFFFF"/>
                </a:highlight>
              </a:rPr>
              <a:t>In_p: wave mixer output</a:t>
            </a:r>
            <a:br>
              <a:rPr lang="en" sz="1600">
                <a:solidFill>
                  <a:srgbClr val="000000"/>
                </a:solidFill>
                <a:highlight>
                  <a:srgbClr val="FFFFFF"/>
                </a:highlight>
              </a:rPr>
            </a:br>
            <a:r>
              <a:rPr lang="en" sz="1600">
                <a:solidFill>
                  <a:srgbClr val="000000"/>
                </a:solidFill>
                <a:highlight>
                  <a:srgbClr val="FFFFFF"/>
                </a:highlight>
              </a:rPr>
              <a:t>In_n: dc offset (V mid rail)</a:t>
            </a:r>
            <a:br>
              <a:rPr lang="en" sz="1600">
                <a:solidFill>
                  <a:srgbClr val="000000"/>
                </a:solidFill>
                <a:highlight>
                  <a:srgbClr val="FFFFFF"/>
                </a:highlight>
              </a:rPr>
            </a:br>
            <a:r>
              <a:rPr lang="en" sz="1600">
                <a:solidFill>
                  <a:srgbClr val="000000"/>
                </a:solidFill>
                <a:highlight>
                  <a:srgbClr val="FFFFFF"/>
                </a:highlight>
              </a:rPr>
              <a:t>Comp_out: digital interface</a:t>
            </a:r>
            <a:endParaRPr sz="1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Digital - Summary</a:t>
            </a:r>
            <a:endParaRPr sz="2400"/>
          </a:p>
        </p:txBody>
      </p:sp>
      <p:sp>
        <p:nvSpPr>
          <p:cNvPr id="302" name="Google Shape;302;p46"/>
          <p:cNvSpPr txBox="1"/>
          <p:nvPr/>
        </p:nvSpPr>
        <p:spPr>
          <a:xfrm>
            <a:off x="323750" y="1038749"/>
            <a:ext cx="3138300" cy="379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dirty="0">
                <a:solidFill>
                  <a:schemeClr val="dk1"/>
                </a:solidFill>
              </a:rPr>
              <a:t>System Verlog Completed:</a:t>
            </a:r>
            <a:br>
              <a:rPr lang="en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SPI (100%)</a:t>
            </a:r>
            <a:br>
              <a:rPr lang="en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State Machine (100%)</a:t>
            </a:r>
            <a:br>
              <a:rPr lang="en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Wave Controller (100%)</a:t>
            </a:r>
            <a:br>
              <a:rPr lang="en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Signal Processor (100%)</a:t>
            </a:r>
            <a:endParaRPr dirty="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dirty="0">
                <a:solidFill>
                  <a:schemeClr val="dk1"/>
                </a:solidFill>
              </a:rPr>
              <a:t>Cocotb Tested:</a:t>
            </a:r>
            <a:br>
              <a:rPr lang="en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SPI (100%)</a:t>
            </a:r>
            <a:br>
              <a:rPr lang="en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State Machine (100%)</a:t>
            </a:r>
            <a:br>
              <a:rPr lang="en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Wave Controller (100%)</a:t>
            </a:r>
            <a:br>
              <a:rPr lang="en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Signal Processor (100%)</a:t>
            </a:r>
            <a:endParaRPr dirty="0">
              <a:solidFill>
                <a:schemeClr val="dk1"/>
              </a:solidFill>
            </a:endParaRPr>
          </a:p>
          <a:p>
            <a:pPr marL="457200" lvl="0" indent="-330200">
              <a:buClr>
                <a:schemeClr val="dk1"/>
              </a:buClr>
              <a:buSzPts val="1600"/>
              <a:buAutoNum type="arabicPeriod"/>
            </a:pPr>
            <a:r>
              <a:rPr lang="en" dirty="0">
                <a:solidFill>
                  <a:schemeClr val="dk1"/>
                </a:solidFill>
              </a:rPr>
              <a:t>Gtkwave Timing Visualization:</a:t>
            </a:r>
            <a:br>
              <a:rPr lang="en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SPI (100%)</a:t>
            </a:r>
            <a:br>
              <a:rPr lang="en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State Machine (100%)</a:t>
            </a:r>
            <a:br>
              <a:rPr lang="en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Wave Controller (100%)</a:t>
            </a:r>
            <a:br>
              <a:rPr lang="en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Signal Processor (100%)</a:t>
            </a:r>
            <a:endParaRPr dirty="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dirty="0">
                <a:solidFill>
                  <a:schemeClr val="dk1"/>
                </a:solidFill>
              </a:rPr>
              <a:t>Underdevelopment:</a:t>
            </a:r>
            <a:br>
              <a:rPr lang="en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Amp Ratio Adjuster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303" name="Google Shape;303;p46"/>
          <p:cNvSpPr txBox="1"/>
          <p:nvPr/>
        </p:nvSpPr>
        <p:spPr>
          <a:xfrm>
            <a:off x="5843125" y="1038750"/>
            <a:ext cx="3138300" cy="3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Links: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1. System Verilog HDL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Probton\src</a:t>
            </a:r>
            <a:br>
              <a:rPr lang="en">
                <a:solidFill>
                  <a:schemeClr val="dk1"/>
                </a:solidFill>
              </a:rPr>
            </a:br>
            <a:r>
              <a:rPr lang="en" u="sng">
                <a:solidFill>
                  <a:schemeClr val="hlink"/>
                </a:solidFill>
                <a:hlinkClick r:id="rId3"/>
              </a:rPr>
              <a:t>https://github.com/llhtimlam/Probton/tree/main/src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2. Cocotb Simulation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Probton\cocotb</a:t>
            </a:r>
            <a:br>
              <a:rPr lang="en">
                <a:solidFill>
                  <a:schemeClr val="dk1"/>
                </a:solidFill>
              </a:rPr>
            </a:br>
            <a:r>
              <a:rPr lang="en" u="sng">
                <a:solidFill>
                  <a:schemeClr val="hlink"/>
                </a:solidFill>
                <a:hlinkClick r:id="rId4"/>
              </a:rPr>
              <a:t>https://github.com/llhtimlam/Probton/tree/main/cocotb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3. Gtkwave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Probton\cocotb\sim_build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https://github.com/llhtimlam/Probton/tree/main/cocotb/sim_build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7"/>
          <p:cNvSpPr txBox="1">
            <a:spLocks noGrp="1"/>
          </p:cNvSpPr>
          <p:nvPr>
            <p:ph type="body" idx="1"/>
          </p:nvPr>
        </p:nvSpPr>
        <p:spPr>
          <a:xfrm>
            <a:off x="311700" y="3907600"/>
            <a:ext cx="8520600" cy="94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Boot -&gt; Load Config -&gt; Calibration -&gt; Fallout (cal_done or cal_timeout)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Boot -&gt; Load Config -&gt; Readout -&gt; Change Amp Ratio -&gt; Readout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Passed test on all transition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Digital - State Machine Simulation</a:t>
            </a:r>
            <a:endParaRPr sz="2400"/>
          </a:p>
        </p:txBody>
      </p:sp>
      <p:pic>
        <p:nvPicPr>
          <p:cNvPr id="310" name="Google Shape;31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97425"/>
            <a:ext cx="7606656" cy="2585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8"/>
          <p:cNvSpPr txBox="1">
            <a:spLocks noGrp="1"/>
          </p:cNvSpPr>
          <p:nvPr>
            <p:ph type="body" idx="1"/>
          </p:nvPr>
        </p:nvSpPr>
        <p:spPr>
          <a:xfrm>
            <a:off x="311700" y="3616800"/>
            <a:ext cx="8520600" cy="95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 wave is generated for memes driver (expecting triangular wave but use sin wave due to third odd harmonic)</a:t>
            </a:r>
            <a:br>
              <a:rPr lang="en"/>
            </a:br>
            <a:r>
              <a:rPr lang="en"/>
              <a:t>Square wave is generated for wave mixer reference wave</a:t>
            </a:r>
            <a:br>
              <a:rPr lang="en"/>
            </a:br>
            <a:r>
              <a:rPr lang="en"/>
              <a:t>Utilized Sigma Delta Modulator for pwm wave generation</a:t>
            </a:r>
            <a:endParaRPr/>
          </a:p>
        </p:txBody>
      </p:sp>
      <p:sp>
        <p:nvSpPr>
          <p:cNvPr id="316" name="Google Shape;316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Digital - Wave Controller</a:t>
            </a:r>
            <a:endParaRPr sz="2400"/>
          </a:p>
        </p:txBody>
      </p:sp>
      <p:pic>
        <p:nvPicPr>
          <p:cNvPr id="317" name="Google Shape;31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197" cy="15041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9"/>
          <p:cNvSpPr txBox="1"/>
          <p:nvPr/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Calibration: Phase-Lag Capture with Jitter Rejection</a:t>
            </a:r>
            <a:endParaRPr sz="2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49"/>
          <p:cNvSpPr txBox="1"/>
          <p:nvPr/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Jitter guard active</a:t>
            </a:r>
            <a:endParaRPr sz="1100"/>
          </a:p>
        </p:txBody>
      </p:sp>
      <p:sp>
        <p:nvSpPr>
          <p:cNvPr id="324" name="Google Shape;324;p49"/>
          <p:cNvSpPr txBox="1"/>
          <p:nvPr/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254000" marR="0" lvl="0" indent="-247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Early/invalid edges rejected (wave_is_valid=0)</a:t>
            </a:r>
            <a:endParaRPr sz="1100"/>
          </a:p>
          <a:p>
            <a:pPr marL="254000" marR="0" lvl="0" indent="-247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Capture re-arms, no offset committed</a:t>
            </a:r>
            <a:endParaRPr sz="1100"/>
          </a:p>
        </p:txBody>
      </p:sp>
      <p:sp>
        <p:nvSpPr>
          <p:cNvPr id="325" name="Google Shape;325;p49"/>
          <p:cNvSpPr txBox="1"/>
          <p:nvPr/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 Calibration</a:t>
            </a:r>
            <a:endParaRPr sz="1100"/>
          </a:p>
        </p:txBody>
      </p:sp>
      <p:sp>
        <p:nvSpPr>
          <p:cNvPr id="326" name="Google Shape;326;p49"/>
          <p:cNvSpPr txBox="1"/>
          <p:nvPr/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254000" marR="0" lvl="0" indent="-247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three edges captured (wave_is_valid=1)</a:t>
            </a:r>
            <a:endParaRPr sz="1100"/>
          </a:p>
          <a:p>
            <a:pPr marL="254000" marR="0" lvl="0" indent="-247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90°/270° offsets computed: ~523k / ~1573k in phase-accumulator units</a:t>
            </a:r>
            <a:endParaRPr sz="1100"/>
          </a:p>
        </p:txBody>
      </p:sp>
      <p:pic>
        <p:nvPicPr>
          <p:cNvPr id="327" name="Google Shape;327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62269" y="3128441"/>
            <a:ext cx="3221154" cy="754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2816" y="3128441"/>
            <a:ext cx="3582389" cy="754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0"/>
          <p:cNvSpPr txBox="1"/>
          <p:nvPr/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Readout: Phase-Sampling Strobes with Ack Handshake</a:t>
            </a:r>
            <a:endParaRPr sz="2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50"/>
          <p:cNvSpPr txBox="1"/>
          <p:nvPr/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90° strobe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50"/>
          <p:cNvSpPr txBox="1"/>
          <p:nvPr/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254000" marR="0" lvl="0" indent="-247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Fires at phase_acc = 524288 (2²¹/4), held until ack, then cleared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50"/>
          <p:cNvSpPr txBox="1"/>
          <p:nvPr/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270° strobe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50"/>
          <p:cNvSpPr txBox="1"/>
          <p:nvPr/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254000" marR="0" lvl="0" indent="-247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Fires at phase_acc = 1572864 (3·2²¹/4), held until ack, then cleared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8" name="Google Shape;338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7940" y="3042707"/>
            <a:ext cx="3628091" cy="925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5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13788" y="2981887"/>
            <a:ext cx="3941976" cy="9864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1"/>
          <p:cNvSpPr txBox="1"/>
          <p:nvPr/>
        </p:nvSpPr>
        <p:spPr>
          <a:xfrm>
            <a:off x="323750" y="466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Simulation Result</a:t>
            </a:r>
            <a:endParaRPr b="1"/>
          </a:p>
        </p:txBody>
      </p:sp>
      <p:sp>
        <p:nvSpPr>
          <p:cNvPr id="345" name="Google Shape;345;p51"/>
          <p:cNvSpPr txBox="1"/>
          <p:nvPr/>
        </p:nvSpPr>
        <p:spPr>
          <a:xfrm>
            <a:off x="3311850" y="393275"/>
            <a:ext cx="5673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Improvement could be made by voting filter and adjusting amp ratio for better resolution</a:t>
            </a:r>
            <a:endParaRPr sz="1600"/>
          </a:p>
        </p:txBody>
      </p:sp>
      <p:pic>
        <p:nvPicPr>
          <p:cNvPr id="346" name="Google Shape;34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600" y="1108325"/>
            <a:ext cx="7243124" cy="379995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51"/>
          <p:cNvSpPr txBox="1"/>
          <p:nvPr/>
        </p:nvSpPr>
        <p:spPr>
          <a:xfrm>
            <a:off x="7546725" y="1575300"/>
            <a:ext cx="1597200" cy="24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Just using the direction bit retrieved from the wave mixer, it is able to locate the center but converge too early.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2"/>
          <p:cNvSpPr txBox="1"/>
          <p:nvPr/>
        </p:nvSpPr>
        <p:spPr>
          <a:xfrm>
            <a:off x="323750" y="466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Simulation Result</a:t>
            </a:r>
            <a:endParaRPr b="1"/>
          </a:p>
        </p:txBody>
      </p:sp>
      <p:pic>
        <p:nvPicPr>
          <p:cNvPr id="353" name="Google Shape;353;p52" title="Optical Probe Station Monte Carlo Simulation 2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425" y="1038750"/>
            <a:ext cx="7896000" cy="379995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52"/>
          <p:cNvSpPr txBox="1"/>
          <p:nvPr/>
        </p:nvSpPr>
        <p:spPr>
          <a:xfrm>
            <a:off x="3311850" y="393275"/>
            <a:ext cx="5673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Improvement could be made by voting filter and adjusting amp ratio for better resolution</a:t>
            </a:r>
            <a:endParaRPr sz="1600"/>
          </a:p>
        </p:txBody>
      </p:sp>
      <p:sp>
        <p:nvSpPr>
          <p:cNvPr id="355" name="Google Shape;355;p52"/>
          <p:cNvSpPr txBox="1"/>
          <p:nvPr/>
        </p:nvSpPr>
        <p:spPr>
          <a:xfrm>
            <a:off x="2051550" y="1980450"/>
            <a:ext cx="3919800" cy="8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Shows concentrated convergence result due to early converges and not able to identify the direction near peak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3"/>
          <p:cNvSpPr txBox="1"/>
          <p:nvPr/>
        </p:nvSpPr>
        <p:spPr>
          <a:xfrm>
            <a:off x="311700" y="364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Project Planning and Tracker</a:t>
            </a:r>
            <a:endParaRPr b="1"/>
          </a:p>
        </p:txBody>
      </p:sp>
      <p:pic>
        <p:nvPicPr>
          <p:cNvPr id="361" name="Google Shape;361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36975"/>
            <a:ext cx="8839204" cy="37937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4"/>
          <p:cNvSpPr txBox="1"/>
          <p:nvPr/>
        </p:nvSpPr>
        <p:spPr>
          <a:xfrm>
            <a:off x="323750" y="466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Question</a:t>
            </a:r>
            <a:endParaRPr b="1"/>
          </a:p>
        </p:txBody>
      </p:sp>
      <p:sp>
        <p:nvSpPr>
          <p:cNvPr id="367" name="Google Shape;367;p54"/>
          <p:cNvSpPr txBox="1"/>
          <p:nvPr/>
        </p:nvSpPr>
        <p:spPr>
          <a:xfrm>
            <a:off x="311700" y="1038750"/>
            <a:ext cx="8520600" cy="17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highlight>
                  <a:srgbClr val="FFFFFF"/>
                </a:highlight>
              </a:rPr>
              <a:t>1. </a:t>
            </a:r>
            <a:r>
              <a:rPr lang="en">
                <a:highlight>
                  <a:srgbClr val="FFFFFF"/>
                </a:highlight>
              </a:rPr>
              <a:t>Should we bundle readout intensity with wave mixer error for synchronous digital reporting, or maintain isolated asynchronous paths in analog?</a:t>
            </a:r>
            <a:br>
              <a:rPr lang="en">
                <a:highlight>
                  <a:srgbClr val="FFFFFF"/>
                </a:highlight>
              </a:rPr>
            </a:b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chemeClr val="lt1"/>
                </a:highlight>
              </a:rPr>
              <a:t>2. 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How should we change the amp ratio? Should we use a switch to disable the readout and then change the analog setting?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chemeClr val="lt1"/>
                </a:highlight>
              </a:rPr>
              <a:t>3. 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Feedback on the chip architect and whole system?</a:t>
            </a:r>
            <a:endParaRPr sz="1100">
              <a:solidFill>
                <a:srgbClr val="000000"/>
              </a:solidFill>
            </a:endParaRPr>
          </a:p>
        </p:txBody>
      </p:sp>
      <p:sp>
        <p:nvSpPr>
          <p:cNvPr id="368" name="Google Shape;368;p54"/>
          <p:cNvSpPr txBox="1"/>
          <p:nvPr/>
        </p:nvSpPr>
        <p:spPr>
          <a:xfrm>
            <a:off x="311700" y="26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Risk (Looking for advice)</a:t>
            </a:r>
            <a:endParaRPr b="1"/>
          </a:p>
        </p:txBody>
      </p:sp>
      <p:sp>
        <p:nvSpPr>
          <p:cNvPr id="369" name="Google Shape;369;p54"/>
          <p:cNvSpPr txBox="1"/>
          <p:nvPr/>
        </p:nvSpPr>
        <p:spPr>
          <a:xfrm>
            <a:off x="317725" y="3235125"/>
            <a:ext cx="8520600" cy="16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chemeClr val="lt1"/>
                </a:highlight>
              </a:rPr>
              <a:t>1. 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Since we decided to skip PLL and use sigma delta modulated for digital wave generation using 8-bit sin LUT, there will be some issue with harmonic. Design solution with eternal RC or alternative wave mixer component that compatible with digital reference wave are considering.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chemeClr val="lt1"/>
                </a:highlight>
              </a:rPr>
              <a:t>2. 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Amp Ratio Adjuster might be tricky as it need a lot of wires from digital side for switching resistor feedback.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chemeClr val="lt1"/>
                </a:highlight>
              </a:rPr>
              <a:t>2. 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Since we only consider 1 comparator park at 1.65V midrail, it might suffer jittering during idle at 0 offset, which might skew the result from calibration. Hystereis design might be required.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5"/>
          <p:cNvSpPr txBox="1"/>
          <p:nvPr/>
        </p:nvSpPr>
        <p:spPr>
          <a:xfrm>
            <a:off x="323750" y="466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References</a:t>
            </a:r>
            <a:endParaRPr b="1"/>
          </a:p>
        </p:txBody>
      </p:sp>
      <p:sp>
        <p:nvSpPr>
          <p:cNvPr id="375" name="Google Shape;375;p55"/>
          <p:cNvSpPr txBox="1"/>
          <p:nvPr/>
        </p:nvSpPr>
        <p:spPr>
          <a:xfrm>
            <a:off x="311700" y="1038750"/>
            <a:ext cx="8520600" cy="3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highlight>
                  <a:srgbClr val="FFFFFF"/>
                </a:highlight>
              </a:rPr>
              <a:t>[1]</a:t>
            </a:r>
            <a:r>
              <a:rPr lang="en">
                <a:highlight>
                  <a:srgbClr val="FFFFFF"/>
                </a:highlight>
              </a:rPr>
              <a:t>. H.-S. Liao *et al.*, "Low-cost, open-source XYZ nanopositioner for high-precision analytical applications," *HardwareX*, vol. 11, p. e00317, 2022. doi: [10.1016/j.ohx.2022.e00317](https://doi.org/10.1016/j.ohx.2022.e00317)</a:t>
            </a:r>
            <a:endParaRPr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highlight>
                  <a:srgbClr val="FFFFFF"/>
                </a:highlight>
              </a:rPr>
              <a:t>[2]</a:t>
            </a:r>
            <a:r>
              <a:rPr lang="en">
                <a:highlight>
                  <a:srgbClr val="FFFFFF"/>
                </a:highlight>
              </a:rPr>
              <a:t>. W.-M. Wang *et al.*, "Low-voltage and high-performance buzzer-scanner based streamlined atomic force microscope system," *Nanotechnology*, vol. 24, no. 45, p. 455503, Nov. 2013. doi: [10.1088/0957-4484/24/45/455503](https://doi.org/10.1088/0957-4484/24/45/455503)</a:t>
            </a:r>
            <a:endParaRPr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highlight>
                  <a:srgbClr val="FFFFFF"/>
                </a:highlight>
              </a:rPr>
              <a:t>[3]</a:t>
            </a:r>
            <a:r>
              <a:rPr lang="en">
                <a:highlight>
                  <a:srgbClr val="FFFFFF"/>
                </a:highlight>
              </a:rPr>
              <a:t>. Rout, Shasanka Sekhar, et al. "Design of 2.4 GHz Improved Current Reuse Gilbert Mixer with Source Degeneration Technique." Wireless Personal Communications, vol. 122, 2022, pp. 3875–3887, https://doi.org/10.1007/s11277-021-09115-6.</a:t>
            </a:r>
            <a:endParaRPr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highlight>
                  <a:srgbClr val="FFFFFF"/>
                </a:highlight>
              </a:rPr>
              <a:t>[4]</a:t>
            </a:r>
            <a:r>
              <a:rPr lang="en">
                <a:highlight>
                  <a:srgbClr val="FFFFFF"/>
                </a:highlight>
              </a:rPr>
              <a:t>. Altuner, Emre, et al. "High-Linearity Gilbert-Cell Mixer Design for Cryogenic Applications." Analog Integrated Circuits and Signal Processing, vol. 113, 2022, pp. 249–256, https://doi.org/10.1007/s10470-022-02098-9.</a:t>
            </a:r>
            <a:endParaRPr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tent Slide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 Slide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1906</Words>
  <Application>Microsoft Office PowerPoint</Application>
  <PresentationFormat>On-screen Show (16:9)</PresentationFormat>
  <Paragraphs>200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Merriweather Sans</vt:lpstr>
      <vt:lpstr>Arial</vt:lpstr>
      <vt:lpstr>Calibri</vt:lpstr>
      <vt:lpstr>Tahoma</vt:lpstr>
      <vt:lpstr>Noto Sans Symbols</vt:lpstr>
      <vt:lpstr>Content Slides</vt:lpstr>
      <vt:lpstr>Content Slides</vt:lpstr>
      <vt:lpstr>B18 Probton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Analog Front End - Transimpedance Amplifier</vt:lpstr>
      <vt:lpstr>Analog Front End - Transimpedance Amplifier</vt:lpstr>
      <vt:lpstr>Analog Front End - Two Integrator Loop Gm-C BP + LP Filter</vt:lpstr>
      <vt:lpstr>Analog Front End - Testbench of TIA + Bandpass Filter</vt:lpstr>
      <vt:lpstr>Analog Front End -  TIA + Bandpass Testbench</vt:lpstr>
      <vt:lpstr>PowerPoint Presentation</vt:lpstr>
      <vt:lpstr>Mixer Schematic</vt:lpstr>
      <vt:lpstr>Mixer Testbench</vt:lpstr>
      <vt:lpstr>Comparator Schematic</vt:lpstr>
      <vt:lpstr>Comparator Testbench</vt:lpstr>
      <vt:lpstr>Digital - Summary</vt:lpstr>
      <vt:lpstr>Digital - State Machine Simulation</vt:lpstr>
      <vt:lpstr>Digital - Wave Controller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Tim Lam</cp:lastModifiedBy>
  <cp:revision>1</cp:revision>
  <dcterms:modified xsi:type="dcterms:W3CDTF">2026-07-21T03:09:19Z</dcterms:modified>
</cp:coreProperties>
</file>